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24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 Economía Monetaria — G. Mántey de Anguiano (UNAM, 2024)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entienda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básico del dinero</a:t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una economía y cómo está organizado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que lo vigila.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83080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91640" y="20208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535" y="214371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9019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423160" y="2240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financieros, agentes, mercado de dinero y de capitales, y canales de crédito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948672" y="20848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948672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5–11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2953512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" y="2953512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91640" y="31912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5" name="Image 1" descr="/tmp/work/deck/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35" y="3314151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30723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 Financiero Mexicano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423160" y="34107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Reguladores, supervisores y organismos de apoyo y protección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948672" y="32552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9948672" y="3255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12–13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4123944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77240" y="4123944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1691640" y="43616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2" descr="/tmp/work/deck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35" y="4484583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23160" y="4242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2423160" y="45811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institucional y análisis de casos reales aplicando los conceptos vistos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948672" y="442569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9948672" y="4425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15–16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" y="5294376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777240" y="5294376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3000" dirty="0"/>
          </a:p>
        </p:txBody>
      </p:sp>
      <p:sp>
        <p:nvSpPr>
          <p:cNvPr id="30" name="Shape 25"/>
          <p:cNvSpPr/>
          <p:nvPr/>
        </p:nvSpPr>
        <p:spPr>
          <a:xfrm>
            <a:off x="1691640" y="5532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1" name="Image 3" descr="/tmp/work/deck/icons/bookope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35" y="5655015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423160" y="54132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referencias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2423160" y="5751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del curso y portales oficiales de consulta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948672" y="55961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Text 29"/>
          <p:cNvSpPr/>
          <p:nvPr/>
        </p:nvSpPr>
        <p:spPr>
          <a:xfrm>
            <a:off x="9948672" y="5596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17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48056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PARTE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intermediación financiera, clasificación de activos, mercados de dinero y de capitales, y la estructura institucional que regula al sistema financiero mexicano.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9" name="Image 0" descr="/tmp/work/deck/icons/exchan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285" y="468515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41908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3" name="Image 1" descr="/tmp/work/deck/icons/sitem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245" y="468515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916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 Financiero Mexicano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teórica · 1h29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8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coin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activo financiero?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hablar de mercados, hay que definir qué es lo que en ellos se intercambia.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32688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9" name="Image 1" descr="/tmp/work/deck/icons/land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51" y="23763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645920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CON VALOR ECONÓMICO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32688" y="2953512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recurso del que se espera obtener beneficios económicos futuros.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932688" y="37307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143000" y="35935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valor depende de sus propiedades físicas (inmuebles, maquinaria, equipo).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932688" y="4407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143000" y="42702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derecho legal sobre beneficios futuros, sin relación con una forma física.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6611112" y="196596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903720" y="22402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9" name="Image 2" descr="/tmp/work/deck/icons/exchang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783" y="237634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16952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 financiero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7616952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INTANGIBLE · INSTRUMENTO FINANCIERO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903720" y="2953512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intangible cuyo beneficio futuro es un derecho sobre efectivo futuro. Si se negocia en mercados organizados, se le llama valor (security).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903720" y="37307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7114032" y="35935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compromete a realizar los pagos futuros.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6903720" y="4407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7114032" y="42702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Inversionista: 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 el instrumento y tiene derecho a recibir esos pagos.</a:t>
            </a:r>
            <a:endParaRPr lang="en-US" sz="1030" dirty="0"/>
          </a:p>
        </p:txBody>
      </p:sp>
      <p:sp>
        <p:nvSpPr>
          <p:cNvPr id="27" name="Shape 22"/>
          <p:cNvSpPr/>
          <p:nvPr/>
        </p:nvSpPr>
        <p:spPr>
          <a:xfrm>
            <a:off x="640080" y="52120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777240" y="531266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9" name="Image 3" descr="/tmp/work/deck/icons/balan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5396057"/>
            <a:ext cx="180685" cy="18068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instrumento financiero involucra, como mínimo, dos partes: el emisor (unidad deficitaria) y el inversionista (unidad superavitaria).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Fabozzi, F. J. y Peterson Drake, P. (2009). Finance: Capital Markets, Financial Management, and Investment Management, Cap. 4, Wiley.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exchan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Intermediación financiera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financiero canaliza recursos de quienes ahorran hacia quienes los necesitan.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05840" y="22860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9" name="Image 1" descr="/tmp/work/deck/icons/pigg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70" y="2435230"/>
            <a:ext cx="323332" cy="323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superavitarias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05840" y="3538728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Ahorradores e inversionistas: agentes que generan excedentes de recursos y buscan colocarlos con seguridad y liquidez.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92040" y="2350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6177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(dinero)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92040" y="34472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61772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cambio de un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452360" y="196596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818120" y="2286000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8" name="Image 2" descr="/tmp/work/deck/icons/handho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350" y="2435230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deficitarias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818120" y="3538728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gobierno y personas que necesitan financiamiento para operar, invertir o consumir.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777240" y="501091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600" dirty="0"/>
          </a:p>
        </p:txBody>
      </p:sp>
      <p:sp>
        <p:nvSpPr>
          <p:cNvPr id="23" name="Text 18"/>
          <p:cNvSpPr/>
          <p:nvPr/>
        </p:nvSpPr>
        <p:spPr>
          <a:xfrm>
            <a:off x="1325880" y="52120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financiero tiene por objeto canalizar recursos de las unidades superavitarias de la economía a las unidades deficitarias.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Mántey de Anguiano (2024), Lección 2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activos financieros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título que recibe la unidad superavitaria a cambio de sus recursos es el activo financiero. Adopta una de tres formas, según quién emite la obligación.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3268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handho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51" y="24677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directa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AGENTE NO FINANCIERO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3268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emitida directamente por empresas o por el gobierno para financiarse.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gubernamentales, papel comercial.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268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3268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3687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43687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6626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65886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1" descr="/tmp/work/deck/icons/universit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931" y="246778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5886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indirecta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5886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INSTITUCIÓN FINANCIERA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5886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emitida por un intermediario, que se compromete a recomprarla al cliente.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5886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pagarés bancarios, certificados de depósito.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5886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465886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6305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16305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09244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38504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9" name="Image 2" descr="/tmp/wor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111" y="2467783"/>
            <a:ext cx="294803" cy="29480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8504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de capital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8504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EMPRESA (ACCIONES)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8504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representa una parte del capital de la empresa y da derecho a sus utilidades.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38504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ordinarias y preferentes.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38504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5" name="Text 30"/>
          <p:cNvSpPr/>
          <p:nvPr/>
        </p:nvSpPr>
        <p:spPr>
          <a:xfrm>
            <a:off x="838504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988923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7" name="Text 32"/>
          <p:cNvSpPr/>
          <p:nvPr/>
        </p:nvSpPr>
        <p:spPr>
          <a:xfrm>
            <a:off x="988923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 §2, UNAM.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dinero y mercado de capitales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financiero se divide, por convención, según el plazo de los recursos que canaliza.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coin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903" y="2394631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768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dinero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9164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24128" y="31181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34440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liquidez de corto plazo a la economía y servir de canal a la política monetaria.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1024128" y="38130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34440" y="367588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monetarias (bancos comerciales) emiten pasivos usables como medios de pago.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1024128" y="4507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34440" y="43708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depósitos a la vista, CETES y papel comercial a corto plazo.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263640" y="196596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62940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1" descr="/tmp/work/deck/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463" y="2394631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2768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capitales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731520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647688" y="31181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858000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financiar la inversión productiva de largo plazo y diversificar el riesgo entre ahorradores e inversionistas.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647688" y="38130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6858000" y="367588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no monetarias (banca de inversión, aseguradoras, bolsa) emiten bonos y acciones.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647688" y="4507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858000" y="43708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bonos hipotecarios y acciones ordinarias.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77240" y="54681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9" name="Image 2" descr="/tmp/work/deck/icons/site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" y="5547116"/>
            <a:ext cx="171176" cy="17117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234440" y="541324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México, los bancos múltiples integran ambas funciones desde principios de la década de 1970.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77240" y="582472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2" name="Image 3" descr="/tmp/work/deck/icons/exchang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4" y="5903732"/>
            <a:ext cx="171176" cy="17117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34440" y="5769864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mercados de derivados (futuros, opciones, swaps) son un tercer segmento, definido por el instrumento y no por el plazo; se estudian aparte más adelante en el curso.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 §4, UNAM.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económicos y su acceso a los mercados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agente participa en el mercado de dinero y en el de capitales de forma distinta.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ECONÓMICO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DINERO (corto plazo)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CAPITALES (largo plazo)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1" name="Image 0" descr="/tmp/work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46961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224028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83280" y="22402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 y otros instrumentos de deuda de corto plazo.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224028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M y Udibonos: deuda de largo plazo.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7" name="Image 1" descr="/tmp/work/deck/icons/moneybil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3127980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6736" y="289864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empresas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2898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comercial para financiar capital de trabajo.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98080" y="2898648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obligaciones y colocación de acciones en bolsa.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3557016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2" descr="/tmp/work/deck/icons/handho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786348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16736" y="3557016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383280" y="35570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bancario de corto plazo, factoraje y crédito de proveedores.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498080" y="3557016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muy limitado; recurren a banca de desarrollo (NAFIN) en vez de la bolsa pública.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4215384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9" name="Image 3" descr="/tmp/work/deck/icons/universit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444716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16736" y="421538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intermediarios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383280" y="421538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depósitos; actúan como creadores de mercado.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498080" y="4215384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Colocación y garantía de emisiones (banca de inversión).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4873752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82296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5" name="Image 4" descr="/tmp/work/deck/icons/pigg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51030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16736" y="4873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físicas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87375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ahorro y depósitos a la vista o a plazo.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498080" y="487375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indirecto vía fondos de inversión, Afores o casas de bolsa.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822960" y="5669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41" name="Image 5" descr="/tmp/work/deck/icons/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57614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16736" y="55321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 institucionales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383280" y="55321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líquidos de tesorería de corto plazo.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7498080" y="553212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fuente de demanda de largo plazo: bonos y acciones.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0080" y="1783080"/>
            <a:ext cx="10908792" cy="4407408"/>
          </a:xfrm>
          <a:prstGeom prst="rect">
            <a:avLst/>
          </a:prstGeom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46" name="Text 3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a partir de Mántey de Anguiano (2024), Lección 2, y la organización del mercado de valores mexicano.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11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caminos para el crédito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intermediación bancaria y el mercado bursátil canalizan el ahorro de formas distintas.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246888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universit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070" y="2618110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87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Intermediación bancaria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8163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INDIRECTO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24128" y="346557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34440" y="33284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capta depósitos y emite deudas propias (indirectas): pagarés, certificados de depósito.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24128" y="42153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34440" y="407822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asume el riesgo y presta directamente a empresas, personas y gobierno.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24128" y="49651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34440" y="48280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persona ahorra en el banco y este otorga un crédito a una empresa.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210312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629400" y="246888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1" descr="/tmp/work/deck/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630" y="2618110"/>
            <a:ext cx="323332" cy="3233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2487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bursátil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406640" y="28163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DIRECTO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647688" y="346557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858000" y="33284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y gobierno emiten deudas propias (directas): bonos, papel comercial, acciones.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647688" y="42153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6858000" y="407822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inversionista asume el riesgo directamente frente al emisor del título.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647688" y="49651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858000" y="48280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empresa coloca certificados de deuda en la bolsa de valores.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2, UNAM.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10 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captación-colocación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es como el banco conecta al ahorrador con el deudor, paso a paso.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21625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21625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00200" y="208483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recursos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00200" y="238658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capta recursos del ahorrador —depósitos, pagarés, certificados— y se compromete a devolverlos con un rendimiento: la tasa pasiva.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22960" y="32598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22960" y="3259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00200" y="318211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Colocación del crédito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600200" y="348386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presta esos recursos a empresas, personas o gobierno cobrando una tasa activa, mayor a la pasiva, y asume el riesgo de crédito.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16052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22960" y="43571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22960" y="43571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00200" y="4279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del crédito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600200" y="458114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deudor devuelve al banco el capital más los intereses pactados conforme transcurre el plazo del crédito.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22960" y="54543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22960" y="54543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600200" y="5376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ciclo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600200" y="567842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paga al ahorrador su depósito con rendimiento; la diferencia entre tasa activa y pasiva es su margen financiero (spread).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entre tasa activa y pasiva (spread) es la utilidad del banco por intermediar. Fuente: Mántey de Anguiano, G. (2024), Lección 2, UNAM.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· ESTRUCTURA DEL SFM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general de autoridades: tres niveles con funciones complementarias.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066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Reguladores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323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Diseñan la política y las reglas del sistema financiero.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1762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3445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0" name="Image 0" descr="/tmp/work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241401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489704" y="28620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92440" y="21762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592056" y="23042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4" name="Image 1" descr="/tmp/work/deck/icons/coin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784" y="24140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47304" y="28620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5204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68680" y="3666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Supervisores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68680" y="40325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 a los intermediarios de cada sector especializado.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4348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3248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1" name="Image 2" descr="/tmp/wor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584" y="401421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97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8732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77632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5" name="Image 3" descr="/tmp/work/deck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401421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81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CNSF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311640" y="3776472"/>
            <a:ext cx="22372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10201656" y="3904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9" name="Image 4" descr="/tmp/work/deck/icons/pigg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1384" y="401421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66504" y="4462272"/>
            <a:ext cx="212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0080" y="51206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 w="12700">
            <a:solidFill>
              <a:srgbClr val="33408A"/>
            </a:solidFill>
            <a:prstDash val="solid"/>
          </a:ln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868680" y="52669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y protección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868680" y="56327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Respaldan y defienden al ahorrador y al usuario final.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434840" y="53766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934456" y="55046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36" name="Image 5" descr="/tmp/work/deck/icons/user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561441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489704" y="6062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092440" y="5376672"/>
            <a:ext cx="3456432" cy="905256"/>
          </a:xfrm>
          <a:prstGeom prst="roundRect">
            <a:avLst>
              <a:gd name="adj" fmla="val 8081"/>
            </a:avLst>
          </a:prstGeom>
          <a:solidFill>
            <a:srgbClr val="1E2761"/>
          </a:solidFill>
          <a:ln w="12700">
            <a:solidFill>
              <a:srgbClr val="3B49A0"/>
            </a:solidFill>
            <a:prstDash val="solid"/>
          </a:ln>
        </p:spPr>
        <p:txBody>
          <a:bodyPr/>
          <a:p/>
        </p:txBody>
      </p:sp>
      <p:sp>
        <p:nvSpPr>
          <p:cNvPr id="39" name="Shape 31"/>
          <p:cNvSpPr/>
          <p:nvPr/>
        </p:nvSpPr>
        <p:spPr>
          <a:xfrm>
            <a:off x="9592056" y="55046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40" name="Image 6" descr="/tmp/work/deck/icons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784" y="5614416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147304" y="6062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SFM · 18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Organigrama del Sistema Financiero Mexicano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relaciones son de mando: hay jerarquía, coordinación entre autoridades autónomas y funciones cruzadas entre entidades.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251960" y="178308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61688" y="18745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7" name="Image 0" descr="/tmp/work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3410" y="1936242"/>
            <a:ext cx="150876" cy="1508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27448" y="18379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27448" y="2039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 de sector · política financiera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600200" y="178308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41B4D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709928" y="18745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2" name="Image 1" descr="/tmp/work/deck/icons/coin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1936242"/>
            <a:ext cx="150876" cy="1508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75688" y="183794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075688" y="2039112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 · no forma parte de la SHCP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931920" y="2011680"/>
            <a:ext cx="32004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3840480" y="15636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· CESF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897880" y="2240280"/>
            <a:ext cx="0" cy="137160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1691640" y="2377440"/>
            <a:ext cx="8412480" cy="0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169164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89788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00100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10104120" y="2377440"/>
            <a:ext cx="0" cy="64008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3152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2296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6" name="Image 2" descr="/tmp/wor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10" y="2570150"/>
            <a:ext cx="135788" cy="1357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4300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4300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banca y mercado de valores</a:t>
            </a:r>
            <a:endParaRPr lang="en-US" sz="730" dirty="0"/>
          </a:p>
        </p:txBody>
      </p:sp>
      <p:sp>
        <p:nvSpPr>
          <p:cNvPr id="29" name="Shape 24"/>
          <p:cNvSpPr/>
          <p:nvPr/>
        </p:nvSpPr>
        <p:spPr>
          <a:xfrm>
            <a:off x="283464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292608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31" name="Image 3" descr="/tmp/work/deck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630" y="2570150"/>
            <a:ext cx="135788" cy="1357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24612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CNSF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324612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seguros y fianzas</a:t>
            </a:r>
            <a:endParaRPr lang="en-US" sz="730" dirty="0"/>
          </a:p>
        </p:txBody>
      </p:sp>
      <p:sp>
        <p:nvSpPr>
          <p:cNvPr id="34" name="Shape 28"/>
          <p:cNvSpPr/>
          <p:nvPr/>
        </p:nvSpPr>
        <p:spPr>
          <a:xfrm>
            <a:off x="493776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Shape 29"/>
          <p:cNvSpPr/>
          <p:nvPr/>
        </p:nvSpPr>
        <p:spPr>
          <a:xfrm>
            <a:off x="502920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36" name="Image 4" descr="/tmp/work/deck/icons/pigg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750" y="2570150"/>
            <a:ext cx="135788" cy="1357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4924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534924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el sistema de pensiones</a:t>
            </a:r>
            <a:endParaRPr lang="en-US" sz="730" dirty="0"/>
          </a:p>
        </p:txBody>
      </p:sp>
      <p:sp>
        <p:nvSpPr>
          <p:cNvPr id="39" name="Shape 32"/>
          <p:cNvSpPr/>
          <p:nvPr/>
        </p:nvSpPr>
        <p:spPr>
          <a:xfrm>
            <a:off x="704088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713232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41" name="Image 5" descr="/tmp/work/deck/icons/user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870" y="2570150"/>
            <a:ext cx="135788" cy="1357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45236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745236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ahorro bancario</a:t>
            </a:r>
            <a:endParaRPr lang="en-US" sz="730" dirty="0"/>
          </a:p>
        </p:txBody>
      </p:sp>
      <p:sp>
        <p:nvSpPr>
          <p:cNvPr id="44" name="Shape 36"/>
          <p:cNvSpPr/>
          <p:nvPr/>
        </p:nvSpPr>
        <p:spPr>
          <a:xfrm>
            <a:off x="9144000" y="24414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5" name="Shape 37"/>
          <p:cNvSpPr/>
          <p:nvPr/>
        </p:nvSpPr>
        <p:spPr>
          <a:xfrm>
            <a:off x="9235440" y="2514600"/>
            <a:ext cx="246888" cy="2468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46" name="Image 6" descr="/tmp/work/deck/icons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0990" y="2570150"/>
            <a:ext cx="135788" cy="1357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555480" y="25054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9555480" y="27340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al usuario financiero</a:t>
            </a:r>
            <a:endParaRPr lang="en-US" sz="730" dirty="0"/>
          </a:p>
        </p:txBody>
      </p:sp>
      <p:sp>
        <p:nvSpPr>
          <p:cNvPr id="49" name="Shape 40"/>
          <p:cNvSpPr/>
          <p:nvPr/>
        </p:nvSpPr>
        <p:spPr>
          <a:xfrm>
            <a:off x="169164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0" name="Shape 41"/>
          <p:cNvSpPr/>
          <p:nvPr/>
        </p:nvSpPr>
        <p:spPr>
          <a:xfrm>
            <a:off x="379476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1" name="Shape 42"/>
          <p:cNvSpPr/>
          <p:nvPr/>
        </p:nvSpPr>
        <p:spPr>
          <a:xfrm>
            <a:off x="589788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2" name="Shape 43"/>
          <p:cNvSpPr/>
          <p:nvPr/>
        </p:nvSpPr>
        <p:spPr>
          <a:xfrm>
            <a:off x="800100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3" name="Shape 44"/>
          <p:cNvSpPr/>
          <p:nvPr/>
        </p:nvSpPr>
        <p:spPr>
          <a:xfrm>
            <a:off x="10104120" y="3099816"/>
            <a:ext cx="0" cy="237744"/>
          </a:xfrm>
          <a:prstGeom prst="line">
            <a:avLst/>
          </a:prstGeom>
          <a:noFill/>
          <a:ln w="15875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54" name="Shape 45"/>
          <p:cNvSpPr/>
          <p:nvPr/>
        </p:nvSpPr>
        <p:spPr>
          <a:xfrm>
            <a:off x="8147304" y="3099816"/>
            <a:ext cx="0" cy="201168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55" name="Shape 46"/>
          <p:cNvSpPr/>
          <p:nvPr/>
        </p:nvSpPr>
        <p:spPr>
          <a:xfrm>
            <a:off x="8147304" y="3300984"/>
            <a:ext cx="-6601968" cy="0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56" name="Shape 47"/>
          <p:cNvSpPr/>
          <p:nvPr/>
        </p:nvSpPr>
        <p:spPr>
          <a:xfrm>
            <a:off x="1545336" y="3300984"/>
            <a:ext cx="0" cy="36576"/>
          </a:xfrm>
          <a:prstGeom prst="line">
            <a:avLst/>
          </a:prstGeom>
          <a:noFill/>
          <a:ln w="1270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57" name="Shape 48"/>
          <p:cNvSpPr/>
          <p:nvPr/>
        </p:nvSpPr>
        <p:spPr>
          <a:xfrm>
            <a:off x="1517904" y="3310128"/>
            <a:ext cx="54864" cy="54864"/>
          </a:xfrm>
          <a:prstGeom prst="ellipse">
            <a:avLst/>
          </a:prstGeom>
          <a:solidFill>
            <a:srgbClr val="B08D2B"/>
          </a:solidFill>
          <a:ln/>
        </p:spPr>
        <p:txBody>
          <a:bodyPr/>
          <a:p/>
        </p:txBody>
      </p:sp>
      <p:sp>
        <p:nvSpPr>
          <p:cNvPr id="58" name="Text 49"/>
          <p:cNvSpPr/>
          <p:nvPr/>
        </p:nvSpPr>
        <p:spPr>
          <a:xfrm>
            <a:off x="3246120" y="311810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i="1" dirty="0">
                <a:solidFill>
                  <a:srgbClr val="8A7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depósitos de la banca</a:t>
            </a:r>
            <a:endParaRPr lang="en-US" sz="670" dirty="0"/>
          </a:p>
        </p:txBody>
      </p:sp>
      <p:sp>
        <p:nvSpPr>
          <p:cNvPr id="59" name="Shape 50"/>
          <p:cNvSpPr/>
          <p:nvPr/>
        </p:nvSpPr>
        <p:spPr>
          <a:xfrm>
            <a:off x="731520" y="3337560"/>
            <a:ext cx="2048256" cy="2048256"/>
          </a:xfrm>
          <a:prstGeom prst="roundRect">
            <a:avLst>
              <a:gd name="adj" fmla="val 3571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  <p:txBody>
          <a:bodyPr/>
          <a:p/>
        </p:txBody>
      </p:sp>
      <p:sp>
        <p:nvSpPr>
          <p:cNvPr id="60" name="Shape 51"/>
          <p:cNvSpPr/>
          <p:nvPr/>
        </p:nvSpPr>
        <p:spPr>
          <a:xfrm>
            <a:off x="87782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1" name="Text 52"/>
          <p:cNvSpPr/>
          <p:nvPr/>
        </p:nvSpPr>
        <p:spPr>
          <a:xfrm>
            <a:off x="1005840" y="3456432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múltiple y de desarrollo</a:t>
            </a:r>
            <a:endParaRPr lang="en-US" sz="870" dirty="0"/>
          </a:p>
        </p:txBody>
      </p:sp>
      <p:sp>
        <p:nvSpPr>
          <p:cNvPr id="62" name="Shape 53"/>
          <p:cNvSpPr/>
          <p:nvPr/>
        </p:nvSpPr>
        <p:spPr>
          <a:xfrm>
            <a:off x="877824" y="4005072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3" name="Text 54"/>
          <p:cNvSpPr/>
          <p:nvPr/>
        </p:nvSpPr>
        <p:spPr>
          <a:xfrm>
            <a:off x="1005840" y="3922776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Bursátil: BMV, BIVA, casas de bolsa</a:t>
            </a:r>
            <a:endParaRPr lang="en-US" sz="870" dirty="0"/>
          </a:p>
        </p:txBody>
      </p:sp>
      <p:sp>
        <p:nvSpPr>
          <p:cNvPr id="64" name="Shape 55"/>
          <p:cNvSpPr/>
          <p:nvPr/>
        </p:nvSpPr>
        <p:spPr>
          <a:xfrm>
            <a:off x="877824" y="447141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5" name="Text 56"/>
          <p:cNvSpPr/>
          <p:nvPr/>
        </p:nvSpPr>
        <p:spPr>
          <a:xfrm>
            <a:off x="1005840" y="4389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ITF</a:t>
            </a:r>
            <a:endParaRPr lang="en-US" sz="870" dirty="0"/>
          </a:p>
        </p:txBody>
      </p:sp>
      <p:sp>
        <p:nvSpPr>
          <p:cNvPr id="66" name="Shape 57"/>
          <p:cNvSpPr/>
          <p:nvPr/>
        </p:nvSpPr>
        <p:spPr>
          <a:xfrm>
            <a:off x="877824" y="4764024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7" name="Text 58"/>
          <p:cNvSpPr/>
          <p:nvPr/>
        </p:nvSpPr>
        <p:spPr>
          <a:xfrm>
            <a:off x="1005840" y="4681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popular: SOFIPO, SOCAP</a:t>
            </a:r>
            <a:endParaRPr lang="en-US" sz="870" dirty="0"/>
          </a:p>
        </p:txBody>
      </p:sp>
      <p:sp>
        <p:nvSpPr>
          <p:cNvPr id="68" name="Shape 59"/>
          <p:cNvSpPr/>
          <p:nvPr/>
        </p:nvSpPr>
        <p:spPr>
          <a:xfrm>
            <a:off x="877824" y="5056632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9" name="Text 60"/>
          <p:cNvSpPr/>
          <p:nvPr/>
        </p:nvSpPr>
        <p:spPr>
          <a:xfrm>
            <a:off x="1005840" y="49743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Auxiliares: SOFOM ER, uniones</a:t>
            </a:r>
            <a:endParaRPr lang="en-US" sz="870" dirty="0"/>
          </a:p>
        </p:txBody>
      </p:sp>
      <p:sp>
        <p:nvSpPr>
          <p:cNvPr id="70" name="Shape 61"/>
          <p:cNvSpPr/>
          <p:nvPr/>
        </p:nvSpPr>
        <p:spPr>
          <a:xfrm>
            <a:off x="2834640" y="3337560"/>
            <a:ext cx="2048256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  <p:txBody>
          <a:bodyPr/>
          <a:p/>
        </p:txBody>
      </p:sp>
      <p:sp>
        <p:nvSpPr>
          <p:cNvPr id="71" name="Shape 62"/>
          <p:cNvSpPr/>
          <p:nvPr/>
        </p:nvSpPr>
        <p:spPr>
          <a:xfrm>
            <a:off x="298094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2" name="Text 63"/>
          <p:cNvSpPr/>
          <p:nvPr/>
        </p:nvSpPr>
        <p:spPr>
          <a:xfrm>
            <a:off x="3108960" y="3456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de seguros</a:t>
            </a:r>
            <a:endParaRPr lang="en-US" sz="870" dirty="0"/>
          </a:p>
        </p:txBody>
      </p:sp>
      <p:sp>
        <p:nvSpPr>
          <p:cNvPr id="73" name="Shape 64"/>
          <p:cNvSpPr/>
          <p:nvPr/>
        </p:nvSpPr>
        <p:spPr>
          <a:xfrm>
            <a:off x="2980944" y="383133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4" name="Text 65"/>
          <p:cNvSpPr/>
          <p:nvPr/>
        </p:nvSpPr>
        <p:spPr>
          <a:xfrm>
            <a:off x="3108960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Fianzas y caución</a:t>
            </a:r>
            <a:endParaRPr lang="en-US" sz="870" dirty="0"/>
          </a:p>
        </p:txBody>
      </p:sp>
      <p:sp>
        <p:nvSpPr>
          <p:cNvPr id="75" name="Shape 66"/>
          <p:cNvSpPr/>
          <p:nvPr/>
        </p:nvSpPr>
        <p:spPr>
          <a:xfrm>
            <a:off x="4937760" y="3337560"/>
            <a:ext cx="2048256" cy="822960"/>
          </a:xfrm>
          <a:prstGeom prst="roundRect">
            <a:avLst>
              <a:gd name="adj" fmla="val 8889"/>
            </a:avLst>
          </a:prstGeom>
          <a:solidFill>
            <a:srgbClr val="EEF3FC"/>
          </a:solidFill>
          <a:ln w="12700">
            <a:solidFill>
              <a:srgbClr val="D8E0F5"/>
            </a:solidFill>
            <a:prstDash val="solid"/>
          </a:ln>
        </p:spPr>
        <p:txBody>
          <a:bodyPr/>
          <a:p/>
        </p:txBody>
      </p:sp>
      <p:sp>
        <p:nvSpPr>
          <p:cNvPr id="76" name="Shape 67"/>
          <p:cNvSpPr/>
          <p:nvPr/>
        </p:nvSpPr>
        <p:spPr>
          <a:xfrm>
            <a:off x="5084064" y="3538728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7" name="Text 68"/>
          <p:cNvSpPr/>
          <p:nvPr/>
        </p:nvSpPr>
        <p:spPr>
          <a:xfrm>
            <a:off x="5212080" y="3456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Afores</a:t>
            </a:r>
            <a:endParaRPr lang="en-US" sz="870" dirty="0"/>
          </a:p>
        </p:txBody>
      </p:sp>
      <p:sp>
        <p:nvSpPr>
          <p:cNvPr id="78" name="Shape 69"/>
          <p:cNvSpPr/>
          <p:nvPr/>
        </p:nvSpPr>
        <p:spPr>
          <a:xfrm>
            <a:off x="5084064" y="3831336"/>
            <a:ext cx="54864" cy="548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79" name="Text 70"/>
          <p:cNvSpPr/>
          <p:nvPr/>
        </p:nvSpPr>
        <p:spPr>
          <a:xfrm>
            <a:off x="5212080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Siefores generacionales</a:t>
            </a:r>
            <a:endParaRPr lang="en-US" sz="870" dirty="0"/>
          </a:p>
        </p:txBody>
      </p:sp>
      <p:sp>
        <p:nvSpPr>
          <p:cNvPr id="80" name="Text 71"/>
          <p:cNvSpPr/>
          <p:nvPr/>
        </p:nvSpPr>
        <p:spPr>
          <a:xfrm>
            <a:off x="704088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seguro de depósito bancario de las instituciones que supervisa la CNBV.</a:t>
            </a:r>
            <a:endParaRPr lang="en-US" sz="830" dirty="0"/>
          </a:p>
        </p:txBody>
      </p:sp>
      <p:sp>
        <p:nvSpPr>
          <p:cNvPr id="81" name="Text 72"/>
          <p:cNvSpPr/>
          <p:nvPr/>
        </p:nvSpPr>
        <p:spPr>
          <a:xfrm>
            <a:off x="9144000" y="3337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al usuario ante bancos, aseguradoras, Afores y demás entidades del sistema.</a:t>
            </a:r>
            <a:endParaRPr lang="en-US" sz="830" dirty="0"/>
          </a:p>
        </p:txBody>
      </p:sp>
      <p:sp>
        <p:nvSpPr>
          <p:cNvPr id="82" name="Shape 73"/>
          <p:cNvSpPr/>
          <p:nvPr/>
        </p:nvSpPr>
        <p:spPr>
          <a:xfrm>
            <a:off x="640080" y="5980176"/>
            <a:ext cx="365760" cy="0"/>
          </a:xfrm>
          <a:prstGeom prst="line">
            <a:avLst/>
          </a:prstGeom>
          <a:noFill/>
          <a:ln w="19050">
            <a:solidFill>
              <a:srgbClr val="8A97CF"/>
            </a:solidFill>
            <a:prstDash val="solid"/>
          </a:ln>
        </p:spPr>
        <p:txBody>
          <a:bodyPr/>
          <a:p/>
        </p:txBody>
      </p:sp>
      <p:sp>
        <p:nvSpPr>
          <p:cNvPr id="83" name="Text 74"/>
          <p:cNvSpPr/>
          <p:nvPr/>
        </p:nvSpPr>
        <p:spPr>
          <a:xfrm>
            <a:off x="1078992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/ sectorización (SHCP)</a:t>
            </a:r>
            <a:endParaRPr lang="en-US" sz="850" dirty="0"/>
          </a:p>
        </p:txBody>
      </p:sp>
      <p:sp>
        <p:nvSpPr>
          <p:cNvPr id="84" name="Shape 75"/>
          <p:cNvSpPr/>
          <p:nvPr/>
        </p:nvSpPr>
        <p:spPr>
          <a:xfrm>
            <a:off x="4416552" y="5980176"/>
            <a:ext cx="3657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  <p:txBody>
          <a:bodyPr/>
          <a:p/>
        </p:txBody>
      </p:sp>
      <p:sp>
        <p:nvSpPr>
          <p:cNvPr id="85" name="Text 76"/>
          <p:cNvSpPr/>
          <p:nvPr/>
        </p:nvSpPr>
        <p:spPr>
          <a:xfrm>
            <a:off x="4855464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entre autoridades autónomas</a:t>
            </a:r>
            <a:endParaRPr lang="en-US" sz="850" dirty="0"/>
          </a:p>
        </p:txBody>
      </p:sp>
      <p:sp>
        <p:nvSpPr>
          <p:cNvPr id="86" name="Shape 77"/>
          <p:cNvSpPr/>
          <p:nvPr/>
        </p:nvSpPr>
        <p:spPr>
          <a:xfrm>
            <a:off x="8193024" y="5980176"/>
            <a:ext cx="365760" cy="0"/>
          </a:xfrm>
          <a:prstGeom prst="line">
            <a:avLst/>
          </a:prstGeom>
          <a:noFill/>
          <a:ln w="19050">
            <a:solidFill>
              <a:srgbClr val="B08D2B"/>
            </a:solidFill>
            <a:prstDash val="sysDot"/>
          </a:ln>
        </p:spPr>
        <p:txBody>
          <a:bodyPr/>
          <a:p/>
        </p:txBody>
      </p:sp>
      <p:sp>
        <p:nvSpPr>
          <p:cNvPr id="87" name="Text 78"/>
          <p:cNvSpPr/>
          <p:nvPr/>
        </p:nvSpPr>
        <p:spPr>
          <a:xfrm>
            <a:off x="8631936" y="5897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funcional (garantía, protección)</a:t>
            </a:r>
            <a:endParaRPr lang="en-US" sz="850" dirty="0"/>
          </a:p>
        </p:txBody>
      </p:sp>
      <p:sp>
        <p:nvSpPr>
          <p:cNvPr id="88" name="Text 79"/>
          <p:cNvSpPr/>
          <p:nvPr/>
        </p:nvSpPr>
        <p:spPr>
          <a:xfrm>
            <a:off x="640080" y="6181344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SHCP: Secretaría de Hacienda y Crédito Público · Banxico: Banco de México · CNBV: Comisión Nacional Bancaria y de Valores · CNSF: Comisión Nacional de Seguros y Fianzas · Consar: Comisión Nacional del Sistema de Ahorro para el Retiro · IPAB: Instituto para la Protección al Ahorro Bancario · Condusef: Comisión Nacional para la Protección y Defensa de los Usuarios de Servicios Financieros · CESF: Consejo de Estabilidad del Sistema Financiero</a:t>
            </a:r>
            <a:endParaRPr lang="en-US" sz="750" dirty="0"/>
          </a:p>
        </p:txBody>
      </p:sp>
      <p:sp>
        <p:nvSpPr>
          <p:cNvPr id="89" name="Text 80"/>
          <p:cNvSpPr/>
          <p:nvPr/>
        </p:nvSpPr>
        <p:spPr>
          <a:xfrm>
            <a:off x="640080" y="658368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 a partir de la organización oficial del Sistema Financiero Mexicano.</a:t>
            </a:r>
            <a:endParaRPr lang="en-US" sz="850" dirty="0"/>
          </a:p>
        </p:txBody>
      </p:sp>
      <p:sp>
        <p:nvSpPr>
          <p:cNvPr id="90" name="Text 8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48056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PARTE 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mapeo institucional y análisis de casos reales, aplicando los conceptos revisados en la Parte 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9" name="Image 0" descr="/tmp/work/deck/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285" y="468515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grupal: mapeo del organigrama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43484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2700">
            <a:solidFill>
              <a:srgbClr val="334085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419088" y="4572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3" name="Image 1" descr="/tmp/work/deck/icons/clip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245" y="468515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9168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casos prácticos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práctica · 1h15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 · 35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Dinámica grupal: mapeo de entidades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colaborativa para fijar el organigrama del Sistema Financiero Mexicano.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21625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21625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00200" y="208483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el organigrama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00200" y="238658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pizarrón o de forma colaborativa, el grupo reconstruye la estructura completa del SFM visto en la sesión teórica.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22960" y="32598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22960" y="3259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00200" y="318211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roles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600200" y="348386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alumno o equipo asume el papel de una institución: SHCP, Banxico, CNBV, CNSF, Consar, IPAB o Condusef.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16052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22960" y="43571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22960" y="43571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00200" y="4279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voluntaria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600200" y="458114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micrófono: los equipos que lo deseen explican brevemente qué supervisa su institución. Suma puntos extra, sin ser obligatoria.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22960" y="54543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22960" y="54543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600200" y="5376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el SIPRES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600200" y="567842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una institución real en el SIPRES de la Condusef para comprobar si está registrada: la misma consulta que podrán hacer en el futuro antes de contratar un servicio financiero.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SIPRES — Sistema de Registro de Prestadores de Servicios Financieros: webapps.condusef.gob.mx/SIPRES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 · 40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clipbo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casos prácticos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 rápidas de la vida real, sin necesidad de software.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235915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2359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banco comercial quiebra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tiene sus ahorros ahí. ¿Quién protege su dinero y hasta qué monto?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4846320"/>
            <a:ext cx="2907792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78992" y="49651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4" name="Image 1" descr="/tmp/work/deck/icons/user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76" y="5092476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19072" y="49651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265676" y="210312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539996" y="235915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539996" y="2359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39996" y="29260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 abusivo de comisiones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39996" y="352044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sofom o fintech abusa en el cobro a un cliente. ¿Ante qué organismo se acude?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39996" y="4846320"/>
            <a:ext cx="2907792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704588" y="49651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2" descr="/tmp/work/deck/icons/balanc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872" y="5092476"/>
            <a:ext cx="275783" cy="27578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4668" y="49651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891272" y="2103120"/>
            <a:ext cx="3456432" cy="379476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8165592" y="235915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8165592" y="2359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65592" y="292608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Emisión de deuda bursátil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8165592" y="352044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mexicana quiere emitir certificados de deuda en la bolsa. ¿Quién autoriza la emisión?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65592" y="4846320"/>
            <a:ext cx="2907792" cy="777240"/>
          </a:xfrm>
          <a:prstGeom prst="roundRect">
            <a:avLst>
              <a:gd name="adj" fmla="val 9412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8330184" y="49651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2" name="Image 3" descr="/tmp/work/deck/icons/chartli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468" y="5092476"/>
            <a:ext cx="275783" cy="27578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970264" y="49651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ookope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" y="18470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8" name="Image 1" descr="/tmp/work/deck/icons/book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197876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Mántey de Anguiano, G. (2024). Lecciones de Economía Monetaria. UNAM.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5544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2: estructura y funcionamiento del mercado financiero.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99632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400800" y="18470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3" name="Image 2" descr="/tmp/work/deck/icons/bookope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197876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14032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Fabozzi, F. J. y Peterson Drake, P. (2009). Finance. Wiley.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114032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4, "The Financial System": qué es un activo financiero y funciones del mercado.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40080" y="2880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914400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3" descr="/tmp/work/deck/icons/coin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293669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063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 Educa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554480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Infografías y explicaciones sobre "¿Qué es el Sistema Financiero?", ideales para la clase teórica.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2880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6473952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4" descr="/tmp/work/deck/icons/landmar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3" y="3293669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14032" y="3063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del Sistema Financiero Mexicano (SHCP)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114032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oficial de la estructura de autoridades e intermediarios regulados.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40080" y="44622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8" name="Image 5" descr="/tmp/work/deck/icons/chartlin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1" y="4875581"/>
            <a:ext cx="261518" cy="26151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46451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CNBV — Sectores Supervisados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554480" y="508406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gráficos descargables, útiles para la sesión práctica de mapeo.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99632" y="44622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2" name="Shape 24"/>
          <p:cNvSpPr/>
          <p:nvPr/>
        </p:nvSpPr>
        <p:spPr>
          <a:xfrm>
            <a:off x="6473952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3" name="Image 6" descr="/tmp/work/deck/icons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653" y="4875581"/>
            <a:ext cx="261518" cy="26151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14032" y="46451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Condusef — Educación Financiera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114032" y="508406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gráfico y casos reales de protección al usuario financiero.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UNIDAD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6" name="Image 0" descr="/tmp/work/deck/icons/check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5008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activo financiero es un derecho sobre flujos futuros que vincula a un emisor (unidad deficitaria) con un inversionista (unidad superavitaria); es deuda directa, deuda indirecta o participación de capital.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953512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9" name="Image 1" descr="/tmp/work/deck/icons/check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3037637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907792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dinero (corto plazo, liquidez) y el mercado de capitales (largo plazo, inversión productiva) canalizan el ahorro; los derivados son un tercer segmento, definido por el instrumento y no por el plazo.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941064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12" name="Image 2" descr="/tmp/work/deck/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025189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9534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Financiero Mexicano combina jerarquía —SHCP y sus supervisores sectorizados (CNBV, CNSF, Consar)— con autonomía coordinada: Banxico, vía el CESF.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15" name="Image 3" descr="/tmp/work/deck/icons/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5" y="5012741"/>
            <a:ext cx="252374" cy="2523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882896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 y Condusef cierran el círculo —protegen el ahorro bancario y defienden al usuario financiero— y se relacionan funcionalmente con los supervisores (p. ej., IPAB garantiza los depósitos que regula la CNBV).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22960" y="6172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profundizaremos en la contabilidad del sistema bancario y la creación de dinero.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2026-08-13T01:37:27Z</dcterms:created>
  <dcterms:modified xsi:type="dcterms:W3CDTF">2026-08-13T01:37:27Z</dcterms:modified>
</cp:coreProperties>
</file>