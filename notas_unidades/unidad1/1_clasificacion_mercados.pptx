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5" Type="http://schemas.openxmlformats.org/officeDocument/2006/relationships/slide" Target="slides/slide1.xml"/><Relationship Id="rId26" Type="http://schemas.openxmlformats.org/officeDocument/2006/relationships/slide" Target="slides/slide2.xml"/><Relationship Id="rId27" Type="http://schemas.openxmlformats.org/officeDocument/2006/relationships/slide" Target="slides/slide3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6.xml"/><Relationship Id="rId31" Type="http://schemas.openxmlformats.org/officeDocument/2006/relationships/slide" Target="slides/slide7.xml"/><Relationship Id="rId3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notesSlide" Target="../notesSlides/notesSlide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5.png"/><Relationship Id="rId7" Type="http://schemas.openxmlformats.org/officeDocument/2006/relationships/image" Target="../media/image-9-6.png"/><Relationship Id="rId8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6-1.png"/><Relationship Id="rId3" Type="http://schemas.openxmlformats.org/officeDocument/2006/relationships/image" Target="../media/image-16-4.png"/><Relationship Id="rId4" Type="http://schemas.openxmlformats.org/officeDocument/2006/relationships/image" Target="../media/image-16-5.png"/><Relationship Id="rId5" Type="http://schemas.openxmlformats.org/officeDocument/2006/relationships/image" Target="../media/image-16-6.png"/><Relationship Id="rId6" Type="http://schemas.openxmlformats.org/officeDocument/2006/relationships/image" Target="../media/image-16-7.png"/><Relationship Id="rId7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7-1.png"/><Relationship Id="rId3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1.png"/><Relationship Id="rId3" Type="http://schemas.openxmlformats.org/officeDocument/2006/relationships/image" Target="../media/image-16-1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2423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DE DEUDA Y CAPITALES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9692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de Activos y Mercados Financieros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462272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B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en Comercio y Finanzas Internacionales · Universidad Autónoma de Zacatecas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Mántey de Anguiano (2024), Mishkin y Eakins (2014)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MERCADOS · PANORAMA GENERAL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ullsey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unidad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274320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188720" y="27432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estudiante clasifique un activo financiero según quién lo emite (deuda directa, deuda indirecta o participación de capital) y según su plazo (mercado de dinero o de capitales).</a:t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MERCADOS · PANORAMA GENERAL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contenido</a:t>
            </a:r>
            <a:endParaRPr lang="en-US" sz="3200" dirty="0"/>
          </a:p>
        </p:txBody>
      </p:sp>
      <p:sp>
        <p:nvSpPr>
          <p:cNvPr id="36" name="Text 30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777240" y="178308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Clasificación de los activos financieros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17830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235000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Mercado de dinero y mercado de capitales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235000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291693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Agentes económicos y su acceso a los mercados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9169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348386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IV.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Fuentes y referencias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348386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ACTIVOS Y MERCADOS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de los activos financieros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título que recibe la unidad superavitaria a cambio de sus recursos es el activo financiero. Adopta una de tres formas, según quién emite la obligación.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456432" cy="3886200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3317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7" name="Image 0" descr="/tmp/work/deck/icons/handholding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751" y="246778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01752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Deuda directa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32688" y="333756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AGENTE NO FINANCIERO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32688" y="3685032"/>
            <a:ext cx="2871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que el deudor final coloca directamente con el inversionista, quien asume el riesgo de crédito sin intermediario.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32688" y="466344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</a:t>
            </a:r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gubernamentales, papel comercial.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32688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932688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8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436876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436876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8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366260" y="2057400"/>
            <a:ext cx="3456432" cy="3886200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658868" y="23317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8" name="Image 1" descr="/tmp/work/deck/icons/university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931" y="2467783"/>
            <a:ext cx="294803" cy="294803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658868" y="301752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Deuda indirecta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658868" y="333756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INSTITUCIÓN FINANCIERA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4658868" y="3685032"/>
            <a:ext cx="2871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Obligación emitida por un intermediario, que se compromete a recomprarla al cliente.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4658868" y="466344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</a:t>
            </a:r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pagarés bancarios, certificados de depósito.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58868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4658868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8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6163056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6163056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8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8092440" y="2057400"/>
            <a:ext cx="3456432" cy="3886200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8385048" y="23317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9" name="Image 2" descr="/tmp/work/deck/icons/chartlin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1111" y="2467783"/>
            <a:ext cx="294803" cy="294803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8385048" y="301752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Participación de capital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8385048" y="333756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EMPRESA (ACCIONES)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8385048" y="3685032"/>
            <a:ext cx="2871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que representa una parte del capital de la empresa y da derecho a sus utilidades.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385048" y="466344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</a:t>
            </a:r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ordinarias y preferentes.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8385048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35" name="Text 30"/>
          <p:cNvSpPr/>
          <p:nvPr/>
        </p:nvSpPr>
        <p:spPr>
          <a:xfrm>
            <a:off x="8385048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8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9889236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37" name="Text 32"/>
          <p:cNvSpPr/>
          <p:nvPr/>
        </p:nvSpPr>
        <p:spPr>
          <a:xfrm>
            <a:off x="9889236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8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850" dirty="0"/>
          </a:p>
        </p:txBody>
      </p:sp>
      <p:sp>
        <p:nvSpPr>
          <p:cNvPr id="38" name="Text 33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(2024). Lecciones de Economía Monetaria, Lección 2 §2, UNAM.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ACTIVOS Y MERCADOS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dinero y mercado de capitales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se divide, por convención, según el plazo de los recursos que canaliza.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05840" y="22585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7" name="Image 0" descr="/tmp/work/deck/icons/coins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03" y="2394631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27685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dinero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259689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24128" y="31181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3444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Función: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liquidez de corto plazo a la economía y servir de canal a la política monetaria.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1024128" y="381304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234440" y="367588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 monetarias (bancos comerciales) emiten pasivos usables como medios de pago.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1024128" y="45079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234440" y="43708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depósitos a la vista, CETES y papel comercial a corto plazo.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6263640" y="1965960"/>
            <a:ext cx="52578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6629400" y="22585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8" name="Image 1" descr="/tmp/work/deck/icons/chartlin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463" y="2394631"/>
            <a:ext cx="294803" cy="294803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315200" y="227685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capitales</a:t>
            </a:r>
            <a:endParaRPr lang="en-US" sz="1650" dirty="0"/>
          </a:p>
        </p:txBody>
      </p:sp>
      <p:sp>
        <p:nvSpPr>
          <p:cNvPr id="20" name="Text 16"/>
          <p:cNvSpPr/>
          <p:nvPr/>
        </p:nvSpPr>
        <p:spPr>
          <a:xfrm>
            <a:off x="7315200" y="259689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647688" y="31181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18"/>
          <p:cNvSpPr/>
          <p:nvPr/>
        </p:nvSpPr>
        <p:spPr>
          <a:xfrm>
            <a:off x="685800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Función: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financiar la inversión productiva de largo plazo y diversificar el riesgo entre ahorradores e inversionistas.</a:t>
            </a:r>
            <a:endParaRPr lang="en-US" sz="1080" dirty="0"/>
          </a:p>
        </p:txBody>
      </p:sp>
      <p:sp>
        <p:nvSpPr>
          <p:cNvPr id="23" name="Shape 19"/>
          <p:cNvSpPr/>
          <p:nvPr/>
        </p:nvSpPr>
        <p:spPr>
          <a:xfrm>
            <a:off x="6647688" y="381304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858000" y="367588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 no monetarias (banca de inversión, aseguradoras, bolsa) emiten bonos y acciones.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647688" y="45079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6858000" y="43708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bonos hipotecarios y acciones ordinarias.</a:t>
            </a:r>
            <a:endParaRPr lang="en-US" sz="1080" dirty="0"/>
          </a:p>
        </p:txBody>
      </p:sp>
      <p:sp>
        <p:nvSpPr>
          <p:cNvPr id="34" name="Text 28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(2024), Lección 2 §4, UNAM; Mishkin, F. S. y Eakins, S. G. (2014), Cap. 11, Pearson.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6" name="TextBox 35"/>
          <p:cNvSpPr txBox="1"/>
          <p:nvPr/>
        </p:nvSpPr>
        <p:spPr>
          <a:xfrm>
            <a:off x="640080" y="5303520"/>
            <a:ext cx="109087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En México, los bancos múltiples integran ambas funciones desde principios de la década de 1970.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Los mercados de derivados (futuros, opciones, swaps) son un tercer segmento, definido por el instrumento y no por el plazo.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Es, sobre todo, un mercado mayorista — CETES es la excepción accesible al público, vía Cetesdirecto.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Banxico lo usa como canal de política monetaria; ahí se mueve la TIIE, la tasa de referencia de corto plazo.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ACTIVOS Y MERCADOS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Agentes económicos y su acceso a los mercados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agente participa en el mercado de dinero y en el de capitales de forma distinta.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ECONÓMICO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8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DINERO (corto plazo)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98080" y="1783080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CAPITALES (largo plazo)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22960" y="23774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1" name="Image 0" descr="/tmp/work/deck/icons/landmar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132" y="2469612"/>
            <a:ext cx="199705" cy="19970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16736" y="2240280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383280" y="224028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CETES y otros instrumentos de deuda de corto plazo.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2240280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M y Udibonos: deuda de largo plazo.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0080" y="2898648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22960" y="30358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7" name="Image 1" descr="/tmp/work/deck/icons/moneybill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32" y="3127980"/>
            <a:ext cx="199705" cy="19970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16736" y="2898648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83280" y="2898648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comercial para financiar capital de trabajo.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498080" y="2898648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 de obligaciones y colocación de acciones en bolsa.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40080" y="3557016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822960" y="36941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3" name="Image 2" descr="/tmp/work/deck/icons/handholding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132" y="3786348"/>
            <a:ext cx="199705" cy="19970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16736" y="3557016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3383280" y="3557016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bancario de corto plazo, factoraje y crédito de proveedores.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7498080" y="3557016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muy limitado; recurren a banca de desarrollo (NAFIN) en vez de la bolsa pública.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" y="4215384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822960" y="435254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9" name="Image 3" descr="/tmp/work/deck/icons/university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132" y="4444716"/>
            <a:ext cx="199705" cy="19970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316736" y="4215384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Bancos e intermediarios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3383280" y="4215384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depósitos; actúan como creadores de mercado.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498080" y="4215384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Colocación y garantía de emisiones (banca de inversión).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40080" y="4873752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822960" y="50109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35" name="Image 4" descr="/tmp/work/deck/icons/piggy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132" y="5103084"/>
            <a:ext cx="199705" cy="199705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316736" y="4873752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físicas</a:t>
            </a:r>
            <a:endParaRPr lang="en-US" sz="1050" dirty="0"/>
          </a:p>
        </p:txBody>
      </p:sp>
      <p:sp>
        <p:nvSpPr>
          <p:cNvPr id="37" name="Text 30"/>
          <p:cNvSpPr/>
          <p:nvPr/>
        </p:nvSpPr>
        <p:spPr>
          <a:xfrm>
            <a:off x="3383280" y="4873752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de ahorro y depósitos a la vista o a plazo.</a:t>
            </a:r>
            <a:endParaRPr lang="en-US" sz="950" dirty="0"/>
          </a:p>
        </p:txBody>
      </p:sp>
      <p:sp>
        <p:nvSpPr>
          <p:cNvPr id="38" name="Text 31"/>
          <p:cNvSpPr/>
          <p:nvPr/>
        </p:nvSpPr>
        <p:spPr>
          <a:xfrm>
            <a:off x="7498080" y="4873752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indirecto vía fondos de inversión, Afores o casas de bolsa.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40080" y="5532120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" name="Shape 33"/>
          <p:cNvSpPr/>
          <p:nvPr/>
        </p:nvSpPr>
        <p:spPr>
          <a:xfrm>
            <a:off x="822960" y="56692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41" name="Image 5" descr="/tmp/work/deck/icons/shield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132" y="5761452"/>
            <a:ext cx="199705" cy="199705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1316736" y="5532120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 institucionales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3383280" y="553212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Instrumentos líquidos de tesorería de corto plazo.</a:t>
            </a:r>
            <a:endParaRPr lang="en-US" sz="950" dirty="0"/>
          </a:p>
        </p:txBody>
      </p:sp>
      <p:sp>
        <p:nvSpPr>
          <p:cNvPr id="44" name="Text 36"/>
          <p:cNvSpPr/>
          <p:nvPr/>
        </p:nvSpPr>
        <p:spPr>
          <a:xfrm>
            <a:off x="7498080" y="5532120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fuente de demanda de largo plazo: bonos y acciones.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640080" y="1783080"/>
            <a:ext cx="10908792" cy="4407408"/>
          </a:xfrm>
          <a:prstGeom prst="rect">
            <a:avLst/>
          </a:prstGeom>
          <a:ln w="12700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46" name="Text 38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propia a partir de Mántey de Anguiano (2024), Lección 2, y la organización del mercado de valores mexicano.</a:t>
            </a:r>
            <a:endParaRPr lang="en-US" sz="950" dirty="0"/>
          </a:p>
        </p:txBody>
      </p:sp>
      <p:sp>
        <p:nvSpPr>
          <p:cNvPr id="47" name="Text 3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DOCENTE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ookopen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referencias recomendadas</a:t>
            </a:r>
            <a:endParaRPr lang="en-US" sz="3200" dirty="0"/>
          </a:p>
        </p:txBody>
      </p:sp>
      <p:sp>
        <p:nvSpPr>
          <p:cNvPr id="36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640080" y="169164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Mántey de Anguiano, G. (2024). Lecciones de Economía Monetaria. UNAM.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Lección 2: clasificación de activos y mercado de dinero/capitales.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169164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Mishkin, F. S. y Eakins, S. G. (2014). Financial Markets and Institutions (8ª ed.). Pearson.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Cap. 11, "The Money Markets".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· CLASIFICACIÓN DE ACTIVOS Y MERCADOS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 para recordar</a:t>
            </a:r>
            <a:endParaRPr lang="en-US" sz="340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187451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activo financiero es deuda directa, deuda indirecta o participación de capital, según quién emite la obligación — no según su plazo.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3463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mercado de dinero (corto plazo, liquidez) y el mercado de capitales (largo plazo, inversión productiva) canalizan el ahorro según el plazo; los derivados son un tercer segmento.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475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Cada agente económico (gobierno, empresas, PyMEs, bancos, personas físicas, institucionales) accede de forma distinta a ambos mercados.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5487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Plazo y tipo de emisor son clasificaciones independientes: un instrumento de largo plazo puede seguir siendo deuda indirecta si lo emite un intermediario.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Y MERCADOS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Agentes económicos y su acceso a los mercados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agente participa en el mercado de dinero y en el de capitales de forma distinta.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ECONÓMICO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8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DINERO (corto plazo)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98080" y="1783080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CAPITALES (largo plazo)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22960" y="23774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1" name="Image 0" descr="/tmp/work/deck/icons/landmar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132" y="2469612"/>
            <a:ext cx="199705" cy="19970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16736" y="2240280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383280" y="224028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CETES y otros instrumentos de deuda de corto plazo.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2240280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M y Udibonos: deuda de largo plazo.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0080" y="2898648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22960" y="30358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7" name="Image 1" descr="/tmp/work/deck/icons/moneybill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132" y="3127980"/>
            <a:ext cx="199705" cy="19970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16736" y="2898648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83280" y="2898648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comercial para financiar capital de trabajo.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498080" y="2898648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 de obligaciones y colocación de acciones en bolsa.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40080" y="3557016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822960" y="36941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3" name="Image 2" descr="/tmp/work/deck/icons/handholding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32" y="3786348"/>
            <a:ext cx="199705" cy="19970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16736" y="3557016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3383280" y="3557016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bancario de corto plazo, factoraje y crédito de proveedores.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7498080" y="3557016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muy limitado; recurren a banca de desarrollo (NAFIN) en vez de la bolsa pública.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" y="4215384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822960" y="435254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9" name="Image 3" descr="/tmp/work/deck/icons/university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132" y="4444716"/>
            <a:ext cx="199705" cy="19970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316736" y="4215384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Bancos e intermediarios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3383280" y="4215384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depósitos; actúan como creadores de mercado.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498080" y="4215384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Colocación y garantía de emisiones (banca de inversión).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40080" y="4873752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822960" y="50109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35" name="Image 4" descr="/tmp/work/deck/icons/piggy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132" y="5103084"/>
            <a:ext cx="199705" cy="199705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316736" y="4873752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físicas</a:t>
            </a:r>
            <a:endParaRPr lang="en-US" sz="1050" dirty="0"/>
          </a:p>
        </p:txBody>
      </p:sp>
      <p:sp>
        <p:nvSpPr>
          <p:cNvPr id="37" name="Text 30"/>
          <p:cNvSpPr/>
          <p:nvPr/>
        </p:nvSpPr>
        <p:spPr>
          <a:xfrm>
            <a:off x="3383280" y="4873752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de ahorro y depósitos a la vista o a plazo.</a:t>
            </a:r>
            <a:endParaRPr lang="en-US" sz="950" dirty="0"/>
          </a:p>
        </p:txBody>
      </p:sp>
      <p:sp>
        <p:nvSpPr>
          <p:cNvPr id="38" name="Text 31"/>
          <p:cNvSpPr/>
          <p:nvPr/>
        </p:nvSpPr>
        <p:spPr>
          <a:xfrm>
            <a:off x="7498080" y="4873752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indirecto vía fondos de inversión, Afores o casas de bolsa.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40080" y="5532120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" name="Shape 33"/>
          <p:cNvSpPr/>
          <p:nvPr/>
        </p:nvSpPr>
        <p:spPr>
          <a:xfrm>
            <a:off x="822960" y="56692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41" name="Image 5" descr="/tmp/work/deck/icons/shield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132" y="5761452"/>
            <a:ext cx="199705" cy="199705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1316736" y="5532120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 institucionales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3383280" y="553212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Instrumentos líquidos de tesorería de corto plazo.</a:t>
            </a:r>
            <a:endParaRPr lang="en-US" sz="950" dirty="0"/>
          </a:p>
        </p:txBody>
      </p:sp>
      <p:sp>
        <p:nvSpPr>
          <p:cNvPr id="44" name="Text 36"/>
          <p:cNvSpPr/>
          <p:nvPr/>
        </p:nvSpPr>
        <p:spPr>
          <a:xfrm>
            <a:off x="7498080" y="5532120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fuente de demanda de largo plazo: bonos y acciones.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640080" y="1783080"/>
            <a:ext cx="10908792" cy="4407408"/>
          </a:xfrm>
          <a:prstGeom prst="rect">
            <a:avLst/>
          </a:prstGeom>
          <a:ln w="12700">
            <a:solidFill>
              <a:srgbClr val="E1E7F5"/>
            </a:solidFill>
            <a:prstDash val="solid"/>
          </a:ln>
        </p:spPr>
        <p:txBody>
          <a:bodyPr/>
          <a:p/>
        </p:txBody>
      </p:sp>
      <p:sp>
        <p:nvSpPr>
          <p:cNvPr id="46" name="Text 38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propia a partir de Mántey de Anguiano (2024), Lección 2, y la organización del mercado de valores mexicano.</a:t>
            </a:r>
            <a:endParaRPr lang="en-US" sz="950" dirty="0"/>
          </a:p>
        </p:txBody>
      </p:sp>
      <p:sp>
        <p:nvSpPr>
          <p:cNvPr id="47" name="Text 3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DOCENTE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ookopen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referencias recomendadas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841248" y="1847088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8" name="Image 1" descr="/tmp/work/deck/icons/bookopen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22" y="1978762"/>
            <a:ext cx="285293" cy="28529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1783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Mántey de Anguiano, G. (2024). Lecciones de Economía Monetaria. UNAM.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55448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Lección 2: estructura y funcionamiento del mercado financiero.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199632" y="1691640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0" y="1847088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3" name="Image 2" descr="/tmp/work/deck/icons/bookopen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4" y="1978762"/>
            <a:ext cx="285293" cy="28529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14032" y="1783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Fabozzi, F. J. y Peterson Drake, P. (2009). Finance. Wiley.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7114032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Cap. 4, "The Financial System": qué es un activo financiero y funciones del mercado.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40080" y="288036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914400" y="31729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8" name="Image 3" descr="/tmp/work/deck/icons/coins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3293669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06324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Banxico Educa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1554480" y="350215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Infografías y explicaciones sobre "¿Qué es el Sistema Financiero?", ideales para la clase teórica.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199632" y="288036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>
            <a:off x="6473952" y="31729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3" name="Image 4" descr="/tmp/work/deck/icons/landmar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653" y="3293669"/>
            <a:ext cx="261518" cy="26151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14032" y="306324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del Sistema Financiero Mexicano (SHCP)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7114032" y="350215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oficial de la estructura de autoridades e intermediarios regulados.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40080" y="4462272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27" name="Shape 20"/>
          <p:cNvSpPr/>
          <p:nvPr/>
        </p:nvSpPr>
        <p:spPr>
          <a:xfrm>
            <a:off x="914400" y="47548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8" name="Image 5" descr="/tmp/work/deck/icons/chartline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1" y="4875581"/>
            <a:ext cx="261518" cy="26151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554480" y="464515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CNBV — Sectores Supervisados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1554480" y="508406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Esquemas gráficos descargables, útiles para la sesión práctica de mapeo.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6199632" y="4462272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32" name="Shape 24"/>
          <p:cNvSpPr/>
          <p:nvPr/>
        </p:nvSpPr>
        <p:spPr>
          <a:xfrm>
            <a:off x="6473952" y="47548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33" name="Image 6" descr="/tmp/work/deck/icons/balance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4653" y="4875581"/>
            <a:ext cx="261518" cy="26151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14032" y="464515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Condusef — Educación Financiera</a:t>
            </a:r>
            <a:endParaRPr lang="en-US" sz="1250" dirty="0"/>
          </a:p>
        </p:txBody>
      </p:sp>
      <p:sp>
        <p:nvSpPr>
          <p:cNvPr id="35" name="Text 26"/>
          <p:cNvSpPr/>
          <p:nvPr/>
        </p:nvSpPr>
        <p:spPr>
          <a:xfrm>
            <a:off x="7114032" y="508406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gráfico y casos reales de protección al usuario financiero.</a:t>
            </a:r>
            <a:endParaRPr lang="en-US" sz="1050" dirty="0"/>
          </a:p>
        </p:txBody>
      </p:sp>
      <p:sp>
        <p:nvSpPr>
          <p:cNvPr id="36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 UNIDAD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 para recordar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420624" cy="420624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pic>
        <p:nvPicPr>
          <p:cNvPr id="6" name="Image 0" descr="/tmp/work/deck/icons/checkcircl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2050085"/>
            <a:ext cx="252374" cy="2523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920240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activo financiero es un derecho sobre flujos futuros que vincula a un emisor (unidad deficitaria) con un inversionista (unidad superavitaria); es deuda directa, deuda indirecta o participación de capital.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2960" y="2953512"/>
            <a:ext cx="420624" cy="420624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pic>
        <p:nvPicPr>
          <p:cNvPr id="9" name="Image 1" descr="/tmp/work/deck/icons/check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5" y="3037637"/>
            <a:ext cx="252374" cy="2523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907792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de dinero (corto plazo, liquidez) y el mercado de capitales (largo plazo, inversión productiva) canalizan el ahorro; los derivados son un tercer segmento, definido por el instrumento y no por el plazo.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22960" y="3941064"/>
            <a:ext cx="420624" cy="420624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pic>
        <p:nvPicPr>
          <p:cNvPr id="12" name="Image 2" descr="/tmp/work/deck/icons/check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4025189"/>
            <a:ext cx="252374" cy="2523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895344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Financiero Mexicano combina jerarquía —SHCP y sus supervisores sectorizados (CNBV, CNSF, Consar)— con autonomía coordinada: Banxico, vía el CESF.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822960" y="4928616"/>
            <a:ext cx="420624" cy="420624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pic>
        <p:nvPicPr>
          <p:cNvPr id="15" name="Image 3" descr="/tmp/work/deck/icons/checkcircle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5" y="5012741"/>
            <a:ext cx="252374" cy="2523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63040" y="4882896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 y Condusef cierran el círculo —protegen el ahorro bancario y defienden al usuario financiero— y se relacionan funcionalmente con los supervisores (p. ej., IPAB garantiza los depósitos que regula la CNBV).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22960" y="61722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sesión: profundizaremos en la contabilidad del sistema bancario y la creación de dinero.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2026-08-13T01:37:27Z</dcterms:created>
  <dcterms:modified xsi:type="dcterms:W3CDTF">2026-08-13T01:37:27Z</dcterms:modified>
</cp:coreProperties>
</file>