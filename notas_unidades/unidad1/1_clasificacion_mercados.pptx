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5" Type="http://schemas.openxmlformats.org/officeDocument/2006/relationships/slide" Target="slides/slide1.xml"/><Relationship Id="rId26" Type="http://schemas.openxmlformats.org/officeDocument/2006/relationships/slide" Target="slides/slide2.xml"/><Relationship Id="rId27" Type="http://schemas.openxmlformats.org/officeDocument/2006/relationships/slide" Target="slides/slide3.xml"/><Relationship Id="rId28" Type="http://schemas.openxmlformats.org/officeDocument/2006/relationships/slide" Target="slides/slide4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7.xml"/><Relationship Id="rId32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notesSlide" Target="../notesSlides/notesSlide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notesSlide" Target="../notesSlides/notesSlide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image" Target="../media/image-9-5.png"/><Relationship Id="rId7" Type="http://schemas.openxmlformats.org/officeDocument/2006/relationships/image" Target="../media/image-9-6.png"/><Relationship Id="rId8" Type="http://schemas.openxmlformats.org/officeDocument/2006/relationships/notesSlide" Target="../notesSlides/notesSlide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6-1.png"/><Relationship Id="rId3" Type="http://schemas.openxmlformats.org/officeDocument/2006/relationships/image" Target="../media/image-16-4.png"/><Relationship Id="rId4" Type="http://schemas.openxmlformats.org/officeDocument/2006/relationships/image" Target="../media/image-16-5.png"/><Relationship Id="rId5" Type="http://schemas.openxmlformats.org/officeDocument/2006/relationships/image" Target="../media/image-16-6.png"/><Relationship Id="rId6" Type="http://schemas.openxmlformats.org/officeDocument/2006/relationships/image" Target="../media/image-16-7.png"/><Relationship Id="rId7" Type="http://schemas.openxmlformats.org/officeDocument/2006/relationships/notesSlide" Target="../notesSlides/notesSlide1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6-1.png"/><Relationship Id="rId3" Type="http://schemas.openxmlformats.org/officeDocument/2006/relationships/image" Target="../media/image-16-4.png"/><Relationship Id="rId4" Type="http://schemas.openxmlformats.org/officeDocument/2006/relationships/image" Target="../media/image-16-5.png"/><Relationship Id="rId5" Type="http://schemas.openxmlformats.org/officeDocument/2006/relationships/image" Target="../media/image-16-6.png"/><Relationship Id="rId6" Type="http://schemas.openxmlformats.org/officeDocument/2006/relationships/image" Target="../media/image-16-7.png"/><Relationship Id="rId7" Type="http://schemas.openxmlformats.org/officeDocument/2006/relationships/notesSlide" Target="../notesSlides/notesSlide1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7-1.png"/><Relationship Id="rId3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7-1.png"/><Relationship Id="rId3" Type="http://schemas.openxmlformats.org/officeDocument/2006/relationships/notesSlide" Target="../notesSlides/notesSlide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2423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DE DEUDA Y CAPITALES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926080"/>
            <a:ext cx="9692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Sistema Financiero Mexicano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46227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BA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en Comercio y Finanzas Internacionales · Universidad Autónoma de Zacatecas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de Economía Monetaria — G. Mántey de Anguiano (UNAM, 2024)</a:t>
            </a:r>
            <a:endParaRPr lang="en-US" sz="1050" dirty="0"/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2423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DE DEUDA Y CAPITALES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926080"/>
            <a:ext cx="9692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Sistema Financiero Mexicano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46227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BA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en Comercio y Finanzas Internacionales · Universidad Autónoma de Zacatecas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de Economía Monetaria — G. Mántey de Anguiano (UNAM, 2024)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PANORAMA GENERAL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p/>
        </p:txBody>
      </p:sp>
      <p:pic>
        <p:nvPicPr>
          <p:cNvPr id="4" name="Image 0" descr="/tmp/work/deck/icons/bullsey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unidad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1088136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188720" y="274320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73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el estudiante entienda </a:t>
            </a:r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básico del dinero</a:t>
            </a:r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73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en una economía y cómo está organizado </a:t>
            </a:r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que lo vigila.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PANORAMA GENERAL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p/>
        </p:txBody>
      </p:sp>
      <p:pic>
        <p:nvPicPr>
          <p:cNvPr id="4" name="Image 0" descr="/tmp/work/deck/icons/bullsey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unidad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1088136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188720" y="274320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73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el estudiante entienda </a:t>
            </a:r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básico del dinero</a:t>
            </a:r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73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en una economía y cómo está organizado </a:t>
            </a:r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que lo vigila.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PANORAMA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de contenido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987552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783080"/>
            <a:ext cx="777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691640" y="202082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7" name="Image 0" descr="/tmp/work/deck/icons/excha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535" y="2143719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23160" y="190195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 financiera y mercados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423160" y="22402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financieros, agentes, mercado de dinero y de capitales, y canales de crédito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948672" y="208483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948672" y="20848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5–11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" y="2953512"/>
            <a:ext cx="10908792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" y="2953512"/>
            <a:ext cx="777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1691640" y="319125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15" name="Image 1" descr="/tmp/work/deck/icons/site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35" y="3314151"/>
            <a:ext cx="266273" cy="26627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23160" y="307238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Sistema Financiero Mexicano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2423160" y="341071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Reguladores, supervisores y organismos de apoyo y protección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9948672" y="325526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9948672" y="325526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12–13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40080" y="4123944"/>
            <a:ext cx="10908792" cy="987552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77240" y="4123944"/>
            <a:ext cx="777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3000" dirty="0"/>
          </a:p>
        </p:txBody>
      </p:sp>
      <p:sp>
        <p:nvSpPr>
          <p:cNvPr id="22" name="Shape 18"/>
          <p:cNvSpPr/>
          <p:nvPr/>
        </p:nvSpPr>
        <p:spPr>
          <a:xfrm>
            <a:off x="1691640" y="43616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23" name="Image 2" descr="/tmp/work/deck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535" y="4484583"/>
            <a:ext cx="266273" cy="26627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423160" y="42428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práctico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2423160" y="458114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institucional y análisis de casos reales aplicando los conceptos vistos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948672" y="4425696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7" name="Text 22"/>
          <p:cNvSpPr/>
          <p:nvPr/>
        </p:nvSpPr>
        <p:spPr>
          <a:xfrm>
            <a:off x="9948672" y="44256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15–16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40080" y="5294376"/>
            <a:ext cx="10908792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29" name="Text 24"/>
          <p:cNvSpPr/>
          <p:nvPr/>
        </p:nvSpPr>
        <p:spPr>
          <a:xfrm>
            <a:off x="777240" y="5294376"/>
            <a:ext cx="777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3000" dirty="0"/>
          </a:p>
        </p:txBody>
      </p:sp>
      <p:sp>
        <p:nvSpPr>
          <p:cNvPr id="30" name="Shape 25"/>
          <p:cNvSpPr/>
          <p:nvPr/>
        </p:nvSpPr>
        <p:spPr>
          <a:xfrm>
            <a:off x="1691640" y="55321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31" name="Image 3" descr="/tmp/work/deck/icons/bookope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535" y="5655015"/>
            <a:ext cx="266273" cy="266273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2423160" y="541324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y referencias</a:t>
            </a:r>
            <a:endParaRPr lang="en-US" sz="1450" dirty="0"/>
          </a:p>
        </p:txBody>
      </p:sp>
      <p:sp>
        <p:nvSpPr>
          <p:cNvPr id="33" name="Text 27"/>
          <p:cNvSpPr/>
          <p:nvPr/>
        </p:nvSpPr>
        <p:spPr>
          <a:xfrm>
            <a:off x="2423160" y="575157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 del curso y portales oficiales de consulta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9948672" y="559612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5" name="Text 29"/>
          <p:cNvSpPr/>
          <p:nvPr/>
        </p:nvSpPr>
        <p:spPr>
          <a:xfrm>
            <a:off x="9948672" y="55961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17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PANORAMA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de contenido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987552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783080"/>
            <a:ext cx="777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691640" y="202082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7" name="Image 0" descr="/tmp/work/deck/icons/excha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535" y="2143719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23160" y="190195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 financiera y mercados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423160" y="22402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financieros, agentes, mercado de dinero y de capitales, y canales de crédito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948672" y="208483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948672" y="20848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5–11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" y="2953512"/>
            <a:ext cx="10908792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" y="2953512"/>
            <a:ext cx="777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1691640" y="319125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15" name="Image 1" descr="/tmp/work/deck/icons/site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35" y="3314151"/>
            <a:ext cx="266273" cy="26627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23160" y="307238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Sistema Financiero Mexicano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2423160" y="341071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Reguladores, supervisores y organismos de apoyo y protección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9948672" y="325526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9948672" y="325526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12–13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40080" y="4123944"/>
            <a:ext cx="10908792" cy="987552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77240" y="4123944"/>
            <a:ext cx="777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3000" dirty="0"/>
          </a:p>
        </p:txBody>
      </p:sp>
      <p:sp>
        <p:nvSpPr>
          <p:cNvPr id="22" name="Shape 18"/>
          <p:cNvSpPr/>
          <p:nvPr/>
        </p:nvSpPr>
        <p:spPr>
          <a:xfrm>
            <a:off x="1691640" y="43616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23" name="Image 2" descr="/tmp/work/deck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535" y="4484583"/>
            <a:ext cx="266273" cy="26627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423160" y="424281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práctico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2423160" y="458114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institucional y análisis de casos reales aplicando los conceptos vistos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948672" y="4425696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7" name="Text 22"/>
          <p:cNvSpPr/>
          <p:nvPr/>
        </p:nvSpPr>
        <p:spPr>
          <a:xfrm>
            <a:off x="9948672" y="44256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15–16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40080" y="5294376"/>
            <a:ext cx="10908792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29" name="Text 24"/>
          <p:cNvSpPr/>
          <p:nvPr/>
        </p:nvSpPr>
        <p:spPr>
          <a:xfrm>
            <a:off x="777240" y="5294376"/>
            <a:ext cx="777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3000" dirty="0"/>
          </a:p>
        </p:txBody>
      </p:sp>
      <p:sp>
        <p:nvSpPr>
          <p:cNvPr id="30" name="Shape 25"/>
          <p:cNvSpPr/>
          <p:nvPr/>
        </p:nvSpPr>
        <p:spPr>
          <a:xfrm>
            <a:off x="1691640" y="55321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31" name="Image 3" descr="/tmp/work/deck/icons/bookope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535" y="5655015"/>
            <a:ext cx="266273" cy="266273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2423160" y="541324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y referencias</a:t>
            </a:r>
            <a:endParaRPr lang="en-US" sz="1450" dirty="0"/>
          </a:p>
        </p:txBody>
      </p:sp>
      <p:sp>
        <p:nvSpPr>
          <p:cNvPr id="33" name="Text 27"/>
          <p:cNvSpPr/>
          <p:nvPr/>
        </p:nvSpPr>
        <p:spPr>
          <a:xfrm>
            <a:off x="2423160" y="575157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 del curso y portales oficiales de consulta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9948672" y="559612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5" name="Text 29"/>
          <p:cNvSpPr/>
          <p:nvPr/>
        </p:nvSpPr>
        <p:spPr>
          <a:xfrm>
            <a:off x="9948672" y="55961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PÁG. 17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ACTIVOS Y MERCADOS · 12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de los activos financieros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título que recibe la unidad superavitaria a cambio de sus recursos es el activo financiero. Adopta una de tres formas, según quién emite la obligación.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56432" cy="388620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32688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7" name="Image 0" descr="/tmp/work/deck/icons/handholding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51" y="246778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0175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Deuda directa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333756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EMISOR: AGENTE NO FINANCIERO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32688" y="3685032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que el deudor final coloca directamente con el inversionista, quien asume el riesgo de crédito sin intermediario.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32688" y="466344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bonos gubernamentales, papel comercial.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32688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32688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436876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2436876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366260" y="2057400"/>
            <a:ext cx="3456432" cy="388620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658868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18" name="Image 1" descr="/tmp/work/deck/icons/university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931" y="2467783"/>
            <a:ext cx="294803" cy="29480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58868" y="30175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Deuda indirecta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658868" y="333756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EMISOR: INSTITUCIÓN FINANCIERA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658868" y="3685032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emitida por un intermediario, que se compromete a recomprarla al cliente.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658868" y="466344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pagarés bancarios, certificados de depósito.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658868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4658868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6163056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6163056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8092440" y="2057400"/>
            <a:ext cx="3456432" cy="388620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8385048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29" name="Image 2" descr="/tmp/work/deck/icons/chartlin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1111" y="2467783"/>
            <a:ext cx="294803" cy="294803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385048" y="30175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Participación de capital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8385048" y="333756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EMISOR: EMPRESA (ACCIONES)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8385048" y="3685032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que representa una parte del capital de la empresa y da derecho a sus utilidades.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8385048" y="466344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ordinarias y preferentes.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8385048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35" name="Text 30"/>
          <p:cNvSpPr/>
          <p:nvPr/>
        </p:nvSpPr>
        <p:spPr>
          <a:xfrm>
            <a:off x="8385048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9889236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37" name="Text 32"/>
          <p:cNvSpPr/>
          <p:nvPr/>
        </p:nvSpPr>
        <p:spPr>
          <a:xfrm>
            <a:off x="9889236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Mántey de Anguiano, G. (2024). Lecciones de Economía Monetaria, Lección 2 §2, UNAM.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ACTIVOS Y MERCADOS · 12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 dinero y mercado de capitales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financiero se divide, por convención, según el plazo de los recursos que canaliza.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05840" y="22585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7" name="Image 0" descr="/tmp/work/deck/icons/coin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903" y="2394631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7685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 dinero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91640" y="25968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024128" y="311810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34440" y="298094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Función: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liquidez de corto plazo a la economía y servir de canal a la política monetaria.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1024128" y="381304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234440" y="367588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monetarias (bancos comerciales) emiten pasivos usables como medios de pago.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1024128" y="450799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234440" y="437083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depósitos a la vista, CETES y papel comercial a corto plazo.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263640" y="196596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6629400" y="22585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18" name="Image 1" descr="/tmp/work/deck/icons/chartli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463" y="2394631"/>
            <a:ext cx="294803" cy="29480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0" y="227685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 capitales</a:t>
            </a:r>
            <a:endParaRPr lang="en-US" sz="1650" dirty="0"/>
          </a:p>
        </p:txBody>
      </p:sp>
      <p:sp>
        <p:nvSpPr>
          <p:cNvPr id="20" name="Text 16"/>
          <p:cNvSpPr/>
          <p:nvPr/>
        </p:nvSpPr>
        <p:spPr>
          <a:xfrm>
            <a:off x="7315200" y="25968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PLAZO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647688" y="311810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6858000" y="298094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Función: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financiar la inversión productiva de largo plazo y diversificar el riesgo entre ahorradores e inversionistas.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6647688" y="381304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6858000" y="367588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no monetarias (banca de inversión, aseguradoras, bolsa) emiten bonos y acciones.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647688" y="450799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6858000" y="437083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bonos hipotecarios y acciones ordinarias.</a:t>
            </a:r>
            <a:endParaRPr lang="en-US" sz="1080" dirty="0"/>
          </a:p>
        </p:txBody>
      </p:sp>
      <p:sp>
        <p:nvSpPr>
          <p:cNvPr id="34" name="Text 28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Mántey de Anguiano, G. (2024), Lección 2 §4, UNAM; Mishkin, F. S. y Eakins, S. G. (2014), Cap. 11, Pearson.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Box 35"/>
          <p:cNvSpPr txBox="1"/>
          <p:nvPr/>
        </p:nvSpPr>
        <p:spPr>
          <a:xfrm>
            <a:off x="640080" y="5303520"/>
            <a:ext cx="10908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5B6482"/>
                </a:solidFill>
                <a:latin typeface="Calibri"/>
              </a:rPr>
              <a:t>En México, los bancos múltiples integran ambas funciones desde principios de la década de 1970.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5B6482"/>
                </a:solidFill>
                <a:latin typeface="Calibri"/>
              </a:rPr>
              <a:t>Los mercados de derivados (futuros, opciones, swaps) son un tercer segmento, definido por el instrumento y no por el plazo.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5B6482"/>
                </a:solidFill>
                <a:latin typeface="Calibri"/>
              </a:rPr>
              <a:t>Es, sobre todo, un mercado mayorista — CETES es la excepción accesible al público, vía Cetesdirecto.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5B6482"/>
                </a:solidFill>
                <a:latin typeface="Calibri"/>
              </a:rPr>
              <a:t>Banxico lo usa como canal de política monetaria; ahí se mueve la TIIE, la tasa de referencia de corto plazo.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ACTIVOS Y MERCADOS · 12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económicos y su acceso a los mercados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tipo de agente participa en el mercado de dinero y en el de capitales de forma distinta.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83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ECONÓMICO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83280" y="1783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DINERO (corto plazo)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0" y="178308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CAPITALES (largo plazo)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22960" y="2377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11" name="Image 0" descr="/tmp/work/deck/icons/landmar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32" y="2469612"/>
            <a:ext cx="199705" cy="19970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16736" y="2240280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383280" y="22402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CETES y otros instrumentos de deuda de corto plazo.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98080" y="2240280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Bonos M y Udibonos: deuda de largo plazo.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" y="2898648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22960" y="30358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17" name="Image 1" descr="/tmp/work/deck/icons/moneybill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3127980"/>
            <a:ext cx="199705" cy="19970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16736" y="2898648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empresas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383280" y="289864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comercial para financiar capital de trabajo.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7498080" y="2898648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de obligaciones y colocación de acciones en bolsa.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40080" y="3557016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822960" y="36941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23" name="Image 2" descr="/tmp/work/deck/icons/handholding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2" y="3786348"/>
            <a:ext cx="199705" cy="19970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16736" y="3557016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3383280" y="355701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bancario de corto plazo, factoraje y crédito de proveedores.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7498080" y="3557016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muy limitado; recurren a banca de desarrollo (NAFIN) en vez de la bolsa pública.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40080" y="4215384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Shape 23"/>
          <p:cNvSpPr/>
          <p:nvPr/>
        </p:nvSpPr>
        <p:spPr>
          <a:xfrm>
            <a:off x="822960" y="4352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29" name="Image 3" descr="/tmp/work/deck/icons/university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132" y="4444716"/>
            <a:ext cx="199705" cy="19970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16736" y="4215384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e intermediarios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3383280" y="4215384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de depósitos; actúan como creadores de mercado.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7498080" y="4215384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Colocación y garantía de emisiones (banca de inversión).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640080" y="4873752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34" name="Shape 28"/>
          <p:cNvSpPr/>
          <p:nvPr/>
        </p:nvSpPr>
        <p:spPr>
          <a:xfrm>
            <a:off x="822960" y="5010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35" name="Image 4" descr="/tmp/work/deck/icons/piggy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132" y="5103084"/>
            <a:ext cx="199705" cy="19970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316736" y="4873752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físicas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3383280" y="487375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de ahorro y depósitos a la vista o a plazo.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7498080" y="4873752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indirecto vía fondos de inversión, Afores o casas de bolsa.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640080" y="5532120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Shape 33"/>
          <p:cNvSpPr/>
          <p:nvPr/>
        </p:nvSpPr>
        <p:spPr>
          <a:xfrm>
            <a:off x="822960" y="5669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41" name="Image 5" descr="/tmp/work/deck/icons/shield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132" y="5761452"/>
            <a:ext cx="199705" cy="199705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316736" y="5532120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 institucionales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3383280" y="553212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 líquidos de tesorería de corto plazo.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7498080" y="5532120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fuente de demanda de largo plazo: bonos y acciones.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640080" y="1783080"/>
            <a:ext cx="10908792" cy="4407408"/>
          </a:xfrm>
          <a:prstGeom prst="rect">
            <a:avLst/>
          </a:prstGeom>
          <a:ln w="12700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46" name="Text 38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propia a partir de Mántey de Anguiano (2024), Lección 2, y la organización del mercado de valores mexicano.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DOCENTE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p/>
        </p:txBody>
      </p:sp>
      <p:pic>
        <p:nvPicPr>
          <p:cNvPr id="4" name="Image 0" descr="/tmp/work/deck/icons/bookope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y referencias recomendadas</a:t>
            </a:r>
            <a:endParaRPr lang="en-US" sz="3200" dirty="0"/>
          </a:p>
        </p:txBody>
      </p:sp>
      <p:sp>
        <p:nvSpPr>
          <p:cNvPr id="36" name="Text 2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640080" y="169164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Mántey de Anguiano, G. (2024). Lecciones de Economía Monetaria. UNAM.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5B6482"/>
                </a:solidFill>
                <a:latin typeface="Calibri"/>
              </a:rPr>
              <a:t>Lección 2: clasificación de activos y mercado de dinero/capitales.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2" y="169164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Mishkin, F. S. y Eakins, S. G. (2014). Financial Markets and Institutions (8ª ed.). Pearson.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5B6482"/>
                </a:solidFill>
                <a:latin typeface="Calibri"/>
              </a:rPr>
              <a:t>Cap. 11, "The Money Markets".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DOCENTE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p/>
        </p:txBody>
      </p:sp>
      <p:pic>
        <p:nvPicPr>
          <p:cNvPr id="4" name="Image 0" descr="/tmp/work/deck/icons/bookope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y referencias recomendadas</a:t>
            </a:r>
            <a:endParaRPr lang="en-US" sz="3200" dirty="0"/>
          </a:p>
        </p:txBody>
      </p:sp>
      <p:sp>
        <p:nvSpPr>
          <p:cNvPr id="36" name="Text 2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640080" y="169164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Mántey de Anguiano, G. (2024). Lecciones de Economía Monetaria. UNAM.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5B6482"/>
                </a:solidFill>
                <a:latin typeface="Calibri"/>
              </a:rPr>
              <a:t>Lección 2: clasificación de activos y mercado de dinero/capitales.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2" y="169164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Mishkin, F. S. y Eakins, S. G. (2014). Financial Markets and Institutions (8ª ed.). Pearson.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5B6482"/>
                </a:solidFill>
                <a:latin typeface="Calibri"/>
              </a:rPr>
              <a:t>Cap. 11, "The Money Markets".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CLASIFICACIÓN DE ACTIVOS Y MERCADOS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esencial para recordar</a:t>
            </a:r>
            <a:endParaRPr lang="en-US" sz="3400" dirty="0"/>
          </a:p>
        </p:txBody>
      </p:sp>
      <p:sp>
        <p:nvSpPr>
          <p:cNvPr id="18" name="TextBox 17"/>
          <p:cNvSpPr txBox="1"/>
          <p:nvPr/>
        </p:nvSpPr>
        <p:spPr>
          <a:xfrm>
            <a:off x="822960" y="187451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El activo financiero es deuda directa, deuda indirecta o participación de capital, según quién emite la obligación — no según su plazo.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83463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El mercado de dinero (corto plazo, liquidez) y el mercado de capitales (largo plazo, inversión productiva) canalizan el ahorro según el plazo; los derivados son un tercer segmento.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9475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Cada agente económico (gobierno, empresas, PyMEs, bancos, personas físicas, institucionales) accede de forma distinta a ambos mercados.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5487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Plazo y tipo de emisor son clasificaciones independientes: un instrumento de largo plazo puede seguir siendo deuda indirecta si lo emite un intermediario.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CLASIFICACIÓN DE ACTIVOS Y MERCADOS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esencial para recordar</a:t>
            </a:r>
            <a:endParaRPr lang="en-US" sz="3400" dirty="0"/>
          </a:p>
        </p:txBody>
      </p:sp>
      <p:sp>
        <p:nvSpPr>
          <p:cNvPr id="18" name="TextBox 17"/>
          <p:cNvSpPr txBox="1"/>
          <p:nvPr/>
        </p:nvSpPr>
        <p:spPr>
          <a:xfrm>
            <a:off x="822960" y="187451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El activo financiero es deuda directa, deuda indirecta o participación de capital, según quién emite la obligación — no según su plazo.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83463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El mercado de dinero (corto plazo, liquidez) y el mercado de capitales (largo plazo, inversión productiva) canalizan el ahorro según el plazo; los derivados son un tercer segmento.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9475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Cada agente económico (gobierno, empresas, PyMEs, bancos, personas físicas, institucionales) accede de forma distinta a ambos mercados.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54879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Plazo y tipo de emisor son clasificaciones independientes: un instrumento de largo plazo puede seguir siendo deuda indirecta si lo emite un intermediario.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 FINANCIERA Y MERCADOS · 12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económicos y su acceso a los mercados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tipo de agente participa en el mercado de dinero y en el de capitales de forma distinta.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83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ECONÓMICO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83280" y="1783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DINERO (corto plazo)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0" y="178308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CAPITALES (largo plazo)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22960" y="2377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11" name="Image 0" descr="/tmp/work/deck/icons/landmar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2469612"/>
            <a:ext cx="199705" cy="19970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16736" y="2240280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383280" y="22402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CETES y otros instrumentos de deuda de corto plazo.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98080" y="2240280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Bonos M y Udibonos: deuda de largo plazo.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" y="2898648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22960" y="30358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17" name="Image 1" descr="/tmp/work/deck/icons/moneybill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132" y="3127980"/>
            <a:ext cx="199705" cy="19970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16736" y="2898648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empresas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383280" y="289864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comercial para financiar capital de trabajo.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7498080" y="2898648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de obligaciones y colocación de acciones en bolsa.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40080" y="3557016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822960" y="36941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23" name="Image 2" descr="/tmp/work/deck/icons/handholding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3786348"/>
            <a:ext cx="199705" cy="19970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16736" y="3557016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3383280" y="355701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bancario de corto plazo, factoraje y crédito de proveedores.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7498080" y="3557016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muy limitado; recurren a banca de desarrollo (NAFIN) en vez de la bolsa pública.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40080" y="4215384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Shape 23"/>
          <p:cNvSpPr/>
          <p:nvPr/>
        </p:nvSpPr>
        <p:spPr>
          <a:xfrm>
            <a:off x="822960" y="4352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29" name="Image 3" descr="/tmp/work/deck/icons/university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2" y="4444716"/>
            <a:ext cx="199705" cy="19970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16736" y="4215384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e intermediarios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3383280" y="4215384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de depósitos; actúan como creadores de mercado.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7498080" y="4215384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Colocación y garantía de emisiones (banca de inversión).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640080" y="4873752"/>
            <a:ext cx="10908792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34" name="Shape 28"/>
          <p:cNvSpPr/>
          <p:nvPr/>
        </p:nvSpPr>
        <p:spPr>
          <a:xfrm>
            <a:off x="822960" y="5010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35" name="Image 4" descr="/tmp/work/deck/icons/piggy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132" y="5103084"/>
            <a:ext cx="199705" cy="19970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316736" y="4873752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físicas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3383280" y="487375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de ahorro y depósitos a la vista o a plazo.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7498080" y="4873752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indirecto vía fondos de inversión, Afores o casas de bolsa.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640080" y="5532120"/>
            <a:ext cx="10908792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Shape 33"/>
          <p:cNvSpPr/>
          <p:nvPr/>
        </p:nvSpPr>
        <p:spPr>
          <a:xfrm>
            <a:off x="822960" y="5669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41" name="Image 5" descr="/tmp/work/deck/icons/shield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132" y="5761452"/>
            <a:ext cx="199705" cy="199705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316736" y="5532120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 institucionales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3383280" y="553212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 líquidos de tesorería de corto plazo.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7498080" y="5532120"/>
            <a:ext cx="3685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fuente de demanda de largo plazo: bonos y acciones.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640080" y="1783080"/>
            <a:ext cx="10908792" cy="4407408"/>
          </a:xfrm>
          <a:prstGeom prst="rect">
            <a:avLst/>
          </a:prstGeom>
          <a:ln w="12700">
            <a:solidFill>
              <a:srgbClr val="E1E7F5"/>
            </a:solidFill>
            <a:prstDash val="solid"/>
          </a:ln>
        </p:spPr>
        <p:txBody>
          <a:bodyPr/>
          <a:p/>
        </p:txBody>
      </p:sp>
      <p:sp>
        <p:nvSpPr>
          <p:cNvPr id="46" name="Text 38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propia a partir de Mántey de Anguiano (2024), Lección 2, y la organización del mercado de valores mexicano.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DOCENTE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p/>
        </p:txBody>
      </p:sp>
      <p:pic>
        <p:nvPicPr>
          <p:cNvPr id="4" name="Image 0" descr="/tmp/work/deck/icons/bookope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y referencias recomendadas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41248" y="184708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8" name="Image 1" descr="/tmp/work/deck/icons/bookope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22" y="1978762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Mántey de Anguiano, G. (2024). Lecciones de Economía Monetaria. UNAM.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55448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2: estructura y funcionamiento del mercado financiero.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199632" y="1691640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6400800" y="184708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13" name="Image 2" descr="/tmp/work/deck/icons/bookope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4" y="1978762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14032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Fabozzi, F. J. y Peterson Drake, P. (2009). Finance. Wiley.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7114032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4, "The Financial System": qué es un activo financiero y funciones del mercado.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40080" y="288036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914400" y="31729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18" name="Image 3" descr="/tmp/work/deck/icons/coin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3293669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0632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Banxico Educa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554480" y="350215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Infografías y explicaciones sobre "¿Qué es el Sistema Financiero?", ideales para la clase teórica.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199632" y="288036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6473952" y="31729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23" name="Image 4" descr="/tmp/work/deck/icons/landmar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653" y="3293669"/>
            <a:ext cx="261518" cy="26151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14032" y="30632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del Sistema Financiero Mexicano (SHCP)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7114032" y="350215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oficial de la estructura de autoridades e intermediarios regulados.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40080" y="4462272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27" name="Shape 20"/>
          <p:cNvSpPr/>
          <p:nvPr/>
        </p:nvSpPr>
        <p:spPr>
          <a:xfrm>
            <a:off x="914400" y="4754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28" name="Image 5" descr="/tmp/work/deck/icons/chartlin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01" y="4875581"/>
            <a:ext cx="261518" cy="26151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54480" y="464515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CNBV — Sectores Supervisados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1554480" y="5084064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Esquemas gráficos descargables, útiles para la sesión práctica de mapeo.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199632" y="4462272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32" name="Shape 24"/>
          <p:cNvSpPr/>
          <p:nvPr/>
        </p:nvSpPr>
        <p:spPr>
          <a:xfrm>
            <a:off x="6473952" y="47548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33" name="Image 6" descr="/tmp/work/deck/icons/balanc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4653" y="4875581"/>
            <a:ext cx="261518" cy="26151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14032" y="464515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Condusef — Educación Financiera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7114032" y="5084064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gráfico y casos reales de protección al usuario financiero.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LA UNIDAD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esencial para recordar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20624" cy="420624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pic>
        <p:nvPicPr>
          <p:cNvPr id="6" name="Image 0" descr="/tmp/work/deck/icons/checkcircl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2050085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activo financiero es un derecho sobre flujos futuros que vincula a un emisor (unidad deficitaria) con un inversionista (unidad superavitaria); es deuda directa, deuda indirecta o participación de capital.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2953512"/>
            <a:ext cx="420624" cy="420624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pic>
        <p:nvPicPr>
          <p:cNvPr id="9" name="Image 1" descr="/tmp/work/deck/icons/checkcirc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5" y="3037637"/>
            <a:ext cx="252374" cy="2523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907792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de dinero (corto plazo, liquidez) y el mercado de capitales (largo plazo, inversión productiva) canalizan el ahorro; los derivados son un tercer segmento, definido por el instrumento y no por el plazo.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22960" y="3941064"/>
            <a:ext cx="420624" cy="420624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pic>
        <p:nvPicPr>
          <p:cNvPr id="12" name="Image 2" descr="/tmp/work/deck/icons/check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4025189"/>
            <a:ext cx="252374" cy="2523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895344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Financiero Mexicano combina jerarquía —SHCP y sus supervisores sectorizados (CNBV, CNSF, Consar)— con autonomía coordinada: Banxico, vía el CESF.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822960" y="4928616"/>
            <a:ext cx="420624" cy="420624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p/>
        </p:txBody>
      </p:sp>
      <p:pic>
        <p:nvPicPr>
          <p:cNvPr id="15" name="Image 3" descr="/tmp/work/deck/icons/checkcirc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5" y="5012741"/>
            <a:ext cx="252374" cy="25237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882896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IPAB y Condusef cierran el círculo —protegen el ahorro bancario y defienden al usuario financiero— y se relacionan funcionalmente con los supervisores (p. ej., IPAB garantiza los depósitos que regula la CNBV).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822960" y="61722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profundizaremos en la contabilidad del sistema bancario y la creación de dinero.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2026-08-13T01:37:27Z</dcterms:created>
  <dcterms:modified xsi:type="dcterms:W3CDTF">2026-08-13T01:37:27Z</dcterms:modified>
</cp:coreProperties>
</file>