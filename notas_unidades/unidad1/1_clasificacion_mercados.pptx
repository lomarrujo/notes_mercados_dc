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74" r:id="rId2"/>
    <p:sldId id="275" r:id="rId3"/>
    <p:sldId id="276" r:id="rId4"/>
    <p:sldId id="277" r:id="rId5"/>
    <p:sldId id="278" r:id="rId6"/>
    <p:sldId id="279" r:id="rId7"/>
    <p:sldId id="280" r:id="rId8"/>
    <p:sldId id="281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7" d="100"/>
          <a:sy n="15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8133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5029200" cy="502920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22960" y="2423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MERCADOS DE DEUDA Y CAPITALES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926080"/>
            <a:ext cx="9692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Clasificación de Activos y Mercados Financieros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462272"/>
            <a:ext cx="941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9BA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Licenciatura en Comercio y Finanzas Internacionales · Universidad Autónoma de Zacatecas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6263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8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Mántey de Anguiano (2024), Mishkin y Eakins (2014)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DE MERCADOS · PANORAMA GENERAL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771632" y="457200"/>
            <a:ext cx="640080" cy="64008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" name="Image 0" descr="/tmp/work/deck/icons/bullseye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1652" y="6172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de la unidad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40080" y="2743200"/>
            <a:ext cx="10881360" cy="2377440"/>
          </a:xfrm>
          <a:prstGeom prst="roundRect">
            <a:avLst>
              <a:gd name="adj" fmla="val 3077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188720" y="274320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2731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el estudiante clasifique un activo financiero según quién lo emite (deuda directa, deuda indirecta o participación de capital) y según su plazo (mercado de dinero o de capitales).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DE MERCADOS · PANORAMA GENERAL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Tabla de contenido</a:t>
            </a:r>
            <a:endParaRPr lang="en-US" sz="3200" dirty="0"/>
          </a:p>
        </p:txBody>
      </p:sp>
      <p:sp>
        <p:nvSpPr>
          <p:cNvPr id="36" name="Text 30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37" name="TextBox 36"/>
          <p:cNvSpPr txBox="1"/>
          <p:nvPr/>
        </p:nvSpPr>
        <p:spPr>
          <a:xfrm>
            <a:off x="777240" y="1783080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I.   </a:t>
            </a:r>
            <a:r>
              <a:rPr sz="1500" b="1" i="0">
                <a:solidFill>
                  <a:srgbClr val="1E2761"/>
                </a:solidFill>
                <a:latin typeface="Calibri"/>
              </a:rPr>
              <a:t>Clasificación de los activos financieros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9720" y="178308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2350008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II.   </a:t>
            </a:r>
            <a:r>
              <a:rPr sz="1500" b="1" i="0">
                <a:solidFill>
                  <a:srgbClr val="1E2761"/>
                </a:solidFill>
                <a:latin typeface="Calibri"/>
              </a:rPr>
              <a:t>Mercado de dinero y mercado de capitales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89720" y="2350008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2916936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III.   </a:t>
            </a:r>
            <a:r>
              <a:rPr sz="1500" b="1" i="0">
                <a:solidFill>
                  <a:srgbClr val="1E2761"/>
                </a:solidFill>
                <a:latin typeface="Calibri"/>
              </a:rPr>
              <a:t>Agentes económicos y su acceso a los mercados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9720" y="291693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3483864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IV.   </a:t>
            </a:r>
            <a:r>
              <a:rPr sz="1500" b="1" i="0">
                <a:solidFill>
                  <a:srgbClr val="1E2761"/>
                </a:solidFill>
                <a:latin typeface="Calibri"/>
              </a:rPr>
              <a:t>Fuentes y referencias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9720" y="3483864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DE ACTIVOS Y MERCADOS · 12 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Clasificación de los activos financieros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 título que recibe la unidad superavitaria a cambio de sus recursos es el activo financiero. Adopta una de tres formas, según quién emite la obligación.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3456432" cy="3886200"/>
          </a:xfrm>
          <a:prstGeom prst="roundRect">
            <a:avLst>
              <a:gd name="adj" fmla="val 2646"/>
            </a:avLst>
          </a:prstGeom>
          <a:solidFill>
            <a:srgbClr val="FFFFFF"/>
          </a:solidFill>
          <a:ln w="15875">
            <a:solidFill>
              <a:srgbClr val="E1E7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932688" y="23317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7" name="Image 0" descr="/tmp/work/deck/icons/handholding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751" y="2467783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32688" y="3017520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Deuda directa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32688" y="3337560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EMISOR: AGENTE NO FINANCIERO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32688" y="3685032"/>
            <a:ext cx="28712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 que el deudor final coloca directamente con el inversionista, quien asume el riesgo de crédito sin intermediario.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932688" y="4663440"/>
            <a:ext cx="2871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Ejemplos: </a:t>
            </a:r>
            <a:r>
              <a:rPr lang="en-US" sz="100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bonos gubernamentales, papel comercial.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932688" y="5376672"/>
            <a:ext cx="1367028" cy="384048"/>
          </a:xfrm>
          <a:prstGeom prst="roundRect">
            <a:avLst>
              <a:gd name="adj" fmla="val 19048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932688" y="5376672"/>
            <a:ext cx="13670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</a:t>
            </a:r>
            <a:endParaRPr lang="en-US" sz="8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2436876" y="5376672"/>
            <a:ext cx="1367028" cy="384048"/>
          </a:xfrm>
          <a:prstGeom prst="roundRect">
            <a:avLst>
              <a:gd name="adj" fmla="val 19048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2436876" y="5376672"/>
            <a:ext cx="13670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8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366260" y="2057400"/>
            <a:ext cx="3456432" cy="3886200"/>
          </a:xfrm>
          <a:prstGeom prst="roundRect">
            <a:avLst>
              <a:gd name="adj" fmla="val 2646"/>
            </a:avLst>
          </a:prstGeom>
          <a:solidFill>
            <a:srgbClr val="FFFFFF"/>
          </a:solidFill>
          <a:ln w="15875">
            <a:solidFill>
              <a:srgbClr val="E1E7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4658868" y="23317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8" name="Image 1" descr="/tmp/work/deck/icons/university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4931" y="2467783"/>
            <a:ext cx="294803" cy="294803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658868" y="3017520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Deuda indirecta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4658868" y="3337560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EMISOR: INSTITUCIÓN FINANCIERA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4658868" y="3685032"/>
            <a:ext cx="28712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Obligación emitida por un intermediario, que se compromete a recomprarla al cliente.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4658868" y="4663440"/>
            <a:ext cx="2871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Ejemplos: </a:t>
            </a:r>
            <a:r>
              <a:rPr lang="en-US" sz="100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pagarés bancarios, certificados de depósito.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4658868" y="5376672"/>
            <a:ext cx="1367028" cy="384048"/>
          </a:xfrm>
          <a:prstGeom prst="roundRect">
            <a:avLst>
              <a:gd name="adj" fmla="val 19048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4658868" y="5376672"/>
            <a:ext cx="13670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</a:t>
            </a:r>
            <a:endParaRPr lang="en-US" sz="8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</a:t>
            </a:r>
            <a:endParaRPr lang="en-US" sz="850" dirty="0"/>
          </a:p>
        </p:txBody>
      </p:sp>
      <p:sp>
        <p:nvSpPr>
          <p:cNvPr id="25" name="Shape 21"/>
          <p:cNvSpPr/>
          <p:nvPr/>
        </p:nvSpPr>
        <p:spPr>
          <a:xfrm>
            <a:off x="6163056" y="5376672"/>
            <a:ext cx="1367028" cy="384048"/>
          </a:xfrm>
          <a:prstGeom prst="roundRect">
            <a:avLst>
              <a:gd name="adj" fmla="val 19048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2"/>
          <p:cNvSpPr/>
          <p:nvPr/>
        </p:nvSpPr>
        <p:spPr>
          <a:xfrm>
            <a:off x="6163056" y="5376672"/>
            <a:ext cx="13670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8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8092440" y="2057400"/>
            <a:ext cx="3456432" cy="3886200"/>
          </a:xfrm>
          <a:prstGeom prst="roundRect">
            <a:avLst>
              <a:gd name="adj" fmla="val 2646"/>
            </a:avLst>
          </a:prstGeom>
          <a:solidFill>
            <a:srgbClr val="FFFFFF"/>
          </a:solidFill>
          <a:ln w="15875">
            <a:solidFill>
              <a:srgbClr val="E1E7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4"/>
          <p:cNvSpPr/>
          <p:nvPr/>
        </p:nvSpPr>
        <p:spPr>
          <a:xfrm>
            <a:off x="8385048" y="23317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9" name="Image 2" descr="/tmp/work/deck/icons/chartline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1111" y="2467783"/>
            <a:ext cx="294803" cy="294803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8385048" y="3017520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Participación de capital</a:t>
            </a:r>
            <a:endParaRPr lang="en-US" sz="1600" dirty="0"/>
          </a:p>
        </p:txBody>
      </p:sp>
      <p:sp>
        <p:nvSpPr>
          <p:cNvPr id="31" name="Text 26"/>
          <p:cNvSpPr/>
          <p:nvPr/>
        </p:nvSpPr>
        <p:spPr>
          <a:xfrm>
            <a:off x="8385048" y="3337560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EMISOR: EMPRESA (ACCIONES)</a:t>
            </a:r>
            <a:endParaRPr lang="en-US" sz="950" dirty="0"/>
          </a:p>
        </p:txBody>
      </p:sp>
      <p:sp>
        <p:nvSpPr>
          <p:cNvPr id="32" name="Text 27"/>
          <p:cNvSpPr/>
          <p:nvPr/>
        </p:nvSpPr>
        <p:spPr>
          <a:xfrm>
            <a:off x="8385048" y="3685032"/>
            <a:ext cx="28712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 que representa una parte del capital de la empresa y da derecho a sus utilidades.</a:t>
            </a:r>
            <a:endParaRPr lang="en-US" sz="1050" dirty="0"/>
          </a:p>
        </p:txBody>
      </p:sp>
      <p:sp>
        <p:nvSpPr>
          <p:cNvPr id="33" name="Text 28"/>
          <p:cNvSpPr/>
          <p:nvPr/>
        </p:nvSpPr>
        <p:spPr>
          <a:xfrm>
            <a:off x="8385048" y="4663440"/>
            <a:ext cx="2871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Ejemplos: </a:t>
            </a:r>
            <a:r>
              <a:rPr lang="en-US" sz="100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acciones ordinarias y preferentes.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8385048" y="5376672"/>
            <a:ext cx="1367028" cy="384048"/>
          </a:xfrm>
          <a:prstGeom prst="roundRect">
            <a:avLst>
              <a:gd name="adj" fmla="val 19048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0"/>
          <p:cNvSpPr/>
          <p:nvPr/>
        </p:nvSpPr>
        <p:spPr>
          <a:xfrm>
            <a:off x="8385048" y="5376672"/>
            <a:ext cx="13670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</a:t>
            </a:r>
            <a:endParaRPr lang="en-US" sz="8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850" dirty="0"/>
          </a:p>
        </p:txBody>
      </p:sp>
      <p:sp>
        <p:nvSpPr>
          <p:cNvPr id="36" name="Shape 31"/>
          <p:cNvSpPr/>
          <p:nvPr/>
        </p:nvSpPr>
        <p:spPr>
          <a:xfrm>
            <a:off x="9889236" y="5376672"/>
            <a:ext cx="1367028" cy="384048"/>
          </a:xfrm>
          <a:prstGeom prst="roundRect">
            <a:avLst>
              <a:gd name="adj" fmla="val 19048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2"/>
          <p:cNvSpPr/>
          <p:nvPr/>
        </p:nvSpPr>
        <p:spPr>
          <a:xfrm>
            <a:off x="9889236" y="5376672"/>
            <a:ext cx="13670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8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</a:t>
            </a:r>
            <a:endParaRPr lang="en-US" sz="850" dirty="0"/>
          </a:p>
        </p:txBody>
      </p:sp>
      <p:sp>
        <p:nvSpPr>
          <p:cNvPr id="38" name="Text 33"/>
          <p:cNvSpPr/>
          <p:nvPr/>
        </p:nvSpPr>
        <p:spPr>
          <a:xfrm>
            <a:off x="640080" y="64008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Mántey de Anguiano, G. (2024). Lecciones de Economía Monetaria, Lección 2 §2, UNAM.</a:t>
            </a:r>
            <a:endParaRPr lang="en-US" sz="950" dirty="0"/>
          </a:p>
        </p:txBody>
      </p:sp>
      <p:sp>
        <p:nvSpPr>
          <p:cNvPr id="39" name="Text 34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DE ACTIVOS Y MERCADOS · 12 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Mercado de dinero y mercado de capitales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financiero se divide, por convención, según el plazo de los recursos que canaliza.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25780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5875">
            <a:solidFill>
              <a:srgbClr val="E1E7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05840" y="225856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7" name="Image 0" descr="/tmp/work/deck/icons/coins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903" y="2394631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2276856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Mercado de dinero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1691640" y="2596896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 PLAZO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024128" y="311810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234440" y="2980944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Función: </a:t>
            </a:r>
            <a:r>
              <a:rPr lang="en-US" sz="108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liquidez de corto plazo a la economía y servir de canal a la política monetaria.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1024128" y="3813048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1234440" y="3675888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Instituciones monetarias (bancos comerciales) emiten pasivos usables como medios de pago.</a:t>
            </a:r>
            <a:endParaRPr lang="en-US" sz="1080" dirty="0"/>
          </a:p>
        </p:txBody>
      </p:sp>
      <p:sp>
        <p:nvSpPr>
          <p:cNvPr id="14" name="Shape 11"/>
          <p:cNvSpPr/>
          <p:nvPr/>
        </p:nvSpPr>
        <p:spPr>
          <a:xfrm>
            <a:off x="1024128" y="4507992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1234440" y="4370832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depósitos a la vista, CETES y papel comercial a corto plazo.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6263640" y="1965960"/>
            <a:ext cx="525780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5875">
            <a:solidFill>
              <a:srgbClr val="E1E7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6629400" y="225856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8" name="Image 1" descr="/tmp/work/deck/icons/chartlin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5463" y="2394631"/>
            <a:ext cx="294803" cy="294803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315200" y="2276856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Mercado de capitales</a:t>
            </a:r>
            <a:endParaRPr lang="en-US" sz="1650" dirty="0"/>
          </a:p>
        </p:txBody>
      </p:sp>
      <p:sp>
        <p:nvSpPr>
          <p:cNvPr id="20" name="Text 16"/>
          <p:cNvSpPr/>
          <p:nvPr/>
        </p:nvSpPr>
        <p:spPr>
          <a:xfrm>
            <a:off x="7315200" y="2596896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LARGO PLAZO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647688" y="311810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18"/>
          <p:cNvSpPr/>
          <p:nvPr/>
        </p:nvSpPr>
        <p:spPr>
          <a:xfrm>
            <a:off x="6858000" y="2980944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Función: </a:t>
            </a:r>
            <a:r>
              <a:rPr lang="en-US" sz="108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financiar la inversión productiva de largo plazo y diversificar el riesgo entre ahorradores e inversionistas.</a:t>
            </a:r>
            <a:endParaRPr lang="en-US" sz="1080" dirty="0"/>
          </a:p>
        </p:txBody>
      </p:sp>
      <p:sp>
        <p:nvSpPr>
          <p:cNvPr id="23" name="Shape 19"/>
          <p:cNvSpPr/>
          <p:nvPr/>
        </p:nvSpPr>
        <p:spPr>
          <a:xfrm>
            <a:off x="6647688" y="3813048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6858000" y="3675888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Instituciones no monetarias (banca de inversión, aseguradoras, bolsa) emiten bonos y acciones.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647688" y="4507992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2"/>
          <p:cNvSpPr/>
          <p:nvPr/>
        </p:nvSpPr>
        <p:spPr>
          <a:xfrm>
            <a:off x="6858000" y="4370832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bonos hipotecarios y acciones ordinarias.</a:t>
            </a:r>
            <a:endParaRPr lang="en-US" sz="1080" dirty="0"/>
          </a:p>
        </p:txBody>
      </p:sp>
      <p:sp>
        <p:nvSpPr>
          <p:cNvPr id="34" name="Text 28"/>
          <p:cNvSpPr/>
          <p:nvPr/>
        </p:nvSpPr>
        <p:spPr>
          <a:xfrm>
            <a:off x="640080" y="64008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Mántey de Anguiano, G. (2024), Lección 2 §4, UNAM; Mishkin, F. S. y Eakins, S. G. (2014), Cap. 11, Pearson.</a:t>
            </a:r>
            <a:endParaRPr lang="en-US" sz="950" dirty="0"/>
          </a:p>
        </p:txBody>
      </p:sp>
      <p:sp>
        <p:nvSpPr>
          <p:cNvPr id="35" name="Text 29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6" name="TextBox 35"/>
          <p:cNvSpPr txBox="1"/>
          <p:nvPr/>
        </p:nvSpPr>
        <p:spPr>
          <a:xfrm>
            <a:off x="640080" y="5303520"/>
            <a:ext cx="109087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 b="1" i="0">
                <a:solidFill>
                  <a:srgbClr val="1E2761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5B6482"/>
                </a:solidFill>
                <a:latin typeface="Calibri"/>
              </a:rPr>
              <a:t>En México, los bancos múltiples integran ambas funciones desde principios de la década de 1970.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 b="1" i="0">
                <a:solidFill>
                  <a:srgbClr val="1E2761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5B6482"/>
                </a:solidFill>
                <a:latin typeface="Calibri"/>
              </a:rPr>
              <a:t>Los mercados de derivados (futuros, opciones, swaps) son un tercer segmento, definido por el instrumento y no por el plazo.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 b="1" i="0">
                <a:solidFill>
                  <a:srgbClr val="1E2761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5B6482"/>
                </a:solidFill>
                <a:latin typeface="Calibri"/>
              </a:rPr>
              <a:t>Es, sobre todo, un mercado mayorista — CETES es la excepción accesible al público, vía Cetesdirecto.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 b="1" i="0">
                <a:solidFill>
                  <a:srgbClr val="1E2761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5B6482"/>
                </a:solidFill>
                <a:latin typeface="Calibri"/>
              </a:rPr>
              <a:t>Banxico lo usa como canal de política monetaria; ahí se mueve la TIIE, la tasa de referencia de corto plazo.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DE ACTIVOS Y MERCADOS · 12 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Agentes económicos y su acceso a los mercados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agente participa en el mercado de dinero y en el de capitales de forma distinta.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08792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ECONÓMICO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383280" y="1783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DE DINERO (corto plazo)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98080" y="1783080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DE CAPITALES (largo plazo)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240280"/>
            <a:ext cx="10908792" cy="658368"/>
          </a:xfrm>
          <a:prstGeom prst="rect">
            <a:avLst/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822960" y="237744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0" descr="/tmp/work/deck/icons/landmark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132" y="2469612"/>
            <a:ext cx="199705" cy="199705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316736" y="2240280"/>
            <a:ext cx="1929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383280" y="2240280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CETES y otros instrumentos de deuda de corto plazo.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498080" y="2240280"/>
            <a:ext cx="3685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Bonos M y Udibonos: deuda de largo plazo.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40080" y="2898648"/>
            <a:ext cx="10908792" cy="65836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3"/>
          <p:cNvSpPr/>
          <p:nvPr/>
        </p:nvSpPr>
        <p:spPr>
          <a:xfrm>
            <a:off x="822960" y="303580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1" descr="/tmp/work/deck/icons/moneybill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132" y="3127980"/>
            <a:ext cx="199705" cy="199705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316736" y="2898648"/>
            <a:ext cx="1929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empresas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383280" y="2898648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Papel comercial para financiar capital de trabajo.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7498080" y="2898648"/>
            <a:ext cx="3685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Emisión de obligaciones y colocación de acciones en bolsa.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40080" y="3557016"/>
            <a:ext cx="10908792" cy="658368"/>
          </a:xfrm>
          <a:prstGeom prst="rect">
            <a:avLst/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18"/>
          <p:cNvSpPr/>
          <p:nvPr/>
        </p:nvSpPr>
        <p:spPr>
          <a:xfrm>
            <a:off x="822960" y="369417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3" name="Image 2" descr="/tmp/work/deck/icons/handholding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132" y="3786348"/>
            <a:ext cx="199705" cy="199705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316736" y="3557016"/>
            <a:ext cx="1929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PyMEs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3383280" y="3557016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bancario de corto plazo, factoraje y crédito de proveedores.</a:t>
            </a: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7498080" y="3557016"/>
            <a:ext cx="3685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muy limitado; recurren a banca de desarrollo (NAFIN) en vez de la bolsa pública.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40080" y="4215384"/>
            <a:ext cx="10908792" cy="65836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Shape 23"/>
          <p:cNvSpPr/>
          <p:nvPr/>
        </p:nvSpPr>
        <p:spPr>
          <a:xfrm>
            <a:off x="822960" y="435254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9" name="Image 3" descr="/tmp/work/deck/icons/university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5132" y="4444716"/>
            <a:ext cx="199705" cy="199705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316736" y="4215384"/>
            <a:ext cx="1929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Bancos e intermediarios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3383280" y="4215384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depósitos; actúan como creadores de mercado.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7498080" y="4215384"/>
            <a:ext cx="3685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Colocación y garantía de emisiones (banca de inversión).</a:t>
            </a:r>
            <a:endParaRPr lang="en-US" sz="950" dirty="0"/>
          </a:p>
        </p:txBody>
      </p:sp>
      <p:sp>
        <p:nvSpPr>
          <p:cNvPr id="33" name="Shape 27"/>
          <p:cNvSpPr/>
          <p:nvPr/>
        </p:nvSpPr>
        <p:spPr>
          <a:xfrm>
            <a:off x="640080" y="4873752"/>
            <a:ext cx="10908792" cy="658368"/>
          </a:xfrm>
          <a:prstGeom prst="rect">
            <a:avLst/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Shape 28"/>
          <p:cNvSpPr/>
          <p:nvPr/>
        </p:nvSpPr>
        <p:spPr>
          <a:xfrm>
            <a:off x="822960" y="501091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5" name="Image 4" descr="/tmp/work/deck/icons/piggy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5132" y="5103084"/>
            <a:ext cx="199705" cy="199705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1316736" y="4873752"/>
            <a:ext cx="1929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físicas</a:t>
            </a:r>
            <a:endParaRPr lang="en-US" sz="1050" dirty="0"/>
          </a:p>
        </p:txBody>
      </p:sp>
      <p:sp>
        <p:nvSpPr>
          <p:cNvPr id="37" name="Text 30"/>
          <p:cNvSpPr/>
          <p:nvPr/>
        </p:nvSpPr>
        <p:spPr>
          <a:xfrm>
            <a:off x="3383280" y="4873752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Cuentas de ahorro y depósitos a la vista o a plazo.</a:t>
            </a:r>
            <a:endParaRPr lang="en-US" sz="950" dirty="0"/>
          </a:p>
        </p:txBody>
      </p:sp>
      <p:sp>
        <p:nvSpPr>
          <p:cNvPr id="38" name="Text 31"/>
          <p:cNvSpPr/>
          <p:nvPr/>
        </p:nvSpPr>
        <p:spPr>
          <a:xfrm>
            <a:off x="7498080" y="4873752"/>
            <a:ext cx="3685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indirecto vía fondos de inversión, Afores o casas de bolsa.</a:t>
            </a:r>
            <a:endParaRPr lang="en-US" sz="950" dirty="0"/>
          </a:p>
        </p:txBody>
      </p:sp>
      <p:sp>
        <p:nvSpPr>
          <p:cNvPr id="39" name="Shape 32"/>
          <p:cNvSpPr/>
          <p:nvPr/>
        </p:nvSpPr>
        <p:spPr>
          <a:xfrm>
            <a:off x="640080" y="5532120"/>
            <a:ext cx="10908792" cy="65836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Shape 33"/>
          <p:cNvSpPr/>
          <p:nvPr/>
        </p:nvSpPr>
        <p:spPr>
          <a:xfrm>
            <a:off x="822960" y="56692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1" name="Image 5" descr="/tmp/work/deck/icons/shield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5132" y="5761452"/>
            <a:ext cx="199705" cy="199705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1316736" y="5532120"/>
            <a:ext cx="1929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 institucionales</a:t>
            </a:r>
            <a:endParaRPr lang="en-US" sz="1050" dirty="0"/>
          </a:p>
        </p:txBody>
      </p:sp>
      <p:sp>
        <p:nvSpPr>
          <p:cNvPr id="43" name="Text 35"/>
          <p:cNvSpPr/>
          <p:nvPr/>
        </p:nvSpPr>
        <p:spPr>
          <a:xfrm>
            <a:off x="3383280" y="5532120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Instrumentos líquidos de tesorería de corto plazo.</a:t>
            </a:r>
            <a:endParaRPr lang="en-US" sz="950" dirty="0"/>
          </a:p>
        </p:txBody>
      </p:sp>
      <p:sp>
        <p:nvSpPr>
          <p:cNvPr id="44" name="Text 36"/>
          <p:cNvSpPr/>
          <p:nvPr/>
        </p:nvSpPr>
        <p:spPr>
          <a:xfrm>
            <a:off x="7498080" y="5532120"/>
            <a:ext cx="3685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fuente de demanda de largo plazo: bonos y acciones.</a:t>
            </a:r>
            <a:endParaRPr lang="en-US" sz="950" dirty="0"/>
          </a:p>
        </p:txBody>
      </p:sp>
      <p:sp>
        <p:nvSpPr>
          <p:cNvPr id="45" name="Shape 37"/>
          <p:cNvSpPr/>
          <p:nvPr/>
        </p:nvSpPr>
        <p:spPr>
          <a:xfrm>
            <a:off x="640080" y="1783080"/>
            <a:ext cx="10908792" cy="4407408"/>
          </a:xfrm>
          <a:prstGeom prst="rect">
            <a:avLst/>
          </a:prstGeom>
          <a:ln w="12700">
            <a:solidFill>
              <a:srgbClr val="E1E7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38"/>
          <p:cNvSpPr/>
          <p:nvPr/>
        </p:nvSpPr>
        <p:spPr>
          <a:xfrm>
            <a:off x="640080" y="64008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propia a partir de Mántey de Anguiano (2024), Lección 2, y la organización del mercado de valores mexicano.</a:t>
            </a:r>
            <a:endParaRPr lang="en-US" sz="950" dirty="0"/>
          </a:p>
        </p:txBody>
      </p:sp>
      <p:sp>
        <p:nvSpPr>
          <p:cNvPr id="47" name="Text 39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 DOCENTE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771632" y="457200"/>
            <a:ext cx="640080" cy="64008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" name="Image 0" descr="/tmp/work/deck/icons/bookopen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1652" y="6172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Fuentes y referencias recomendadas</a:t>
            </a:r>
            <a:endParaRPr lang="en-US" sz="3200" dirty="0"/>
          </a:p>
        </p:txBody>
      </p:sp>
      <p:sp>
        <p:nvSpPr>
          <p:cNvPr id="36" name="Text 27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7" name="TextBox 36"/>
          <p:cNvSpPr txBox="1"/>
          <p:nvPr/>
        </p:nvSpPr>
        <p:spPr>
          <a:xfrm>
            <a:off x="640080" y="1691640"/>
            <a:ext cx="9749188" cy="5129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 dirty="0" err="1">
                <a:solidFill>
                  <a:srgbClr val="1E2761"/>
                </a:solidFill>
                <a:latin typeface="Calibri"/>
              </a:rPr>
              <a:t>Mántey</a:t>
            </a:r>
            <a:r>
              <a:rPr sz="1300" b="1" i="0" dirty="0">
                <a:solidFill>
                  <a:srgbClr val="1E2761"/>
                </a:solidFill>
                <a:latin typeface="Calibri"/>
              </a:rPr>
              <a:t> de Anguiano, G. (2024). </a:t>
            </a:r>
            <a:r>
              <a:rPr sz="1300" b="1" i="0" dirty="0" err="1">
                <a:solidFill>
                  <a:srgbClr val="1E2761"/>
                </a:solidFill>
                <a:latin typeface="Calibri"/>
              </a:rPr>
              <a:t>Lecciones</a:t>
            </a:r>
            <a:r>
              <a:rPr sz="1300" b="1" i="0" dirty="0">
                <a:solidFill>
                  <a:srgbClr val="1E2761"/>
                </a:solidFill>
                <a:latin typeface="Calibri"/>
              </a:rPr>
              <a:t> de Economía </a:t>
            </a:r>
            <a:r>
              <a:rPr sz="1300" b="1" i="0" dirty="0" err="1">
                <a:solidFill>
                  <a:srgbClr val="1E2761"/>
                </a:solidFill>
                <a:latin typeface="Calibri"/>
              </a:rPr>
              <a:t>Monetaria</a:t>
            </a:r>
            <a:r>
              <a:rPr sz="1300" b="1" i="0" dirty="0">
                <a:solidFill>
                  <a:srgbClr val="1E2761"/>
                </a:solidFill>
                <a:latin typeface="Calibri"/>
              </a:rPr>
              <a:t>. UNAM.</a:t>
            </a:r>
          </a:p>
          <a:p>
            <a:pPr>
              <a:spcAft>
                <a:spcPts val="400"/>
              </a:spcAft>
            </a:pPr>
            <a:r>
              <a:rPr sz="1100" b="0" i="0" dirty="0" err="1">
                <a:solidFill>
                  <a:srgbClr val="5B6482"/>
                </a:solidFill>
                <a:latin typeface="Calibri"/>
              </a:rPr>
              <a:t>Lección</a:t>
            </a:r>
            <a:r>
              <a:rPr sz="1100" b="0" i="0" dirty="0">
                <a:solidFill>
                  <a:srgbClr val="5B6482"/>
                </a:solidFill>
                <a:latin typeface="Calibri"/>
              </a:rPr>
              <a:t> 2: </a:t>
            </a:r>
            <a:r>
              <a:rPr sz="1100" b="0" i="0" dirty="0" err="1">
                <a:solidFill>
                  <a:srgbClr val="5B6482"/>
                </a:solidFill>
                <a:latin typeface="Calibri"/>
              </a:rPr>
              <a:t>clasificación</a:t>
            </a:r>
            <a:r>
              <a:rPr sz="1100" b="0" i="0" dirty="0">
                <a:solidFill>
                  <a:srgbClr val="5B6482"/>
                </a:solidFill>
                <a:latin typeface="Calibri"/>
              </a:rPr>
              <a:t> de </a:t>
            </a:r>
            <a:r>
              <a:rPr sz="1100" b="0" i="0" dirty="0" err="1">
                <a:solidFill>
                  <a:srgbClr val="5B6482"/>
                </a:solidFill>
                <a:latin typeface="Calibri"/>
              </a:rPr>
              <a:t>activos</a:t>
            </a:r>
            <a:r>
              <a:rPr sz="1100" b="0" i="0" dirty="0">
                <a:solidFill>
                  <a:srgbClr val="5B6482"/>
                </a:solidFill>
                <a:latin typeface="Calibri"/>
              </a:rPr>
              <a:t> y mercado de dinero/</a:t>
            </a:r>
            <a:r>
              <a:rPr sz="1100" b="0" i="0" dirty="0" err="1">
                <a:solidFill>
                  <a:srgbClr val="5B6482"/>
                </a:solidFill>
                <a:latin typeface="Calibri"/>
              </a:rPr>
              <a:t>capitales</a:t>
            </a:r>
            <a:r>
              <a:rPr sz="1100" b="0" i="0" dirty="0">
                <a:solidFill>
                  <a:srgbClr val="5B6482"/>
                </a:solidFill>
                <a:latin typeface="Calibri"/>
              </a:rPr>
              <a:t>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2443614"/>
            <a:ext cx="9642508" cy="5129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 dirty="0">
                <a:solidFill>
                  <a:srgbClr val="1E2761"/>
                </a:solidFill>
                <a:latin typeface="Calibri"/>
              </a:rPr>
              <a:t>Mishkin, F. S. y Eakins, S. G. (2014). Financial Markets and Institutions (8ª ed.). Pearson.</a:t>
            </a:r>
          </a:p>
          <a:p>
            <a:pPr>
              <a:spcAft>
                <a:spcPts val="400"/>
              </a:spcAft>
            </a:pPr>
            <a:r>
              <a:rPr sz="1100" b="0" i="0" dirty="0">
                <a:solidFill>
                  <a:srgbClr val="5B6482"/>
                </a:solidFill>
                <a:latin typeface="Calibri"/>
              </a:rPr>
              <a:t>Cap. 11, "The Money Markets".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389120"/>
            <a:ext cx="5029200" cy="502920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640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· CLASIFICACIÓN DE ACTIVOS Y MERCADOS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esencial para recordar</a:t>
            </a:r>
            <a:endParaRPr lang="en-US" sz="3400" dirty="0"/>
          </a:p>
        </p:txBody>
      </p:sp>
      <p:sp>
        <p:nvSpPr>
          <p:cNvPr id="18" name="TextBox 17"/>
          <p:cNvSpPr txBox="1"/>
          <p:nvPr/>
        </p:nvSpPr>
        <p:spPr>
          <a:xfrm>
            <a:off x="777240" y="98755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350" b="0" i="0">
                <a:solidFill>
                  <a:srgbClr val="1E2761"/>
                </a:solidFill>
                <a:latin typeface="Calibri"/>
              </a:rPr>
              <a:t>El activo financiero es deuda directa, deuda indirecta o participación de capital, según quién emite la obligación — no según su plazo.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194767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350" b="0" i="0">
                <a:solidFill>
                  <a:srgbClr val="1E2761"/>
                </a:solidFill>
                <a:latin typeface="Calibri"/>
              </a:rPr>
              <a:t>El mercado de dinero (corto plazo, liquidez) y el mercado de capitales (largo plazo, inversión productiva) canalizan el ahorro según el plazo; los derivados son un tercer segmento.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290779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350" b="0" i="0">
                <a:solidFill>
                  <a:srgbClr val="1E2761"/>
                </a:solidFill>
                <a:latin typeface="Calibri"/>
              </a:rPr>
              <a:t>Cada agente económico (gobierno, empresas, PyMEs, bancos, personas físicas, institucionales) accede de forma distinta a ambos mercados.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86791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350" b="0" i="0">
                <a:solidFill>
                  <a:srgbClr val="1E2761"/>
                </a:solidFill>
                <a:latin typeface="Calibri"/>
              </a:rPr>
              <a:t>Plazo y tipo de emisor son clasificaciones independientes: un instrumento de largo plazo puede seguir siendo deuda indirecta si lo emite un intermediario.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995</Words>
  <Application>Microsoft Office PowerPoint</Application>
  <PresentationFormat>Widescreen</PresentationFormat>
  <Paragraphs>114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Luis Lozano</cp:lastModifiedBy>
  <cp:revision>3</cp:revision>
  <dcterms:created xsi:type="dcterms:W3CDTF">2026-08-13T01:37:27Z</dcterms:created>
  <dcterms:modified xsi:type="dcterms:W3CDTF">2026-08-21T01:02:14Z</dcterms:modified>
</cp:coreProperties>
</file>