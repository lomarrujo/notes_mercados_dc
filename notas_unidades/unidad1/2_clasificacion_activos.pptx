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4" r:id="rId2"/>
    <p:sldId id="275" r:id="rId3"/>
    <p:sldId id="276" r:id="rId4"/>
    <p:sldId id="277" r:id="rId5"/>
    <p:sldId id="280" r:id="rId8"/>
    <p:sldId id="28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813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2423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DE DEUDA Y CAPITALES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926080"/>
            <a:ext cx="9692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de Activos Financieros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462272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BA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en Comercio y Finanzas Internacionales · Universidad Autónoma de Zacatecas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Mántey de Anguiano (2024)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ACTIVOS · PANORAMA GENERAL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/tmp/work/deck/icons/bullsey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unidad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1088136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188720" y="274320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73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el estudiante clasifique un activo financiero según quién lo emite: deuda directa, deuda indirecta o participación de capital.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ACTIVOS · PANORAMA GENERAL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de contenido</a:t>
            </a:r>
            <a:endParaRPr lang="en-US" sz="3200" dirty="0"/>
          </a:p>
        </p:txBody>
      </p:sp>
      <p:sp>
        <p:nvSpPr>
          <p:cNvPr id="36" name="Text 3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777240" y="1783080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9A227"/>
                </a:solidFill>
                <a:latin typeface="Calibri"/>
              </a:rPr>
              <a:t>I.   </a:t>
            </a:r>
            <a:r>
              <a:rPr sz="1500" b="1" i="0">
                <a:solidFill>
                  <a:srgbClr val="1E2761"/>
                </a:solidFill>
                <a:latin typeface="Calibri"/>
              </a:rPr>
              <a:t>Clasificación de los activos financieros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17830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6ADC7"/>
                </a:solidFill>
                <a:latin typeface="Calibri"/>
              </a:rPr>
              <a:t>PÁG. 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2916936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C9A227"/>
                </a:solidFill>
                <a:latin typeface="Calibri"/>
              </a:rPr>
              <a:t>II.   Fuentes y referencias</a:t>
            </a:r>
            <a:r>
              <a:rPr sz="1500" b="1" i="0">
                <a:solidFill>
                  <a:srgbClr val="1E2761"/>
                </a:solidFill>
                <a:latin typeface="Calibr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291693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6ADC7"/>
                </a:solidFill>
                <a:latin typeface="Calibri"/>
              </a:rPr>
              <a:t>PÁG.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ACTIVOS · 12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de los activos financieros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título que recibe la unidad superavitaria a cambio de sus recursos es el activo financiero. Adopta una de tres formas, según quién emite la obligación.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56432" cy="388620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32688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/tmp/work/deck/icons/handholdin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51" y="246778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0175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Deuda directa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333756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EMISOR: AGENTE NO FINANCIERO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32688" y="3685032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que el deudor final coloca directamente con el inversionista, quien asume el riesgo de crédito sin intermediario.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32688" y="466344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r>
              <a:rPr lang="en-US" sz="10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bonos gubernamentales, papel comercial.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32688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932688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436876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2436876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366260" y="2057400"/>
            <a:ext cx="3456432" cy="388620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4658868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1" descr="/tmp/work/deck/icons/university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931" y="2467783"/>
            <a:ext cx="294803" cy="29480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58868" y="30175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Deuda indirecta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658868" y="333756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EMISOR: INSTITUCIÓN FINANCIERA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658868" y="3685032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emitida por un intermediario, que se compromete a recomprarla al cliente.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658868" y="466344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r>
              <a:rPr lang="en-US" sz="10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pagarés bancarios, certificados de depósito.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658868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0"/>
          <p:cNvSpPr/>
          <p:nvPr/>
        </p:nvSpPr>
        <p:spPr>
          <a:xfrm>
            <a:off x="4658868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6163056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2"/>
          <p:cNvSpPr/>
          <p:nvPr/>
        </p:nvSpPr>
        <p:spPr>
          <a:xfrm>
            <a:off x="6163056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8092440" y="2057400"/>
            <a:ext cx="3456432" cy="3886200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4"/>
          <p:cNvSpPr/>
          <p:nvPr/>
        </p:nvSpPr>
        <p:spPr>
          <a:xfrm>
            <a:off x="8385048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2" descr="/tmp/work/deck/icons/chartlin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1111" y="2467783"/>
            <a:ext cx="294803" cy="294803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385048" y="30175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Participación de capital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8385048" y="333756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EMISOR: EMPRESA (ACCIONES)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8385048" y="3685032"/>
            <a:ext cx="2871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73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que representa una parte del capital de la empresa y da derecho a sus utilidades.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8385048" y="466344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</a:t>
            </a:r>
            <a:r>
              <a:rPr lang="en-US" sz="100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ordinarias y preferentes.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8385048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0"/>
          <p:cNvSpPr/>
          <p:nvPr/>
        </p:nvSpPr>
        <p:spPr>
          <a:xfrm>
            <a:off x="8385048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9889236" y="5376672"/>
            <a:ext cx="1367028" cy="384048"/>
          </a:xfrm>
          <a:prstGeom prst="roundRect">
            <a:avLst>
              <a:gd name="adj" fmla="val 19048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2"/>
          <p:cNvSpPr/>
          <p:nvPr/>
        </p:nvSpPr>
        <p:spPr>
          <a:xfrm>
            <a:off x="9889236" y="5376672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640080" y="64008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Mántey de Anguiano, G. (2024). Lecciones de Economía Monetaria, Lección 2 §2, UNAM.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DOCENTE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771632" y="457200"/>
            <a:ext cx="640080" cy="640080"/>
          </a:xfrm>
          <a:prstGeom prst="ellipse">
            <a:avLst/>
          </a:prstGeom>
          <a:solidFill>
            <a:srgbClr val="EEF3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/tmp/work/deck/icons/bookope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652" y="6172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y referencias recomendadas</a:t>
            </a:r>
            <a:endParaRPr lang="en-US" sz="3200" dirty="0"/>
          </a:p>
        </p:txBody>
      </p:sp>
      <p:sp>
        <p:nvSpPr>
          <p:cNvPr id="36" name="Text 2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640080" y="1691640"/>
            <a:ext cx="9749188" cy="512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 dirty="0" err="1">
                <a:solidFill>
                  <a:srgbClr val="1E2761"/>
                </a:solidFill>
                <a:latin typeface="Calibri"/>
              </a:rPr>
              <a:t>Mántey</a:t>
            </a:r>
            <a:r>
              <a:rPr sz="1300" b="1" i="0" dirty="0">
                <a:solidFill>
                  <a:srgbClr val="1E2761"/>
                </a:solidFill>
                <a:latin typeface="Calibri"/>
              </a:rPr>
              <a:t> de Anguiano, G. (2024). </a:t>
            </a:r>
            <a:r>
              <a:rPr sz="1300" b="1" i="0" dirty="0" err="1">
                <a:solidFill>
                  <a:srgbClr val="1E2761"/>
                </a:solidFill>
                <a:latin typeface="Calibri"/>
              </a:rPr>
              <a:t>Lecciones</a:t>
            </a:r>
            <a:r>
              <a:rPr sz="1300" b="1" i="0" dirty="0">
                <a:solidFill>
                  <a:srgbClr val="1E2761"/>
                </a:solidFill>
                <a:latin typeface="Calibri"/>
              </a:rPr>
              <a:t> de Economía </a:t>
            </a:r>
            <a:r>
              <a:rPr sz="1300" b="1" i="0" dirty="0" err="1">
                <a:solidFill>
                  <a:srgbClr val="1E2761"/>
                </a:solidFill>
                <a:latin typeface="Calibri"/>
              </a:rPr>
              <a:t>Monetaria</a:t>
            </a:r>
            <a:r>
              <a:rPr sz="1300" b="1" i="0" dirty="0">
                <a:solidFill>
                  <a:srgbClr val="1E2761"/>
                </a:solidFill>
                <a:latin typeface="Calibri"/>
              </a:rPr>
              <a:t>. UNAM.</a:t>
            </a:r>
          </a:p>
          <a:p>
            <a:pPr>
              <a:spcAft>
                <a:spcPts val="400"/>
              </a:spcAft>
            </a:pPr>
            <a:r>
              <a:rPr sz="1100" b="0" i="0" dirty="0" err="1">
                <a:solidFill>
                  <a:srgbClr val="5B6482"/>
                </a:solidFill>
                <a:latin typeface="Calibri"/>
              </a:rPr>
              <a:t>Lección 2: clasificación de activos financieros según el emisor.</a:t>
            </a:r>
            <a:r>
              <a:rPr sz="1100" b="0" i="0" dirty="0">
                <a:solidFill>
                  <a:srgbClr val="5B6482"/>
                </a:solidFill>
                <a:latin typeface="Calibri"/>
              </a:rPr>
              <a:t/>
            </a:r>
            <a:r>
              <a:rPr sz="1100" b="0" i="0" dirty="0" err="1">
                <a:solidFill>
                  <a:srgbClr val="5B6482"/>
                </a:solidFill>
                <a:latin typeface="Calibri"/>
              </a:rPr>
              <a:t/>
            </a:r>
            <a:r>
              <a:rPr sz="1100" b="0" i="0" dirty="0">
                <a:solidFill>
                  <a:srgbClr val="5B6482"/>
                </a:solidFill>
                <a:latin typeface="Calibri"/>
              </a:rPr>
              <a:t/>
            </a:r>
            <a:r>
              <a:rPr sz="1100" b="0" i="0" dirty="0" err="1">
                <a:solidFill>
                  <a:srgbClr val="5B6482"/>
                </a:solidFill>
                <a:latin typeface="Calibri"/>
              </a:rPr>
              <a:t/>
            </a:r>
            <a:r>
              <a:rPr sz="1100" b="0" i="0" dirty="0">
                <a:solidFill>
                  <a:srgbClr val="5B6482"/>
                </a:solidFill>
                <a:latin typeface="Calibri"/>
              </a:rPr>
              <a:t/>
            </a:r>
            <a:r>
              <a:rPr sz="1100" b="0" i="0" dirty="0" err="1">
                <a:solidFill>
                  <a:srgbClr val="5B6482"/>
                </a:solidFill>
                <a:latin typeface="Calibri"/>
              </a:rPr>
              <a:t/>
            </a:r>
            <a:r>
              <a:rPr sz="1100" b="0" i="0" dirty="0">
                <a:solidFill>
                  <a:srgbClr val="5B6482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CLASIFICACIÓN DE ACTIVOS FINANCIEROS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esencial para recordar</a:t>
            </a:r>
            <a:endParaRPr lang="en-US" sz="3400" dirty="0"/>
          </a:p>
        </p:txBody>
      </p:sp>
      <p:sp>
        <p:nvSpPr>
          <p:cNvPr id="18" name="TextBox 17"/>
          <p:cNvSpPr txBox="1"/>
          <p:nvPr/>
        </p:nvSpPr>
        <p:spPr>
          <a:xfrm>
            <a:off x="777240" y="98755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El activo financiero es deuda directa, deuda indirecta o participación de capital, según quién emite la obligación.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94767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Lo que separa deuda directa de indirecta no es solo quién firma formalmente, sino si ese emisor es el deudor final o un intermediario que absorbe el riesgo de crédito en su lugar.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90779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El direct lending (fondos que prestan directo a una empresa) sigue siendo deuda directa: el fondo es vehículo del inversionista, no un intermediario que absorbe el riesgo como lo haría un banco.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995</Words>
  <Application>Microsoft Office PowerPoint</Application>
  <PresentationFormat>Widescreen</PresentationFormat>
  <Paragraphs>114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Luis Lozano</cp:lastModifiedBy>
  <cp:revision>3</cp:revision>
  <dcterms:created xsi:type="dcterms:W3CDTF">2026-08-13T01:37:27Z</dcterms:created>
  <dcterms:modified xsi:type="dcterms:W3CDTF">2026-08-21T01:02:14Z</dcterms:modified>
</cp:coreProperties>
</file>