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5" Type="http://schemas.openxmlformats.org/officeDocument/2006/relationships/slide" Target="slides/slide1.xml"/><Relationship Id="rId26" Type="http://schemas.openxmlformats.org/officeDocument/2006/relationships/slide" Target="slides/slide2.xml"/><Relationship Id="rId27" Type="http://schemas.openxmlformats.org/officeDocument/2006/relationships/slide" Target="slides/slide3.xml"/><Relationship Id="rId28" Type="http://schemas.openxmlformats.org/officeDocument/2006/relationships/slide" Target="slides/slide4.xml"/><Relationship Id="rId29" Type="http://schemas.openxmlformats.org/officeDocument/2006/relationships/slide" Target="slides/slide5.xml"/><Relationship Id="rId30" Type="http://schemas.openxmlformats.org/officeDocument/2006/relationships/slide" Target="slides/slide6.xml"/><Relationship Id="rId31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image" Target="../media/image-11-4.png"/><Relationship Id="rId6" Type="http://schemas.openxmlformats.org/officeDocument/2006/relationships/image" Target="../media/image-11-5.png"/><Relationship Id="rId7" Type="http://schemas.openxmlformats.org/officeDocument/2006/relationships/image" Target="../media/image-11-6.png"/><Relationship Id="rId8" Type="http://schemas.openxmlformats.org/officeDocument/2006/relationships/image" Target="../media/image-11-7.png"/><Relationship Id="rId9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2-1.png"/><Relationship Id="rId3" Type="http://schemas.openxmlformats.org/officeDocument/2006/relationships/image" Target="../media/image-12-2.png"/><Relationship Id="rId4" Type="http://schemas.openxmlformats.org/officeDocument/2006/relationships/image" Target="../media/image-12-3.png"/><Relationship Id="rId5" Type="http://schemas.openxmlformats.org/officeDocument/2006/relationships/image" Target="../media/image-12-4.png"/><Relationship Id="rId6" Type="http://schemas.openxmlformats.org/officeDocument/2006/relationships/image" Target="../media/image-12-5.png"/><Relationship Id="rId7" Type="http://schemas.openxmlformats.org/officeDocument/2006/relationships/image" Target="../media/image-12-6.png"/><Relationship Id="rId8" Type="http://schemas.openxmlformats.org/officeDocument/2006/relationships/image" Target="../media/image-12-7.png"/><Relationship Id="rId9" Type="http://schemas.openxmlformats.org/officeDocument/2006/relationships/notesSlide" Target="../notesSlides/notesSlide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6-1.png"/><Relationship Id="rId3" Type="http://schemas.openxmlformats.org/officeDocument/2006/relationships/image" Target="../media/image-16-4.png"/><Relationship Id="rId4" Type="http://schemas.openxmlformats.org/officeDocument/2006/relationships/image" Target="../media/image-16-5.png"/><Relationship Id="rId5" Type="http://schemas.openxmlformats.org/officeDocument/2006/relationships/image" Target="../media/image-16-6.png"/><Relationship Id="rId6" Type="http://schemas.openxmlformats.org/officeDocument/2006/relationships/image" Target="../media/image-16-7.png"/><Relationship Id="rId7" Type="http://schemas.openxmlformats.org/officeDocument/2006/relationships/notesSlide" Target="../notesSlides/notesSlide1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7-1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692640" y="-1463040"/>
            <a:ext cx="5029200" cy="50292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2423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 DE DEUDA Y CAPITALES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926080"/>
            <a:ext cx="9692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4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Estructura del Sistema Financiero Mexicano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462272"/>
            <a:ext cx="941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BA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Licenciatura en Comercio y Finanzas Internacionales · Universidad Autónoma de Zacatecas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6263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8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Lecciones de Economía Monetaria — G. Mántey de Anguiano (UNAM, 2024)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SFM · PANORAMA GENERAL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p/>
        </p:txBody>
      </p:sp>
      <p:pic>
        <p:nvPicPr>
          <p:cNvPr id="4" name="Image 0" descr="/tmp/work/deck/icons/bullseye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unidad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40080" y="2743200"/>
            <a:ext cx="10881360" cy="2377440"/>
          </a:xfrm>
          <a:prstGeom prst="roundRect">
            <a:avLst>
              <a:gd name="adj" fmla="val 3077"/>
            </a:avLst>
          </a:prstGeom>
          <a:solidFill>
            <a:srgbClr val="EEF3FC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188720" y="274320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273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el estudiante ubique qué autoridad del Sistema Financiero Mexicano regula, supervisa o protege (SHCP, Banxico, CNBV, CNSF, Consar, IPAB, CONDUSEF).</a:t>
            </a:r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/>
            </a:r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273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/>
            </a:r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/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SFM · PANORAMA GENERAL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Tabla de contenido</a:t>
            </a:r>
            <a:endParaRPr lang="en-US" sz="3200" dirty="0"/>
          </a:p>
        </p:txBody>
      </p:sp>
      <p:sp>
        <p:nvSpPr>
          <p:cNvPr id="36" name="Text 30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7" name="TextBox 36"/>
          <p:cNvSpPr txBox="1"/>
          <p:nvPr/>
        </p:nvSpPr>
        <p:spPr>
          <a:xfrm>
            <a:off x="777240" y="1783080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Estructura del Sistema Financiero Mexicano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178308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2350008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Organigrama del Sistema Financiero Mexicano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235000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2916936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III.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Fuentes y referencias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291693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SFM · 12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Estructura del Sistema Financiero Mexicano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general de autoridades: tres niveles con funciones complementarias.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08792" cy="1417320"/>
          </a:xfrm>
          <a:prstGeom prst="roundRect">
            <a:avLst>
              <a:gd name="adj" fmla="val 5806"/>
            </a:avLst>
          </a:prstGeom>
          <a:solidFill>
            <a:srgbClr val="141B4D"/>
          </a:solidFill>
          <a:ln w="12700">
            <a:solidFill>
              <a:srgbClr val="33408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206654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Reguladores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432304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Diseñan la política y las reglas del sistema financiero.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34840" y="2176272"/>
            <a:ext cx="3456432" cy="905256"/>
          </a:xfrm>
          <a:prstGeom prst="roundRect">
            <a:avLst>
              <a:gd name="adj" fmla="val 8081"/>
            </a:avLst>
          </a:prstGeom>
          <a:solidFill>
            <a:srgbClr val="1E2761"/>
          </a:solidFill>
          <a:ln w="12700">
            <a:solidFill>
              <a:srgbClr val="3B49A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34456" y="230428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10" name="Image 0" descr="/tmp/work/deck/icons/landmark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4184" y="241401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489704" y="2862072"/>
            <a:ext cx="3346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SHCP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92440" y="2176272"/>
            <a:ext cx="3456432" cy="905256"/>
          </a:xfrm>
          <a:prstGeom prst="roundRect">
            <a:avLst>
              <a:gd name="adj" fmla="val 8081"/>
            </a:avLst>
          </a:prstGeom>
          <a:solidFill>
            <a:srgbClr val="1E2761"/>
          </a:solidFill>
          <a:ln w="12700">
            <a:solidFill>
              <a:srgbClr val="3B49A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9592056" y="230428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14" name="Image 1" descr="/tmp/work/deck/icons/coins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2414016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147304" y="2862072"/>
            <a:ext cx="3346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Banxico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40080" y="3520440"/>
            <a:ext cx="10908792" cy="1417320"/>
          </a:xfrm>
          <a:prstGeom prst="roundRect">
            <a:avLst>
              <a:gd name="adj" fmla="val 5806"/>
            </a:avLst>
          </a:prstGeom>
          <a:solidFill>
            <a:srgbClr val="141B4D"/>
          </a:solidFill>
          <a:ln w="12700">
            <a:solidFill>
              <a:srgbClr val="33408A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68680" y="366674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Supervisores</a:t>
            </a:r>
            <a:endParaRPr lang="en-US" sz="1550" dirty="0"/>
          </a:p>
        </p:txBody>
      </p:sp>
      <p:sp>
        <p:nvSpPr>
          <p:cNvPr id="18" name="Text 14"/>
          <p:cNvSpPr/>
          <p:nvPr/>
        </p:nvSpPr>
        <p:spPr>
          <a:xfrm>
            <a:off x="868680" y="4032504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Vigilan a los intermediarios de cada sector especializado.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434840" y="3776472"/>
            <a:ext cx="2237232" cy="905256"/>
          </a:xfrm>
          <a:prstGeom prst="roundRect">
            <a:avLst>
              <a:gd name="adj" fmla="val 8081"/>
            </a:avLst>
          </a:prstGeom>
          <a:solidFill>
            <a:srgbClr val="1E2761"/>
          </a:solidFill>
          <a:ln w="12700">
            <a:solidFill>
              <a:srgbClr val="3B49A0"/>
            </a:solidFill>
            <a:prstDash val="solid"/>
          </a:ln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5324856" y="390448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21" name="Image 2" descr="/tmp/work/deck/icons/chartline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4584" y="4014216"/>
            <a:ext cx="237744" cy="23774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489704" y="4462272"/>
            <a:ext cx="2127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873240" y="3776472"/>
            <a:ext cx="2237232" cy="905256"/>
          </a:xfrm>
          <a:prstGeom prst="roundRect">
            <a:avLst>
              <a:gd name="adj" fmla="val 8081"/>
            </a:avLst>
          </a:prstGeom>
          <a:solidFill>
            <a:srgbClr val="1E2761"/>
          </a:solidFill>
          <a:ln w="12700">
            <a:solidFill>
              <a:srgbClr val="3B49A0"/>
            </a:solidFill>
            <a:prstDash val="solid"/>
          </a:ln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7763256" y="390448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25" name="Image 3" descr="/tmp/work/deck/icons/shield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2984" y="401421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928104" y="4462272"/>
            <a:ext cx="2127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CNSF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9311640" y="3776472"/>
            <a:ext cx="2237232" cy="905256"/>
          </a:xfrm>
          <a:prstGeom prst="roundRect">
            <a:avLst>
              <a:gd name="adj" fmla="val 8081"/>
            </a:avLst>
          </a:prstGeom>
          <a:solidFill>
            <a:srgbClr val="1E2761"/>
          </a:solidFill>
          <a:ln w="12700">
            <a:solidFill>
              <a:srgbClr val="3B49A0"/>
            </a:solidFill>
            <a:prstDash val="solid"/>
          </a:ln>
        </p:spPr>
        <p:txBody>
          <a:bodyPr/>
          <a:p/>
        </p:txBody>
      </p:sp>
      <p:sp>
        <p:nvSpPr>
          <p:cNvPr id="28" name="Shape 22"/>
          <p:cNvSpPr/>
          <p:nvPr/>
        </p:nvSpPr>
        <p:spPr>
          <a:xfrm>
            <a:off x="10201656" y="390448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29" name="Image 4" descr="/tmp/work/deck/icons/piggy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1384" y="4014216"/>
            <a:ext cx="237744" cy="23774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366504" y="4462272"/>
            <a:ext cx="2127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Consar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640080" y="5120640"/>
            <a:ext cx="10908792" cy="1417320"/>
          </a:xfrm>
          <a:prstGeom prst="roundRect">
            <a:avLst>
              <a:gd name="adj" fmla="val 5806"/>
            </a:avLst>
          </a:prstGeom>
          <a:solidFill>
            <a:srgbClr val="141B4D"/>
          </a:solidFill>
          <a:ln w="12700">
            <a:solidFill>
              <a:srgbClr val="33408A"/>
            </a:solidFill>
            <a:prstDash val="solid"/>
          </a:ln>
        </p:spPr>
        <p:txBody>
          <a:bodyPr/>
          <a:p/>
        </p:txBody>
      </p:sp>
      <p:sp>
        <p:nvSpPr>
          <p:cNvPr id="32" name="Text 25"/>
          <p:cNvSpPr/>
          <p:nvPr/>
        </p:nvSpPr>
        <p:spPr>
          <a:xfrm>
            <a:off x="868680" y="526694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Apoyo y protección</a:t>
            </a:r>
            <a:endParaRPr lang="en-US" sz="1550" dirty="0"/>
          </a:p>
        </p:txBody>
      </p:sp>
      <p:sp>
        <p:nvSpPr>
          <p:cNvPr id="33" name="Text 26"/>
          <p:cNvSpPr/>
          <p:nvPr/>
        </p:nvSpPr>
        <p:spPr>
          <a:xfrm>
            <a:off x="868680" y="5632704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Respaldan y defienden al ahorrador y al usuario final.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4434840" y="5376672"/>
            <a:ext cx="3456432" cy="905256"/>
          </a:xfrm>
          <a:prstGeom prst="roundRect">
            <a:avLst>
              <a:gd name="adj" fmla="val 8081"/>
            </a:avLst>
          </a:prstGeom>
          <a:solidFill>
            <a:srgbClr val="1E2761"/>
          </a:solidFill>
          <a:ln w="12700">
            <a:solidFill>
              <a:srgbClr val="3B49A0"/>
            </a:solidFill>
            <a:prstDash val="solid"/>
          </a:ln>
        </p:spPr>
        <p:txBody>
          <a:bodyPr/>
          <a:p/>
        </p:txBody>
      </p:sp>
      <p:sp>
        <p:nvSpPr>
          <p:cNvPr id="35" name="Shape 28"/>
          <p:cNvSpPr/>
          <p:nvPr/>
        </p:nvSpPr>
        <p:spPr>
          <a:xfrm>
            <a:off x="5934456" y="550468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36" name="Image 5" descr="/tmp/work/deck/icons/usershield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4184" y="5614416"/>
            <a:ext cx="237744" cy="237744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4489704" y="6062472"/>
            <a:ext cx="3346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IPAB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092440" y="5376672"/>
            <a:ext cx="3456432" cy="905256"/>
          </a:xfrm>
          <a:prstGeom prst="roundRect">
            <a:avLst>
              <a:gd name="adj" fmla="val 8081"/>
            </a:avLst>
          </a:prstGeom>
          <a:solidFill>
            <a:srgbClr val="1E2761"/>
          </a:solidFill>
          <a:ln w="12700">
            <a:solidFill>
              <a:srgbClr val="3B49A0"/>
            </a:solidFill>
            <a:prstDash val="solid"/>
          </a:ln>
        </p:spPr>
        <p:txBody>
          <a:bodyPr/>
          <a:p/>
        </p:txBody>
      </p:sp>
      <p:sp>
        <p:nvSpPr>
          <p:cNvPr id="39" name="Shape 31"/>
          <p:cNvSpPr/>
          <p:nvPr/>
        </p:nvSpPr>
        <p:spPr>
          <a:xfrm>
            <a:off x="9592056" y="550468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40" name="Image 6" descr="/tmp/work/deck/icons/balance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1784" y="5614416"/>
            <a:ext cx="237744" cy="23774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8147304" y="6062472"/>
            <a:ext cx="3346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Condusef</a:t>
            </a:r>
            <a:endParaRPr lang="en-US" sz="1150" dirty="0"/>
          </a:p>
        </p:txBody>
      </p:sp>
      <p:sp>
        <p:nvSpPr>
          <p:cNvPr id="42" name="Text 33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SFM · 18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Organigrama del Sistema Financiero Mexicano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todas las relaciones son de mando: hay jerarquía, coordinación entre autoridades autónomas y funciones cruzadas entre entidades.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251960" y="1783080"/>
            <a:ext cx="329184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361688" y="1874520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7" name="Image 0" descr="/tmp/work/deck/icons/landmark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3410" y="1936242"/>
            <a:ext cx="150876" cy="15087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727448" y="18379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SHCP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727448" y="20391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Cabeza de sector · política financiera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600200" y="1783080"/>
            <a:ext cx="2331720" cy="457200"/>
          </a:xfrm>
          <a:prstGeom prst="roundRect">
            <a:avLst>
              <a:gd name="adj" fmla="val 16000"/>
            </a:avLst>
          </a:prstGeom>
          <a:solidFill>
            <a:srgbClr val="141B4D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709928" y="1874520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12" name="Image 1" descr="/tmp/work/deck/icons/coins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1650" y="1936242"/>
            <a:ext cx="150876" cy="1508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075688" y="1837944"/>
            <a:ext cx="1801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Banxico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2075688" y="2039112"/>
            <a:ext cx="1801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Autónomo · no forma parte de la SHCP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931920" y="2011680"/>
            <a:ext cx="320040" cy="0"/>
          </a:xfrm>
          <a:prstGeom prst="line">
            <a:avLst/>
          </a:prstGeom>
          <a:noFill/>
          <a:ln w="15875">
            <a:solidFill>
              <a:srgbClr val="C9A227"/>
            </a:solidFill>
            <a:prstDash val="dash"/>
          </a:ln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3840480" y="156362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A7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· CESF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5897880" y="2240280"/>
            <a:ext cx="0" cy="137160"/>
          </a:xfrm>
          <a:prstGeom prst="line">
            <a:avLst/>
          </a:prstGeom>
          <a:noFill/>
          <a:ln w="15875">
            <a:solidFill>
              <a:srgbClr val="8A97CF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1691640" y="2377440"/>
            <a:ext cx="8412480" cy="0"/>
          </a:xfrm>
          <a:prstGeom prst="line">
            <a:avLst/>
          </a:prstGeom>
          <a:noFill/>
          <a:ln w="15875">
            <a:solidFill>
              <a:srgbClr val="8A97CF"/>
            </a:solidFill>
            <a:prstDash val="solid"/>
          </a:ln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1691640" y="2377440"/>
            <a:ext cx="0" cy="64008"/>
          </a:xfrm>
          <a:prstGeom prst="line">
            <a:avLst/>
          </a:prstGeom>
          <a:noFill/>
          <a:ln w="15875">
            <a:solidFill>
              <a:srgbClr val="8A97CF"/>
            </a:solidFill>
            <a:prstDash val="solid"/>
          </a:ln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3794760" y="2377440"/>
            <a:ext cx="0" cy="64008"/>
          </a:xfrm>
          <a:prstGeom prst="line">
            <a:avLst/>
          </a:prstGeom>
          <a:noFill/>
          <a:ln w="15875">
            <a:solidFill>
              <a:srgbClr val="8A97CF"/>
            </a:solidFill>
            <a:prstDash val="solid"/>
          </a:ln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5897880" y="2377440"/>
            <a:ext cx="0" cy="64008"/>
          </a:xfrm>
          <a:prstGeom prst="line">
            <a:avLst/>
          </a:prstGeom>
          <a:noFill/>
          <a:ln w="15875">
            <a:solidFill>
              <a:srgbClr val="8A97CF"/>
            </a:solidFill>
            <a:prstDash val="solid"/>
          </a:ln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8001000" y="2377440"/>
            <a:ext cx="0" cy="64008"/>
          </a:xfrm>
          <a:prstGeom prst="line">
            <a:avLst/>
          </a:prstGeom>
          <a:noFill/>
          <a:ln w="15875">
            <a:solidFill>
              <a:srgbClr val="8A97CF"/>
            </a:solidFill>
            <a:prstDash val="solid"/>
          </a:ln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10104120" y="2377440"/>
            <a:ext cx="0" cy="64008"/>
          </a:xfrm>
          <a:prstGeom prst="line">
            <a:avLst/>
          </a:prstGeom>
          <a:noFill/>
          <a:ln w="15875">
            <a:solidFill>
              <a:srgbClr val="8A97CF"/>
            </a:solidFill>
            <a:prstDash val="solid"/>
          </a:ln>
        </p:spPr>
        <p:txBody>
          <a:bodyPr/>
          <a:p/>
        </p:txBody>
      </p:sp>
      <p:sp>
        <p:nvSpPr>
          <p:cNvPr id="24" name="Shape 20"/>
          <p:cNvSpPr/>
          <p:nvPr/>
        </p:nvSpPr>
        <p:spPr>
          <a:xfrm>
            <a:off x="731520" y="2441448"/>
            <a:ext cx="1920240" cy="658368"/>
          </a:xfrm>
          <a:prstGeom prst="roundRect">
            <a:avLst>
              <a:gd name="adj" fmla="val 9722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5" name="Shape 21"/>
          <p:cNvSpPr/>
          <p:nvPr/>
        </p:nvSpPr>
        <p:spPr>
          <a:xfrm>
            <a:off x="822960" y="2514600"/>
            <a:ext cx="246888" cy="24688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26" name="Image 2" descr="/tmp/work/deck/icons/chartline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10" y="2570150"/>
            <a:ext cx="135788" cy="13578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143000" y="2505456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1143000" y="273405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73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 banca y mercado de valores</a:t>
            </a:r>
            <a:endParaRPr lang="en-US" sz="730" dirty="0"/>
          </a:p>
        </p:txBody>
      </p:sp>
      <p:sp>
        <p:nvSpPr>
          <p:cNvPr id="29" name="Shape 24"/>
          <p:cNvSpPr/>
          <p:nvPr/>
        </p:nvSpPr>
        <p:spPr>
          <a:xfrm>
            <a:off x="2834640" y="2441448"/>
            <a:ext cx="1920240" cy="658368"/>
          </a:xfrm>
          <a:prstGeom prst="roundRect">
            <a:avLst>
              <a:gd name="adj" fmla="val 9722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0" name="Shape 25"/>
          <p:cNvSpPr/>
          <p:nvPr/>
        </p:nvSpPr>
        <p:spPr>
          <a:xfrm>
            <a:off x="2926080" y="2514600"/>
            <a:ext cx="246888" cy="24688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31" name="Image 3" descr="/tmp/work/deck/icons/shield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1630" y="2570150"/>
            <a:ext cx="135788" cy="13578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3246120" y="2505456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CNSF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3246120" y="273405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73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 seguros y fianzas</a:t>
            </a:r>
            <a:endParaRPr lang="en-US" sz="730" dirty="0"/>
          </a:p>
        </p:txBody>
      </p:sp>
      <p:sp>
        <p:nvSpPr>
          <p:cNvPr id="34" name="Shape 28"/>
          <p:cNvSpPr/>
          <p:nvPr/>
        </p:nvSpPr>
        <p:spPr>
          <a:xfrm>
            <a:off x="4937760" y="2441448"/>
            <a:ext cx="1920240" cy="658368"/>
          </a:xfrm>
          <a:prstGeom prst="roundRect">
            <a:avLst>
              <a:gd name="adj" fmla="val 9722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5" name="Shape 29"/>
          <p:cNvSpPr/>
          <p:nvPr/>
        </p:nvSpPr>
        <p:spPr>
          <a:xfrm>
            <a:off x="5029200" y="2514600"/>
            <a:ext cx="246888" cy="24688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36" name="Image 4" descr="/tmp/work/deck/icons/piggy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4750" y="2570150"/>
            <a:ext cx="135788" cy="135788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5349240" y="2505456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Consar</a:t>
            </a:r>
            <a:endParaRPr lang="en-US" sz="1150" dirty="0"/>
          </a:p>
        </p:txBody>
      </p:sp>
      <p:sp>
        <p:nvSpPr>
          <p:cNvPr id="38" name="Text 31"/>
          <p:cNvSpPr/>
          <p:nvPr/>
        </p:nvSpPr>
        <p:spPr>
          <a:xfrm>
            <a:off x="5349240" y="273405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73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 el sistema de pensiones</a:t>
            </a:r>
            <a:endParaRPr lang="en-US" sz="730" dirty="0"/>
          </a:p>
        </p:txBody>
      </p:sp>
      <p:sp>
        <p:nvSpPr>
          <p:cNvPr id="39" name="Shape 32"/>
          <p:cNvSpPr/>
          <p:nvPr/>
        </p:nvSpPr>
        <p:spPr>
          <a:xfrm>
            <a:off x="7040880" y="2441448"/>
            <a:ext cx="1920240" cy="658368"/>
          </a:xfrm>
          <a:prstGeom prst="roundRect">
            <a:avLst>
              <a:gd name="adj" fmla="val 9722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40" name="Shape 33"/>
          <p:cNvSpPr/>
          <p:nvPr/>
        </p:nvSpPr>
        <p:spPr>
          <a:xfrm>
            <a:off x="7132320" y="2514600"/>
            <a:ext cx="246888" cy="24688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41" name="Image 5" descr="/tmp/work/deck/icons/usershield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7870" y="2570150"/>
            <a:ext cx="135788" cy="135788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7452360" y="2505456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IPAB</a:t>
            </a:r>
            <a:endParaRPr lang="en-US" sz="1150" dirty="0"/>
          </a:p>
        </p:txBody>
      </p:sp>
      <p:sp>
        <p:nvSpPr>
          <p:cNvPr id="43" name="Text 35"/>
          <p:cNvSpPr/>
          <p:nvPr/>
        </p:nvSpPr>
        <p:spPr>
          <a:xfrm>
            <a:off x="7452360" y="273405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73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 el ahorro bancario</a:t>
            </a:r>
            <a:endParaRPr lang="en-US" sz="730" dirty="0"/>
          </a:p>
        </p:txBody>
      </p:sp>
      <p:sp>
        <p:nvSpPr>
          <p:cNvPr id="44" name="Shape 36"/>
          <p:cNvSpPr/>
          <p:nvPr/>
        </p:nvSpPr>
        <p:spPr>
          <a:xfrm>
            <a:off x="9144000" y="2441448"/>
            <a:ext cx="1920240" cy="658368"/>
          </a:xfrm>
          <a:prstGeom prst="roundRect">
            <a:avLst>
              <a:gd name="adj" fmla="val 9722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45" name="Shape 37"/>
          <p:cNvSpPr/>
          <p:nvPr/>
        </p:nvSpPr>
        <p:spPr>
          <a:xfrm>
            <a:off x="9235440" y="2514600"/>
            <a:ext cx="246888" cy="24688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pic>
        <p:nvPicPr>
          <p:cNvPr id="46" name="Image 6" descr="/tmp/work/deck/icons/balance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0990" y="2570150"/>
            <a:ext cx="135788" cy="135788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555480" y="2505456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Condusef</a:t>
            </a:r>
            <a:endParaRPr lang="en-US" sz="1150" dirty="0"/>
          </a:p>
        </p:txBody>
      </p:sp>
      <p:sp>
        <p:nvSpPr>
          <p:cNvPr id="48" name="Text 39"/>
          <p:cNvSpPr/>
          <p:nvPr/>
        </p:nvSpPr>
        <p:spPr>
          <a:xfrm>
            <a:off x="9555480" y="273405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73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al usuario financiero</a:t>
            </a:r>
            <a:endParaRPr lang="en-US" sz="730" dirty="0"/>
          </a:p>
        </p:txBody>
      </p:sp>
      <p:sp>
        <p:nvSpPr>
          <p:cNvPr id="49" name="Shape 40"/>
          <p:cNvSpPr/>
          <p:nvPr/>
        </p:nvSpPr>
        <p:spPr>
          <a:xfrm>
            <a:off x="1691640" y="3099816"/>
            <a:ext cx="0" cy="237744"/>
          </a:xfrm>
          <a:prstGeom prst="line">
            <a:avLst/>
          </a:prstGeom>
          <a:noFill/>
          <a:ln w="15875">
            <a:solidFill>
              <a:srgbClr val="8A97CF"/>
            </a:solidFill>
            <a:prstDash val="solid"/>
          </a:ln>
        </p:spPr>
        <p:txBody>
          <a:bodyPr/>
          <a:p/>
        </p:txBody>
      </p:sp>
      <p:sp>
        <p:nvSpPr>
          <p:cNvPr id="50" name="Shape 41"/>
          <p:cNvSpPr/>
          <p:nvPr/>
        </p:nvSpPr>
        <p:spPr>
          <a:xfrm>
            <a:off x="3794760" y="3099816"/>
            <a:ext cx="0" cy="237744"/>
          </a:xfrm>
          <a:prstGeom prst="line">
            <a:avLst/>
          </a:prstGeom>
          <a:noFill/>
          <a:ln w="15875">
            <a:solidFill>
              <a:srgbClr val="8A97CF"/>
            </a:solidFill>
            <a:prstDash val="solid"/>
          </a:ln>
        </p:spPr>
        <p:txBody>
          <a:bodyPr/>
          <a:p/>
        </p:txBody>
      </p:sp>
      <p:sp>
        <p:nvSpPr>
          <p:cNvPr id="51" name="Shape 42"/>
          <p:cNvSpPr/>
          <p:nvPr/>
        </p:nvSpPr>
        <p:spPr>
          <a:xfrm>
            <a:off x="5897880" y="3099816"/>
            <a:ext cx="0" cy="237744"/>
          </a:xfrm>
          <a:prstGeom prst="line">
            <a:avLst/>
          </a:prstGeom>
          <a:noFill/>
          <a:ln w="15875">
            <a:solidFill>
              <a:srgbClr val="8A97CF"/>
            </a:solidFill>
            <a:prstDash val="solid"/>
          </a:ln>
        </p:spPr>
        <p:txBody>
          <a:bodyPr/>
          <a:p/>
        </p:txBody>
      </p:sp>
      <p:sp>
        <p:nvSpPr>
          <p:cNvPr id="52" name="Shape 43"/>
          <p:cNvSpPr/>
          <p:nvPr/>
        </p:nvSpPr>
        <p:spPr>
          <a:xfrm>
            <a:off x="8001000" y="3099816"/>
            <a:ext cx="0" cy="237744"/>
          </a:xfrm>
          <a:prstGeom prst="line">
            <a:avLst/>
          </a:prstGeom>
          <a:noFill/>
          <a:ln w="15875">
            <a:solidFill>
              <a:srgbClr val="8A97CF"/>
            </a:solidFill>
            <a:prstDash val="solid"/>
          </a:ln>
        </p:spPr>
        <p:txBody>
          <a:bodyPr/>
          <a:p/>
        </p:txBody>
      </p:sp>
      <p:sp>
        <p:nvSpPr>
          <p:cNvPr id="53" name="Shape 44"/>
          <p:cNvSpPr/>
          <p:nvPr/>
        </p:nvSpPr>
        <p:spPr>
          <a:xfrm>
            <a:off x="10104120" y="3099816"/>
            <a:ext cx="0" cy="237744"/>
          </a:xfrm>
          <a:prstGeom prst="line">
            <a:avLst/>
          </a:prstGeom>
          <a:noFill/>
          <a:ln w="15875">
            <a:solidFill>
              <a:srgbClr val="8A97CF"/>
            </a:solidFill>
            <a:prstDash val="solid"/>
          </a:ln>
        </p:spPr>
        <p:txBody>
          <a:bodyPr/>
          <a:p/>
        </p:txBody>
      </p:sp>
      <p:sp>
        <p:nvSpPr>
          <p:cNvPr id="54" name="Shape 45"/>
          <p:cNvSpPr/>
          <p:nvPr/>
        </p:nvSpPr>
        <p:spPr>
          <a:xfrm>
            <a:off x="8147304" y="3099816"/>
            <a:ext cx="0" cy="201168"/>
          </a:xfrm>
          <a:prstGeom prst="line">
            <a:avLst/>
          </a:prstGeom>
          <a:noFill/>
          <a:ln w="12700">
            <a:solidFill>
              <a:srgbClr val="B08D2B"/>
            </a:solidFill>
            <a:prstDash val="sysDot"/>
          </a:ln>
        </p:spPr>
        <p:txBody>
          <a:bodyPr/>
          <a:p/>
        </p:txBody>
      </p:sp>
      <p:sp>
        <p:nvSpPr>
          <p:cNvPr id="55" name="Shape 46"/>
          <p:cNvSpPr/>
          <p:nvPr/>
        </p:nvSpPr>
        <p:spPr>
          <a:xfrm>
            <a:off x="8147304" y="3300984"/>
            <a:ext cx="-6601968" cy="0"/>
          </a:xfrm>
          <a:prstGeom prst="line">
            <a:avLst/>
          </a:prstGeom>
          <a:noFill/>
          <a:ln w="12700">
            <a:solidFill>
              <a:srgbClr val="B08D2B"/>
            </a:solidFill>
            <a:prstDash val="sysDot"/>
          </a:ln>
        </p:spPr>
        <p:txBody>
          <a:bodyPr/>
          <a:p/>
        </p:txBody>
      </p:sp>
      <p:sp>
        <p:nvSpPr>
          <p:cNvPr id="56" name="Shape 47"/>
          <p:cNvSpPr/>
          <p:nvPr/>
        </p:nvSpPr>
        <p:spPr>
          <a:xfrm>
            <a:off x="1545336" y="3300984"/>
            <a:ext cx="0" cy="36576"/>
          </a:xfrm>
          <a:prstGeom prst="line">
            <a:avLst/>
          </a:prstGeom>
          <a:noFill/>
          <a:ln w="12700">
            <a:solidFill>
              <a:srgbClr val="B08D2B"/>
            </a:solidFill>
            <a:prstDash val="sysDot"/>
          </a:ln>
        </p:spPr>
        <p:txBody>
          <a:bodyPr/>
          <a:p/>
        </p:txBody>
      </p:sp>
      <p:sp>
        <p:nvSpPr>
          <p:cNvPr id="57" name="Shape 48"/>
          <p:cNvSpPr/>
          <p:nvPr/>
        </p:nvSpPr>
        <p:spPr>
          <a:xfrm>
            <a:off x="1517904" y="3310128"/>
            <a:ext cx="54864" cy="54864"/>
          </a:xfrm>
          <a:prstGeom prst="ellipse">
            <a:avLst/>
          </a:prstGeom>
          <a:solidFill>
            <a:srgbClr val="B08D2B"/>
          </a:solidFill>
          <a:ln/>
        </p:spPr>
        <p:txBody>
          <a:bodyPr/>
          <a:p/>
        </p:txBody>
      </p:sp>
      <p:sp>
        <p:nvSpPr>
          <p:cNvPr id="58" name="Text 49"/>
          <p:cNvSpPr/>
          <p:nvPr/>
        </p:nvSpPr>
        <p:spPr>
          <a:xfrm>
            <a:off x="3246120" y="3118104"/>
            <a:ext cx="1737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i="1" dirty="0">
                <a:solidFill>
                  <a:srgbClr val="8A7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 depósitos de la banca</a:t>
            </a:r>
            <a:endParaRPr lang="en-US" sz="670" dirty="0"/>
          </a:p>
        </p:txBody>
      </p:sp>
      <p:sp>
        <p:nvSpPr>
          <p:cNvPr id="59" name="Shape 50"/>
          <p:cNvSpPr/>
          <p:nvPr/>
        </p:nvSpPr>
        <p:spPr>
          <a:xfrm>
            <a:off x="731520" y="3337560"/>
            <a:ext cx="2048256" cy="2048256"/>
          </a:xfrm>
          <a:prstGeom prst="roundRect">
            <a:avLst>
              <a:gd name="adj" fmla="val 3571"/>
            </a:avLst>
          </a:prstGeom>
          <a:solidFill>
            <a:srgbClr val="EEF3FC"/>
          </a:solidFill>
          <a:ln w="12700">
            <a:solidFill>
              <a:srgbClr val="D8E0F5"/>
            </a:solidFill>
            <a:prstDash val="solid"/>
          </a:ln>
        </p:spPr>
        <p:txBody>
          <a:bodyPr/>
          <a:p/>
        </p:txBody>
      </p:sp>
      <p:sp>
        <p:nvSpPr>
          <p:cNvPr id="60" name="Shape 51"/>
          <p:cNvSpPr/>
          <p:nvPr/>
        </p:nvSpPr>
        <p:spPr>
          <a:xfrm>
            <a:off x="877824" y="3538728"/>
            <a:ext cx="54864" cy="5486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61" name="Text 52"/>
          <p:cNvSpPr/>
          <p:nvPr/>
        </p:nvSpPr>
        <p:spPr>
          <a:xfrm>
            <a:off x="1005840" y="3456432"/>
            <a:ext cx="16459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7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Banca múltiple y de desarrollo</a:t>
            </a:r>
            <a:endParaRPr lang="en-US" sz="870" dirty="0"/>
          </a:p>
        </p:txBody>
      </p:sp>
      <p:sp>
        <p:nvSpPr>
          <p:cNvPr id="62" name="Shape 53"/>
          <p:cNvSpPr/>
          <p:nvPr/>
        </p:nvSpPr>
        <p:spPr>
          <a:xfrm>
            <a:off x="877824" y="4005072"/>
            <a:ext cx="54864" cy="5486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63" name="Text 54"/>
          <p:cNvSpPr/>
          <p:nvPr/>
        </p:nvSpPr>
        <p:spPr>
          <a:xfrm>
            <a:off x="1005840" y="3922776"/>
            <a:ext cx="16459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7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Bursátil: BMV, BIVA, casas de bolsa</a:t>
            </a:r>
            <a:endParaRPr lang="en-US" sz="870" dirty="0"/>
          </a:p>
        </p:txBody>
      </p:sp>
      <p:sp>
        <p:nvSpPr>
          <p:cNvPr id="64" name="Shape 55"/>
          <p:cNvSpPr/>
          <p:nvPr/>
        </p:nvSpPr>
        <p:spPr>
          <a:xfrm>
            <a:off x="877824" y="4471416"/>
            <a:ext cx="54864" cy="5486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65" name="Text 56"/>
          <p:cNvSpPr/>
          <p:nvPr/>
        </p:nvSpPr>
        <p:spPr>
          <a:xfrm>
            <a:off x="1005840" y="438912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7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/ ITF</a:t>
            </a:r>
            <a:endParaRPr lang="en-US" sz="870" dirty="0"/>
          </a:p>
        </p:txBody>
      </p:sp>
      <p:sp>
        <p:nvSpPr>
          <p:cNvPr id="66" name="Shape 57"/>
          <p:cNvSpPr/>
          <p:nvPr/>
        </p:nvSpPr>
        <p:spPr>
          <a:xfrm>
            <a:off x="877824" y="4764024"/>
            <a:ext cx="54864" cy="5486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67" name="Text 58"/>
          <p:cNvSpPr/>
          <p:nvPr/>
        </p:nvSpPr>
        <p:spPr>
          <a:xfrm>
            <a:off x="1005840" y="46817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7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popular: SOFIPO, SOCAP</a:t>
            </a:r>
            <a:endParaRPr lang="en-US" sz="870" dirty="0"/>
          </a:p>
        </p:txBody>
      </p:sp>
      <p:sp>
        <p:nvSpPr>
          <p:cNvPr id="68" name="Shape 59"/>
          <p:cNvSpPr/>
          <p:nvPr/>
        </p:nvSpPr>
        <p:spPr>
          <a:xfrm>
            <a:off x="877824" y="5056632"/>
            <a:ext cx="54864" cy="5486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69" name="Text 60"/>
          <p:cNvSpPr/>
          <p:nvPr/>
        </p:nvSpPr>
        <p:spPr>
          <a:xfrm>
            <a:off x="1005840" y="497433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7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Auxiliares: SOFOM ER, uniones</a:t>
            </a:r>
            <a:endParaRPr lang="en-US" sz="870" dirty="0"/>
          </a:p>
        </p:txBody>
      </p:sp>
      <p:sp>
        <p:nvSpPr>
          <p:cNvPr id="70" name="Shape 61"/>
          <p:cNvSpPr/>
          <p:nvPr/>
        </p:nvSpPr>
        <p:spPr>
          <a:xfrm>
            <a:off x="2834640" y="3337560"/>
            <a:ext cx="2048256" cy="822960"/>
          </a:xfrm>
          <a:prstGeom prst="roundRect">
            <a:avLst>
              <a:gd name="adj" fmla="val 8889"/>
            </a:avLst>
          </a:prstGeom>
          <a:solidFill>
            <a:srgbClr val="EEF3FC"/>
          </a:solidFill>
          <a:ln w="12700">
            <a:solidFill>
              <a:srgbClr val="D8E0F5"/>
            </a:solidFill>
            <a:prstDash val="solid"/>
          </a:ln>
        </p:spPr>
        <p:txBody>
          <a:bodyPr/>
          <a:p/>
        </p:txBody>
      </p:sp>
      <p:sp>
        <p:nvSpPr>
          <p:cNvPr id="71" name="Shape 62"/>
          <p:cNvSpPr/>
          <p:nvPr/>
        </p:nvSpPr>
        <p:spPr>
          <a:xfrm>
            <a:off x="2980944" y="3538728"/>
            <a:ext cx="54864" cy="5486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72" name="Text 63"/>
          <p:cNvSpPr/>
          <p:nvPr/>
        </p:nvSpPr>
        <p:spPr>
          <a:xfrm>
            <a:off x="3108960" y="345643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7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Instituciones de seguros</a:t>
            </a:r>
            <a:endParaRPr lang="en-US" sz="870" dirty="0"/>
          </a:p>
        </p:txBody>
      </p:sp>
      <p:sp>
        <p:nvSpPr>
          <p:cNvPr id="73" name="Shape 64"/>
          <p:cNvSpPr/>
          <p:nvPr/>
        </p:nvSpPr>
        <p:spPr>
          <a:xfrm>
            <a:off x="2980944" y="3831336"/>
            <a:ext cx="54864" cy="5486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74" name="Text 65"/>
          <p:cNvSpPr/>
          <p:nvPr/>
        </p:nvSpPr>
        <p:spPr>
          <a:xfrm>
            <a:off x="3108960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7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Fianzas y caución</a:t>
            </a:r>
            <a:endParaRPr lang="en-US" sz="870" dirty="0"/>
          </a:p>
        </p:txBody>
      </p:sp>
      <p:sp>
        <p:nvSpPr>
          <p:cNvPr id="75" name="Shape 66"/>
          <p:cNvSpPr/>
          <p:nvPr/>
        </p:nvSpPr>
        <p:spPr>
          <a:xfrm>
            <a:off x="4937760" y="3337560"/>
            <a:ext cx="2048256" cy="822960"/>
          </a:xfrm>
          <a:prstGeom prst="roundRect">
            <a:avLst>
              <a:gd name="adj" fmla="val 8889"/>
            </a:avLst>
          </a:prstGeom>
          <a:solidFill>
            <a:srgbClr val="EEF3FC"/>
          </a:solidFill>
          <a:ln w="12700">
            <a:solidFill>
              <a:srgbClr val="D8E0F5"/>
            </a:solidFill>
            <a:prstDash val="solid"/>
          </a:ln>
        </p:spPr>
        <p:txBody>
          <a:bodyPr/>
          <a:p/>
        </p:txBody>
      </p:sp>
      <p:sp>
        <p:nvSpPr>
          <p:cNvPr id="76" name="Shape 67"/>
          <p:cNvSpPr/>
          <p:nvPr/>
        </p:nvSpPr>
        <p:spPr>
          <a:xfrm>
            <a:off x="5084064" y="3538728"/>
            <a:ext cx="54864" cy="5486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77" name="Text 68"/>
          <p:cNvSpPr/>
          <p:nvPr/>
        </p:nvSpPr>
        <p:spPr>
          <a:xfrm>
            <a:off x="5212080" y="345643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7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Afores</a:t>
            </a:r>
            <a:endParaRPr lang="en-US" sz="870" dirty="0"/>
          </a:p>
        </p:txBody>
      </p:sp>
      <p:sp>
        <p:nvSpPr>
          <p:cNvPr id="78" name="Shape 69"/>
          <p:cNvSpPr/>
          <p:nvPr/>
        </p:nvSpPr>
        <p:spPr>
          <a:xfrm>
            <a:off x="5084064" y="3831336"/>
            <a:ext cx="54864" cy="5486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79" name="Text 70"/>
          <p:cNvSpPr/>
          <p:nvPr/>
        </p:nvSpPr>
        <p:spPr>
          <a:xfrm>
            <a:off x="5212080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7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Siefores generacionales</a:t>
            </a:r>
            <a:endParaRPr lang="en-US" sz="870" dirty="0"/>
          </a:p>
        </p:txBody>
      </p:sp>
      <p:sp>
        <p:nvSpPr>
          <p:cNvPr id="80" name="Text 71"/>
          <p:cNvSpPr/>
          <p:nvPr/>
        </p:nvSpPr>
        <p:spPr>
          <a:xfrm>
            <a:off x="7040880" y="333756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3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 el seguro de depósito bancario de las instituciones que supervisa la CNBV.</a:t>
            </a:r>
            <a:endParaRPr lang="en-US" sz="830" dirty="0"/>
          </a:p>
        </p:txBody>
      </p:sp>
      <p:sp>
        <p:nvSpPr>
          <p:cNvPr id="81" name="Text 72"/>
          <p:cNvSpPr/>
          <p:nvPr/>
        </p:nvSpPr>
        <p:spPr>
          <a:xfrm>
            <a:off x="9144000" y="333756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3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Defiende al usuario ante bancos, aseguradoras, Afores y demás entidades del sistema.</a:t>
            </a:r>
            <a:endParaRPr lang="en-US" sz="830" dirty="0"/>
          </a:p>
        </p:txBody>
      </p:sp>
      <p:sp>
        <p:nvSpPr>
          <p:cNvPr id="82" name="Shape 73"/>
          <p:cNvSpPr/>
          <p:nvPr/>
        </p:nvSpPr>
        <p:spPr>
          <a:xfrm>
            <a:off x="640080" y="5980176"/>
            <a:ext cx="365760" cy="0"/>
          </a:xfrm>
          <a:prstGeom prst="line">
            <a:avLst/>
          </a:prstGeom>
          <a:noFill/>
          <a:ln w="19050">
            <a:solidFill>
              <a:srgbClr val="8A97CF"/>
            </a:solidFill>
            <a:prstDash val="solid"/>
          </a:ln>
        </p:spPr>
        <p:txBody>
          <a:bodyPr/>
          <a:p/>
        </p:txBody>
      </p:sp>
      <p:sp>
        <p:nvSpPr>
          <p:cNvPr id="83" name="Text 74"/>
          <p:cNvSpPr/>
          <p:nvPr/>
        </p:nvSpPr>
        <p:spPr>
          <a:xfrm>
            <a:off x="1078992" y="58978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Jerarquía / sectorización (SHCP)</a:t>
            </a:r>
            <a:endParaRPr lang="en-US" sz="850" dirty="0"/>
          </a:p>
        </p:txBody>
      </p:sp>
      <p:sp>
        <p:nvSpPr>
          <p:cNvPr id="84" name="Shape 75"/>
          <p:cNvSpPr/>
          <p:nvPr/>
        </p:nvSpPr>
        <p:spPr>
          <a:xfrm>
            <a:off x="4416552" y="5980176"/>
            <a:ext cx="365760" cy="0"/>
          </a:xfrm>
          <a:prstGeom prst="line">
            <a:avLst/>
          </a:prstGeom>
          <a:noFill/>
          <a:ln w="19050">
            <a:solidFill>
              <a:srgbClr val="C9A227"/>
            </a:solidFill>
            <a:prstDash val="dash"/>
          </a:ln>
        </p:spPr>
        <p:txBody>
          <a:bodyPr/>
          <a:p/>
        </p:txBody>
      </p:sp>
      <p:sp>
        <p:nvSpPr>
          <p:cNvPr id="85" name="Text 76"/>
          <p:cNvSpPr/>
          <p:nvPr/>
        </p:nvSpPr>
        <p:spPr>
          <a:xfrm>
            <a:off x="4855464" y="58978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entre autoridades autónomas</a:t>
            </a:r>
            <a:endParaRPr lang="en-US" sz="850" dirty="0"/>
          </a:p>
        </p:txBody>
      </p:sp>
      <p:sp>
        <p:nvSpPr>
          <p:cNvPr id="86" name="Shape 77"/>
          <p:cNvSpPr/>
          <p:nvPr/>
        </p:nvSpPr>
        <p:spPr>
          <a:xfrm>
            <a:off x="8193024" y="5980176"/>
            <a:ext cx="365760" cy="0"/>
          </a:xfrm>
          <a:prstGeom prst="line">
            <a:avLst/>
          </a:prstGeom>
          <a:noFill/>
          <a:ln w="19050">
            <a:solidFill>
              <a:srgbClr val="B08D2B"/>
            </a:solidFill>
            <a:prstDash val="sysDot"/>
          </a:ln>
        </p:spPr>
        <p:txBody>
          <a:bodyPr/>
          <a:p/>
        </p:txBody>
      </p:sp>
      <p:sp>
        <p:nvSpPr>
          <p:cNvPr id="87" name="Text 78"/>
          <p:cNvSpPr/>
          <p:nvPr/>
        </p:nvSpPr>
        <p:spPr>
          <a:xfrm>
            <a:off x="8631936" y="58978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funcional (garantía, protección)</a:t>
            </a:r>
            <a:endParaRPr lang="en-US" sz="850" dirty="0"/>
          </a:p>
        </p:txBody>
      </p:sp>
      <p:sp>
        <p:nvSpPr>
          <p:cNvPr id="88" name="Text 79"/>
          <p:cNvSpPr/>
          <p:nvPr/>
        </p:nvSpPr>
        <p:spPr>
          <a:xfrm>
            <a:off x="640080" y="6181344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SHCP: Secretaría de Hacienda y Crédito Público · Banxico: Banco de México · CNBV: Comisión Nacional Bancaria y de Valores · CNSF: Comisión Nacional de Seguros y Fianzas · Consar: Comisión Nacional del Sistema de Ahorro para el Retiro · IPAB: Instituto para la Protección al Ahorro Bancario · Condusef: Comisión Nacional para la Protección y Defensa de los Usuarios de Servicios Financieros · CESF: Consejo de Estabilidad del Sistema Financiero</a:t>
            </a:r>
            <a:endParaRPr lang="en-US" sz="750" dirty="0"/>
          </a:p>
        </p:txBody>
      </p:sp>
      <p:sp>
        <p:nvSpPr>
          <p:cNvPr id="89" name="Text 80"/>
          <p:cNvSpPr/>
          <p:nvPr/>
        </p:nvSpPr>
        <p:spPr>
          <a:xfrm>
            <a:off x="640080" y="6583680"/>
            <a:ext cx="9418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elaboración propia a partir de la organización oficial del Sistema Financiero Mexicano.</a:t>
            </a:r>
            <a:endParaRPr lang="en-US" sz="850" dirty="0"/>
          </a:p>
        </p:txBody>
      </p:sp>
      <p:sp>
        <p:nvSpPr>
          <p:cNvPr id="90" name="Text 81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DOCENTE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p/>
        </p:txBody>
      </p:sp>
      <p:pic>
        <p:nvPicPr>
          <p:cNvPr id="4" name="Image 0" descr="/tmp/work/deck/icons/bookopen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y referencias recomendadas</a:t>
            </a:r>
            <a:endParaRPr lang="en-US" sz="3200" dirty="0"/>
          </a:p>
        </p:txBody>
      </p:sp>
      <p:sp>
        <p:nvSpPr>
          <p:cNvPr id="36" name="Text 27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7" name="TextBox 36"/>
          <p:cNvSpPr txBox="1"/>
          <p:nvPr/>
        </p:nvSpPr>
        <p:spPr>
          <a:xfrm>
            <a:off x="640080" y="1691640"/>
            <a:ext cx="5349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Banxico Educa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5B6482"/>
                </a:solidFill>
                <a:latin typeface="Calibri"/>
              </a:rPr>
              <a:t>Infografías y explicaciones sobre "¿Qué es el Sistema Financiero?", ideales para repaso.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2" y="1691640"/>
            <a:ext cx="5349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Catálogo del Sistema Financiero Mexicano (SHCP)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5B6482"/>
                </a:solidFill>
                <a:latin typeface="Calibri"/>
              </a:rPr>
              <a:t>Registro oficial de la estructura de autoridades e intermediarios regulados.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2880360"/>
            <a:ext cx="5349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Portal CNBV — Sectores Supervisados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5B6482"/>
                </a:solidFill>
                <a:latin typeface="Calibri"/>
              </a:rPr>
              <a:t>Esquemas gráficos descargables.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2" y="2880360"/>
            <a:ext cx="5349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Portal CONDUSEF — Educación Financiera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5B6482"/>
                </a:solidFill>
                <a:latin typeface="Calibri"/>
              </a:rPr>
              <a:t>Material gráfico y casos reales de protección al usuario financiero.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828800" y="4389120"/>
            <a:ext cx="5029200" cy="50292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· ESTRUCTURA DEL SFM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esencial para recordar</a:t>
            </a:r>
            <a:endParaRPr lang="en-US" sz="3400" dirty="0"/>
          </a:p>
        </p:txBody>
      </p:sp>
      <p:sp>
        <p:nvSpPr>
          <p:cNvPr id="17" name="Text 11"/>
          <p:cNvSpPr/>
          <p:nvPr/>
        </p:nvSpPr>
        <p:spPr>
          <a:xfrm>
            <a:off x="822960" y="61722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8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sesión: Matemática Financiera y Mecánica del Mercado.</a:t>
            </a:r>
            <a:endParaRPr lang="en-US" sz="1150" dirty="0"/>
          </a:p>
        </p:txBody>
      </p:sp>
      <p:sp>
        <p:nvSpPr>
          <p:cNvPr id="18" name="TextBox 17"/>
          <p:cNvSpPr txBox="1"/>
          <p:nvPr/>
        </p:nvSpPr>
        <p:spPr>
          <a:xfrm>
            <a:off x="822960" y="1874519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El SFM se organiza en tres niveles: reguladores (SHCP, Banxico) diseñan la política; supervisores (CNBV, CNSF, Consar) vigilan cada sector; apoyo y protección (IPAB, CONDUSEF) respaldan al usuario.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834639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Banxico es autónomo —no depende de la SHCP— y coordina con ella vía el CESF.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94759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La CNBV concentra la supervisión más amplia: banca, mercado de valores, Fintech, ahorro popular y auxiliares de crédito.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54879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IPAB y CONDUSEF se relacionan funcionalmente con los supervisores (p. ej., IPAB garantiza los depósitos que regula la CNBV).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2026-08-13T01:37:27Z</dcterms:created>
  <dcterms:modified xsi:type="dcterms:W3CDTF">2026-08-13T01:37:27Z</dcterms:modified>
</cp:coreProperties>
</file>