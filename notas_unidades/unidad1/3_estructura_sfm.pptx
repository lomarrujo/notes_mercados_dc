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image" Target="../media/image-11-6.png"/><Relationship Id="rId8" Type="http://schemas.openxmlformats.org/officeDocument/2006/relationships/image" Target="../media/image-11-7.png"/><Relationship Id="rId9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image" Target="../media/image-12-5.png"/><Relationship Id="rId7" Type="http://schemas.openxmlformats.org/officeDocument/2006/relationships/image" Target="../media/image-12-6.png"/><Relationship Id="rId8" Type="http://schemas.openxmlformats.org/officeDocument/2006/relationships/image" Target="../media/image-12-7.png"/><Relationship Id="rId9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6-1.png"/><Relationship Id="rId3" Type="http://schemas.openxmlformats.org/officeDocument/2006/relationships/image" Target="../media/image-16-4.png"/><Relationship Id="rId4" Type="http://schemas.openxmlformats.org/officeDocument/2006/relationships/image" Target="../media/image-16-5.png"/><Relationship Id="rId5" Type="http://schemas.openxmlformats.org/officeDocument/2006/relationships/image" Target="../media/image-16-6.png"/><Relationship Id="rId6" Type="http://schemas.openxmlformats.org/officeDocument/2006/relationships/image" Target="../media/image-16-7.png"/><Relationship Id="rId7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7-1.png"/><Relationship Id="rId3" Type="http://schemas.openxmlformats.org/officeDocument/2006/relationships/notesSlide" Target="../notesSlides/notesSlide17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Economía Monetaria — G. Mántey de Anguiano (UNAM, 2024)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ulls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ubique qué autoridad del Sistema Financiero Mexicano regula, supervisa o protege (SHCP, Banxico, CNBV, CNSF, Consar, IPAB, CONDUSEF).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77240" y="17830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Estructura del Sistema Financiero Mexicano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1783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235000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Organigrama del Sistema Financiero Mexicano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3500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291693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Fuentes y referencias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general de autoridades: tres niveles con funciones complementarias.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66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Diseñan la política y las reglas del sistema financiero.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344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0" name="Image 0" descr="/tmp/work/deck/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41401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897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5920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4" name="Image 1" descr="/tmp/work/deck/icons/coin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24140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473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5204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68680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68680" y="40325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 a los intermediarios de cada sector especializado.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348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3248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1" name="Image 2" descr="/tmp/work/deck/icons/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584" y="401421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97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732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77632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5" name="Image 3" descr="/tmp/work/deck/icon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401421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81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3116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102016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9" name="Image 4" descr="/tmp/work/deck/icons/pigg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1384" y="40142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665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51206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868680" y="52669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y protección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68680" y="56327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Respaldan y defienden al ahorrador y al usuario final.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4348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9344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6" name="Image 5" descr="/tmp/work/deck/icons/usershiel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561441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4897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924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39" name="Shape 31"/>
          <p:cNvSpPr/>
          <p:nvPr/>
        </p:nvSpPr>
        <p:spPr>
          <a:xfrm>
            <a:off x="95920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0" name="Image 6" descr="/tmp/work/deck/icons/balanc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784" y="5614416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1473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18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Organigrama del Sistema Financiero Mexicano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relaciones son de mando: hay jerarquía, coordinación entre autoridades autónomas y funciones cruzadas entre entidades.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251960" y="17830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6168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7" name="Image 0" descr="/tmp/work/deck/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1936242"/>
            <a:ext cx="150876" cy="1508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27448" y="18379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27448" y="2039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de sector · política financiera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600200" y="17830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41B4D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70992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2" name="Image 1" descr="/tmp/work/deck/icons/coin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936242"/>
            <a:ext cx="150876" cy="1508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18379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075688" y="203911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 · no forma parte de la SHCP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931920" y="2011680"/>
            <a:ext cx="32004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3840480" y="1563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· CESF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897880" y="2240280"/>
            <a:ext cx="0" cy="13716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1691640" y="2377440"/>
            <a:ext cx="8412480" cy="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69164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9788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00100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1010412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3152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2296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6" name="Image 2" descr="/tmp/work/deck/icons/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10" y="2570150"/>
            <a:ext cx="135788" cy="1357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300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banca y mercado de valores</a:t>
            </a:r>
            <a:endParaRPr lang="en-US" sz="730" dirty="0"/>
          </a:p>
        </p:txBody>
      </p:sp>
      <p:sp>
        <p:nvSpPr>
          <p:cNvPr id="29" name="Shape 24"/>
          <p:cNvSpPr/>
          <p:nvPr/>
        </p:nvSpPr>
        <p:spPr>
          <a:xfrm>
            <a:off x="283464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292608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1" name="Image 3" descr="/tmp/work/deck/icon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1630" y="2570150"/>
            <a:ext cx="135788" cy="1357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24612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24612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seguros y fianzas</a:t>
            </a:r>
            <a:endParaRPr lang="en-US" sz="730" dirty="0"/>
          </a:p>
        </p:txBody>
      </p:sp>
      <p:sp>
        <p:nvSpPr>
          <p:cNvPr id="34" name="Shape 28"/>
          <p:cNvSpPr/>
          <p:nvPr/>
        </p:nvSpPr>
        <p:spPr>
          <a:xfrm>
            <a:off x="493776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502920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6" name="Image 4" descr="/tmp/work/deck/icons/pigg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750" y="2570150"/>
            <a:ext cx="135788" cy="1357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4924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34924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el sistema de pensiones</a:t>
            </a:r>
            <a:endParaRPr lang="en-US" sz="730" dirty="0"/>
          </a:p>
        </p:txBody>
      </p:sp>
      <p:sp>
        <p:nvSpPr>
          <p:cNvPr id="39" name="Shape 32"/>
          <p:cNvSpPr/>
          <p:nvPr/>
        </p:nvSpPr>
        <p:spPr>
          <a:xfrm>
            <a:off x="704088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713232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1" name="Image 5" descr="/tmp/work/deck/icons/usershiel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870" y="2570150"/>
            <a:ext cx="135788" cy="1357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5236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745236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ahorro bancario</a:t>
            </a:r>
            <a:endParaRPr lang="en-US" sz="730" dirty="0"/>
          </a:p>
        </p:txBody>
      </p:sp>
      <p:sp>
        <p:nvSpPr>
          <p:cNvPr id="44" name="Shape 36"/>
          <p:cNvSpPr/>
          <p:nvPr/>
        </p:nvSpPr>
        <p:spPr>
          <a:xfrm>
            <a:off x="914400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5" name="Shape 37"/>
          <p:cNvSpPr/>
          <p:nvPr/>
        </p:nvSpPr>
        <p:spPr>
          <a:xfrm>
            <a:off x="923544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6" name="Image 6" descr="/tmp/work/deck/icons/balanc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990" y="2570150"/>
            <a:ext cx="135788" cy="1357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55548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955548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usuario financiero</a:t>
            </a:r>
            <a:endParaRPr lang="en-US" sz="730" dirty="0"/>
          </a:p>
        </p:txBody>
      </p:sp>
      <p:sp>
        <p:nvSpPr>
          <p:cNvPr id="49" name="Shape 40"/>
          <p:cNvSpPr/>
          <p:nvPr/>
        </p:nvSpPr>
        <p:spPr>
          <a:xfrm>
            <a:off x="169164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0" name="Shape 41"/>
          <p:cNvSpPr/>
          <p:nvPr/>
        </p:nvSpPr>
        <p:spPr>
          <a:xfrm>
            <a:off x="379476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1" name="Shape 42"/>
          <p:cNvSpPr/>
          <p:nvPr/>
        </p:nvSpPr>
        <p:spPr>
          <a:xfrm>
            <a:off x="589788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2" name="Shape 43"/>
          <p:cNvSpPr/>
          <p:nvPr/>
        </p:nvSpPr>
        <p:spPr>
          <a:xfrm>
            <a:off x="800100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3" name="Shape 44"/>
          <p:cNvSpPr/>
          <p:nvPr/>
        </p:nvSpPr>
        <p:spPr>
          <a:xfrm>
            <a:off x="1010412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4" name="Shape 45"/>
          <p:cNvSpPr/>
          <p:nvPr/>
        </p:nvSpPr>
        <p:spPr>
          <a:xfrm>
            <a:off x="8147304" y="3099816"/>
            <a:ext cx="0" cy="201168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5" name="Shape 46"/>
          <p:cNvSpPr/>
          <p:nvPr/>
        </p:nvSpPr>
        <p:spPr>
          <a:xfrm>
            <a:off x="8147304" y="3300984"/>
            <a:ext cx="-6601968" cy="0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6" name="Shape 47"/>
          <p:cNvSpPr/>
          <p:nvPr/>
        </p:nvSpPr>
        <p:spPr>
          <a:xfrm>
            <a:off x="1545336" y="3300984"/>
            <a:ext cx="0" cy="36576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7" name="Shape 48"/>
          <p:cNvSpPr/>
          <p:nvPr/>
        </p:nvSpPr>
        <p:spPr>
          <a:xfrm>
            <a:off x="1517904" y="3310128"/>
            <a:ext cx="54864" cy="54864"/>
          </a:xfrm>
          <a:prstGeom prst="ellipse">
            <a:avLst/>
          </a:prstGeom>
          <a:solidFill>
            <a:srgbClr val="B08D2B"/>
          </a:solidFill>
          <a:ln/>
        </p:spPr>
        <p:txBody>
          <a:bodyPr/>
          <a:p/>
        </p:txBody>
      </p:sp>
      <p:sp>
        <p:nvSpPr>
          <p:cNvPr id="58" name="Text 49"/>
          <p:cNvSpPr/>
          <p:nvPr/>
        </p:nvSpPr>
        <p:spPr>
          <a:xfrm>
            <a:off x="3246120" y="311810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depósitos de la banca</a:t>
            </a:r>
            <a:endParaRPr lang="en-US" sz="670" dirty="0"/>
          </a:p>
        </p:txBody>
      </p:sp>
      <p:sp>
        <p:nvSpPr>
          <p:cNvPr id="59" name="Shape 50"/>
          <p:cNvSpPr/>
          <p:nvPr/>
        </p:nvSpPr>
        <p:spPr>
          <a:xfrm>
            <a:off x="731520" y="3337560"/>
            <a:ext cx="2048256" cy="2048256"/>
          </a:xfrm>
          <a:prstGeom prst="roundRect">
            <a:avLst>
              <a:gd name="adj" fmla="val 3571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60" name="Shape 51"/>
          <p:cNvSpPr/>
          <p:nvPr/>
        </p:nvSpPr>
        <p:spPr>
          <a:xfrm>
            <a:off x="87782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1" name="Text 52"/>
          <p:cNvSpPr/>
          <p:nvPr/>
        </p:nvSpPr>
        <p:spPr>
          <a:xfrm>
            <a:off x="1005840" y="345643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múltiple y de desarrollo</a:t>
            </a:r>
            <a:endParaRPr lang="en-US" sz="870" dirty="0"/>
          </a:p>
        </p:txBody>
      </p:sp>
      <p:sp>
        <p:nvSpPr>
          <p:cNvPr id="62" name="Shape 53"/>
          <p:cNvSpPr/>
          <p:nvPr/>
        </p:nvSpPr>
        <p:spPr>
          <a:xfrm>
            <a:off x="877824" y="400507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3" name="Text 54"/>
          <p:cNvSpPr/>
          <p:nvPr/>
        </p:nvSpPr>
        <p:spPr>
          <a:xfrm>
            <a:off x="1005840" y="392277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Bursátil: BMV, BIVA, casas de bolsa</a:t>
            </a:r>
            <a:endParaRPr lang="en-US" sz="870" dirty="0"/>
          </a:p>
        </p:txBody>
      </p:sp>
      <p:sp>
        <p:nvSpPr>
          <p:cNvPr id="64" name="Shape 55"/>
          <p:cNvSpPr/>
          <p:nvPr/>
        </p:nvSpPr>
        <p:spPr>
          <a:xfrm>
            <a:off x="877824" y="447141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5" name="Text 56"/>
          <p:cNvSpPr/>
          <p:nvPr/>
        </p:nvSpPr>
        <p:spPr>
          <a:xfrm>
            <a:off x="1005840" y="4389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ITF</a:t>
            </a:r>
            <a:endParaRPr lang="en-US" sz="870" dirty="0"/>
          </a:p>
        </p:txBody>
      </p:sp>
      <p:sp>
        <p:nvSpPr>
          <p:cNvPr id="66" name="Shape 57"/>
          <p:cNvSpPr/>
          <p:nvPr/>
        </p:nvSpPr>
        <p:spPr>
          <a:xfrm>
            <a:off x="877824" y="4764024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7" name="Text 58"/>
          <p:cNvSpPr/>
          <p:nvPr/>
        </p:nvSpPr>
        <p:spPr>
          <a:xfrm>
            <a:off x="1005840" y="4681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popular: SOFIPO, SOCAP</a:t>
            </a:r>
            <a:endParaRPr lang="en-US" sz="870" dirty="0"/>
          </a:p>
        </p:txBody>
      </p:sp>
      <p:sp>
        <p:nvSpPr>
          <p:cNvPr id="68" name="Shape 59"/>
          <p:cNvSpPr/>
          <p:nvPr/>
        </p:nvSpPr>
        <p:spPr>
          <a:xfrm>
            <a:off x="877824" y="505663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9" name="Text 60"/>
          <p:cNvSpPr/>
          <p:nvPr/>
        </p:nvSpPr>
        <p:spPr>
          <a:xfrm>
            <a:off x="1005840" y="4974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Auxiliares: SOFOM ER, uniones</a:t>
            </a:r>
            <a:endParaRPr lang="en-US" sz="870" dirty="0"/>
          </a:p>
        </p:txBody>
      </p:sp>
      <p:sp>
        <p:nvSpPr>
          <p:cNvPr id="70" name="Shape 61"/>
          <p:cNvSpPr/>
          <p:nvPr/>
        </p:nvSpPr>
        <p:spPr>
          <a:xfrm>
            <a:off x="283464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71" name="Shape 62"/>
          <p:cNvSpPr/>
          <p:nvPr/>
        </p:nvSpPr>
        <p:spPr>
          <a:xfrm>
            <a:off x="298094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2" name="Text 63"/>
          <p:cNvSpPr/>
          <p:nvPr/>
        </p:nvSpPr>
        <p:spPr>
          <a:xfrm>
            <a:off x="310896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de seguros</a:t>
            </a:r>
            <a:endParaRPr lang="en-US" sz="870" dirty="0"/>
          </a:p>
        </p:txBody>
      </p:sp>
      <p:sp>
        <p:nvSpPr>
          <p:cNvPr id="73" name="Shape 64"/>
          <p:cNvSpPr/>
          <p:nvPr/>
        </p:nvSpPr>
        <p:spPr>
          <a:xfrm>
            <a:off x="298094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4" name="Text 65"/>
          <p:cNvSpPr/>
          <p:nvPr/>
        </p:nvSpPr>
        <p:spPr>
          <a:xfrm>
            <a:off x="310896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Fianzas y caución</a:t>
            </a:r>
            <a:endParaRPr lang="en-US" sz="870" dirty="0"/>
          </a:p>
        </p:txBody>
      </p:sp>
      <p:sp>
        <p:nvSpPr>
          <p:cNvPr id="75" name="Shape 66"/>
          <p:cNvSpPr/>
          <p:nvPr/>
        </p:nvSpPr>
        <p:spPr>
          <a:xfrm>
            <a:off x="493776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76" name="Shape 67"/>
          <p:cNvSpPr/>
          <p:nvPr/>
        </p:nvSpPr>
        <p:spPr>
          <a:xfrm>
            <a:off x="508406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7" name="Text 68"/>
          <p:cNvSpPr/>
          <p:nvPr/>
        </p:nvSpPr>
        <p:spPr>
          <a:xfrm>
            <a:off x="521208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Afores</a:t>
            </a:r>
            <a:endParaRPr lang="en-US" sz="870" dirty="0"/>
          </a:p>
        </p:txBody>
      </p:sp>
      <p:sp>
        <p:nvSpPr>
          <p:cNvPr id="78" name="Shape 69"/>
          <p:cNvSpPr/>
          <p:nvPr/>
        </p:nvSpPr>
        <p:spPr>
          <a:xfrm>
            <a:off x="508406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9" name="Text 70"/>
          <p:cNvSpPr/>
          <p:nvPr/>
        </p:nvSpPr>
        <p:spPr>
          <a:xfrm>
            <a:off x="521208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Siefores generacionales</a:t>
            </a:r>
            <a:endParaRPr lang="en-US" sz="870" dirty="0"/>
          </a:p>
        </p:txBody>
      </p:sp>
      <p:sp>
        <p:nvSpPr>
          <p:cNvPr id="80" name="Text 71"/>
          <p:cNvSpPr/>
          <p:nvPr/>
        </p:nvSpPr>
        <p:spPr>
          <a:xfrm>
            <a:off x="704088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seguro de depósito bancario de las instituciones que supervisa la CNBV.</a:t>
            </a:r>
            <a:endParaRPr lang="en-US" sz="830" dirty="0"/>
          </a:p>
        </p:txBody>
      </p:sp>
      <p:sp>
        <p:nvSpPr>
          <p:cNvPr id="81" name="Text 72"/>
          <p:cNvSpPr/>
          <p:nvPr/>
        </p:nvSpPr>
        <p:spPr>
          <a:xfrm>
            <a:off x="914400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al usuario ante bancos, aseguradoras, Afores y demás entidades del sistema.</a:t>
            </a:r>
            <a:endParaRPr lang="en-US" sz="830" dirty="0"/>
          </a:p>
        </p:txBody>
      </p:sp>
      <p:sp>
        <p:nvSpPr>
          <p:cNvPr id="82" name="Shape 73"/>
          <p:cNvSpPr/>
          <p:nvPr/>
        </p:nvSpPr>
        <p:spPr>
          <a:xfrm>
            <a:off x="640080" y="5980176"/>
            <a:ext cx="365760" cy="0"/>
          </a:xfrm>
          <a:prstGeom prst="line">
            <a:avLst/>
          </a:prstGeom>
          <a:noFill/>
          <a:ln w="19050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83" name="Text 74"/>
          <p:cNvSpPr/>
          <p:nvPr/>
        </p:nvSpPr>
        <p:spPr>
          <a:xfrm>
            <a:off x="1078992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/ sectorización (SHCP)</a:t>
            </a:r>
            <a:endParaRPr lang="en-US" sz="850" dirty="0"/>
          </a:p>
        </p:txBody>
      </p:sp>
      <p:sp>
        <p:nvSpPr>
          <p:cNvPr id="84" name="Shape 75"/>
          <p:cNvSpPr/>
          <p:nvPr/>
        </p:nvSpPr>
        <p:spPr>
          <a:xfrm>
            <a:off x="4416552" y="5980176"/>
            <a:ext cx="3657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85" name="Text 76"/>
          <p:cNvSpPr/>
          <p:nvPr/>
        </p:nvSpPr>
        <p:spPr>
          <a:xfrm>
            <a:off x="4855464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entre autoridades autónomas</a:t>
            </a:r>
            <a:endParaRPr lang="en-US" sz="850" dirty="0"/>
          </a:p>
        </p:txBody>
      </p:sp>
      <p:sp>
        <p:nvSpPr>
          <p:cNvPr id="86" name="Shape 77"/>
          <p:cNvSpPr/>
          <p:nvPr/>
        </p:nvSpPr>
        <p:spPr>
          <a:xfrm>
            <a:off x="8193024" y="5980176"/>
            <a:ext cx="365760" cy="0"/>
          </a:xfrm>
          <a:prstGeom prst="line">
            <a:avLst/>
          </a:prstGeom>
          <a:noFill/>
          <a:ln w="1905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87" name="Text 78"/>
          <p:cNvSpPr/>
          <p:nvPr/>
        </p:nvSpPr>
        <p:spPr>
          <a:xfrm>
            <a:off x="8631936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funcional (garantía, protección)</a:t>
            </a:r>
            <a:endParaRPr lang="en-US" sz="850" dirty="0"/>
          </a:p>
        </p:txBody>
      </p:sp>
      <p:sp>
        <p:nvSpPr>
          <p:cNvPr id="88" name="Text 79"/>
          <p:cNvSpPr/>
          <p:nvPr/>
        </p:nvSpPr>
        <p:spPr>
          <a:xfrm>
            <a:off x="640080" y="618134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SHCP: Secretaría de Hacienda y Crédito Público · Banxico: Banco de México · CNBV: Comisión Nacional Bancaria y de Valores · CNSF: Comisión Nacional de Seguros y Fianzas · Consar: Comisión Nacional del Sistema de Ahorro para el Retiro · IPAB: Instituto para la Protección al Ahorro Bancario · Condusef: Comisión Nacional para la Protección y Defensa de los Usuarios de Servicios Financieros · CESF: Consejo de Estabilidad del Sistema Financiero</a:t>
            </a:r>
            <a:endParaRPr lang="en-US" sz="750" dirty="0"/>
          </a:p>
        </p:txBody>
      </p:sp>
      <p:sp>
        <p:nvSpPr>
          <p:cNvPr id="89" name="Text 80"/>
          <p:cNvSpPr/>
          <p:nvPr/>
        </p:nvSpPr>
        <p:spPr>
          <a:xfrm>
            <a:off x="640080" y="658368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 a partir de la organización oficial del Sistema Financiero Mexicano.</a:t>
            </a:r>
            <a:endParaRPr lang="en-US" sz="850" dirty="0"/>
          </a:p>
        </p:txBody>
      </p:sp>
      <p:sp>
        <p:nvSpPr>
          <p:cNvPr id="90" name="Text 8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Banxico Educa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Infografías y explicaciones sobre "¿Qué es el Sistema Financiero?", ideales para repaso.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Catálogo del Sistema Financiero Mexicano (SHCP)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Registro oficial de la estructura de autoridades e intermediarios regulados.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8036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Portal CNBV — Sectores Supervisados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Esquemas gráficos descargables.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288036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Portal CONDUSEF — Educación Financiera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Material gráfico y casos reales de protección al usuario financiero.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ESTRUCTURA DEL SFM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xfrm>
            <a:off x="822960" y="6172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Matemática Financiera y Mecánica del Mercado.</a:t>
            </a:r>
            <a:endParaRPr lang="en-US" sz="1150"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187451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SFM se organiza en tres niveles: reguladores (SHCP, Banxico) diseñan la política; supervisores (CNBV, CNSF, Consar) vigilan cada sector; apoyo y protección (IPAB, CONDUSEF) respaldan al usuario.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3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Banxico es autónomo —no depende de la SHCP— y coordina con ella vía el CESF.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La CNBV concentra la supervisión más amplia: banca, mercado de valores, Fintech, ahorro popular y auxiliares de crédito.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7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IPAB y CONDUSEF se relacionan funcionalmente con los supervisores (p. ej., IPAB garantiza los depósitos que regula la CNBV).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2026-08-13T01:37:27Z</dcterms:created>
  <dcterms:modified xsi:type="dcterms:W3CDTF">2026-08-13T01:37:27Z</dcterms:modified>
</cp:coreProperties>
</file>