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9600000" y="-1400000"/>
            <a:ext cx="4200000" cy="42000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200000" y="4300000"/>
            <a:ext cx="3200000" cy="32000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50000"/>
            <a:ext cx="10911840" cy="320040"/>
          </a:xfrm>
          <a:prstGeom prst="rect">
            <a:avLst/>
          </a:prstGeom>
          <a:noFill/>
        </p:spPr>
        <p:txBody>
          <a:bodyPr wrap="square" lIns="0" rIns="0" tIns="0" bIns="0">
            <a:spAutoFit/>
          </a:bodyPr>
          <a:lstStyle/>
          <a:p>
            <a:pPr algn="l"/>
            <a:r>
              <a:rPr sz="1300" b="1" i="0">
                <a:solidFill>
                  <a:srgbClr val="C9A227"/>
                </a:solidFill>
                <a:latin typeface="Calibri"/>
              </a:rPr>
              <a:t>MERCADOS DE DEUDA Y CAPITALES</a:t>
            </a:r>
          </a:p>
        </p:txBody>
      </p:sp>
      <p:sp>
        <p:nvSpPr>
          <p:cNvPr id="5" name="TextBox 4"/>
          <p:cNvSpPr txBox="1"/>
          <p:nvPr/>
        </p:nvSpPr>
        <p:spPr>
          <a:xfrm>
            <a:off x="640080" y="2050000"/>
            <a:ext cx="9200000" cy="620000"/>
          </a:xfrm>
          <a:prstGeom prst="rect">
            <a:avLst/>
          </a:prstGeom>
          <a:noFill/>
        </p:spPr>
        <p:txBody>
          <a:bodyPr wrap="square" lIns="0" rIns="0" tIns="0" bIns="0">
            <a:spAutoFit/>
          </a:bodyPr>
          <a:lstStyle/>
          <a:p>
            <a:pPr algn="l"/>
            <a:r>
              <a:rPr sz="4000" b="1" i="0">
                <a:solidFill>
                  <a:srgbClr val="1E2761"/>
                </a:solidFill>
                <a:latin typeface="Cambria"/>
              </a:rPr>
              <a:t>Emisor del Activo Financiero</a:t>
            </a:r>
          </a:p>
        </p:txBody>
      </p:sp>
      <p:sp>
        <p:nvSpPr>
          <p:cNvPr id="6" name="TextBox 5"/>
          <p:cNvSpPr txBox="1"/>
          <p:nvPr/>
        </p:nvSpPr>
        <p:spPr>
          <a:xfrm>
            <a:off x="640080" y="2790000"/>
            <a:ext cx="9200000" cy="400000"/>
          </a:xfrm>
          <a:prstGeom prst="rect">
            <a:avLst/>
          </a:prstGeom>
          <a:noFill/>
        </p:spPr>
        <p:txBody>
          <a:bodyPr wrap="square" lIns="0" rIns="0" tIns="0" bIns="0">
            <a:spAutoFit/>
          </a:bodyPr>
          <a:lstStyle/>
          <a:p>
            <a:pPr algn="l"/>
            <a:r>
              <a:rPr sz="1300" b="0" i="1">
                <a:solidFill>
                  <a:srgbClr val="5B6482"/>
                </a:solidFill>
                <a:latin typeface="Calibri"/>
              </a:rPr>
              <a:t>Mercados de Deuda y Capitales, Licenciatura en Comercio y Finanzas Internacionales, Universidad Autónoma de Zacatecas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840" cy="320040"/>
          </a:xfrm>
          <a:prstGeom prst="rect">
            <a:avLst/>
          </a:prstGeom>
          <a:noFill/>
        </p:spPr>
        <p:txBody>
          <a:bodyPr wrap="square" lIns="0" rIns="0" tIns="0" bIns="0">
            <a:spAutoFit/>
          </a:bodyPr>
          <a:lstStyle/>
          <a:p>
            <a:pPr algn="l"/>
            <a:r>
              <a:rPr sz="1200" b="1" i="0" spc="150">
                <a:solidFill>
                  <a:srgbClr val="C9A227"/>
                </a:solidFill>
                <a:latin typeface="Calibri"/>
              </a:rPr>
              <a:t>EMISOR DEL ACTIVO FINANCIERO</a:t>
            </a:r>
          </a:p>
        </p:txBody>
      </p:sp>
      <p:sp>
        <p:nvSpPr>
          <p:cNvPr id="3" name="TextBox 2"/>
          <p:cNvSpPr txBox="1"/>
          <p:nvPr/>
        </p:nvSpPr>
        <p:spPr>
          <a:xfrm>
            <a:off x="640080" y="749808"/>
            <a:ext cx="10911840" cy="700000"/>
          </a:xfrm>
          <a:prstGeom prst="rect">
            <a:avLst/>
          </a:prstGeom>
          <a:noFill/>
        </p:spPr>
        <p:txBody>
          <a:bodyPr wrap="square" lIns="0" rIns="0" tIns="0" bIns="0">
            <a:spAutoFit/>
          </a:bodyPr>
          <a:lstStyle/>
          <a:p>
            <a:pPr algn="l"/>
            <a:r>
              <a:rPr sz="3200" b="1" i="0">
                <a:solidFill>
                  <a:srgbClr val="1E2761"/>
                </a:solidFill>
                <a:latin typeface="Cambria"/>
              </a:rPr>
              <a:t>Objetivo de la unidad</a:t>
            </a:r>
          </a:p>
        </p:txBody>
      </p:sp>
      <p:sp>
        <p:nvSpPr>
          <p:cNvPr id="4" name="TextBox 3"/>
          <p:cNvSpPr txBox="1"/>
          <p:nvPr/>
        </p:nvSpPr>
        <p:spPr>
          <a:xfrm>
            <a:off x="11003280" y="6446520"/>
            <a:ext cx="548640" cy="274320"/>
          </a:xfrm>
          <a:prstGeom prst="rect">
            <a:avLst/>
          </a:prstGeom>
          <a:noFill/>
        </p:spPr>
        <p:txBody>
          <a:bodyPr wrap="square" lIns="0" rIns="0" tIns="0" bIns="0">
            <a:spAutoFit/>
          </a:bodyPr>
          <a:lstStyle/>
          <a:p>
            <a:pPr algn="r"/>
            <a:r>
              <a:rPr sz="1000" b="0" i="0">
                <a:solidFill>
                  <a:srgbClr val="A6ADC7"/>
                </a:solidFill>
                <a:latin typeface="Calibri"/>
              </a:rPr>
              <a:t>02</a:t>
            </a:r>
          </a:p>
        </p:txBody>
      </p:sp>
      <p:sp>
        <p:nvSpPr>
          <p:cNvPr id="5" name="Rounded Rectangle 4"/>
          <p:cNvSpPr/>
          <p:nvPr/>
        </p:nvSpPr>
        <p:spPr>
          <a:xfrm>
            <a:off x="640080" y="2743200"/>
            <a:ext cx="10881360" cy="1262000"/>
          </a:xfrm>
          <a:prstGeom prst="roundRect">
            <a:avLst>
              <a:gd name="adj" fmla="val 4000"/>
            </a:avLst>
          </a:prstGeom>
          <a:solidFill>
            <a:srgbClr val="F2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943200"/>
            <a:ext cx="10058400" cy="862000"/>
          </a:xfrm>
          <a:prstGeom prst="rect">
            <a:avLst/>
          </a:prstGeom>
          <a:noFill/>
        </p:spPr>
        <p:txBody>
          <a:bodyPr wrap="square" lIns="0" rIns="0" tIns="0" bIns="0" anchor="ctr">
            <a:spAutoFit/>
          </a:bodyPr>
          <a:lstStyle/>
          <a:p>
            <a:pPr algn="l"/>
            <a:r>
              <a:rPr sz="2000" b="0" i="0">
                <a:solidFill>
                  <a:srgbClr val="27314D"/>
                </a:solidFill>
                <a:latin typeface="Cambria"/>
              </a:rPr>
              <a:t>Que el estudiante clasifique un activo financiero según quién lo emite: deuda directa, deuda indirecta o participación de capital.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749808"/>
            <a:ext cx="10911840" cy="700000"/>
          </a:xfrm>
          <a:prstGeom prst="rect">
            <a:avLst/>
          </a:prstGeom>
          <a:noFill/>
        </p:spPr>
        <p:txBody>
          <a:bodyPr wrap="square" lIns="0" rIns="0" tIns="0" bIns="0">
            <a:spAutoFit/>
          </a:bodyPr>
          <a:lstStyle/>
          <a:p>
            <a:pPr algn="l"/>
            <a:r>
              <a:rPr sz="3200" b="1" i="0">
                <a:solidFill>
                  <a:srgbClr val="1E2761"/>
                </a:solidFill>
                <a:latin typeface="Cambria"/>
              </a:rPr>
              <a:t>Tabla de contenido</a:t>
            </a:r>
          </a:p>
        </p:txBody>
      </p:sp>
      <p:sp>
        <p:nvSpPr>
          <p:cNvPr id="3" name="TextBox 2"/>
          <p:cNvSpPr txBox="1"/>
          <p:nvPr/>
        </p:nvSpPr>
        <p:spPr>
          <a:xfrm>
            <a:off x="11003280" y="6446520"/>
            <a:ext cx="548640" cy="274320"/>
          </a:xfrm>
          <a:prstGeom prst="rect">
            <a:avLst/>
          </a:prstGeom>
          <a:noFill/>
        </p:spPr>
        <p:txBody>
          <a:bodyPr wrap="square" lIns="0" rIns="0" tIns="0" bIns="0">
            <a:spAutoFit/>
          </a:bodyPr>
          <a:lstStyle/>
          <a:p>
            <a:pPr algn="r"/>
            <a:r>
              <a:rPr sz="1000" b="0" i="0">
                <a:solidFill>
                  <a:srgbClr val="A6ADC7"/>
                </a:solidFill>
                <a:latin typeface="Calibri"/>
              </a:rPr>
              <a:t>03</a:t>
            </a:r>
          </a:p>
        </p:txBody>
      </p:sp>
      <p:sp>
        <p:nvSpPr>
          <p:cNvPr id="4" name="TextBox 3"/>
          <p:cNvSpPr txBox="1"/>
          <p:nvPr/>
        </p:nvSpPr>
        <p:spPr>
          <a:xfrm>
            <a:off x="640080" y="1900000"/>
            <a:ext cx="700000" cy="400000"/>
          </a:xfrm>
          <a:prstGeom prst="rect">
            <a:avLst/>
          </a:prstGeom>
          <a:noFill/>
        </p:spPr>
        <p:txBody>
          <a:bodyPr wrap="square" lIns="0" rIns="0" tIns="0" bIns="0">
            <a:spAutoFit/>
          </a:bodyPr>
          <a:lstStyle/>
          <a:p>
            <a:pPr algn="l"/>
            <a:r>
              <a:rPr sz="1500" b="1" i="0">
                <a:solidFill>
                  <a:srgbClr val="C9A227"/>
                </a:solidFill>
                <a:latin typeface="Cambria"/>
              </a:rPr>
              <a:t>I.</a:t>
            </a:r>
          </a:p>
        </p:txBody>
      </p:sp>
      <p:sp>
        <p:nvSpPr>
          <p:cNvPr id="5" name="TextBox 4"/>
          <p:cNvSpPr txBox="1"/>
          <p:nvPr/>
        </p:nvSpPr>
        <p:spPr>
          <a:xfrm>
            <a:off x="1390080" y="1900000"/>
            <a:ext cx="8600000" cy="400000"/>
          </a:xfrm>
          <a:prstGeom prst="rect">
            <a:avLst/>
          </a:prstGeom>
          <a:noFill/>
        </p:spPr>
        <p:txBody>
          <a:bodyPr wrap="square" lIns="0" rIns="0" tIns="0" bIns="0">
            <a:spAutoFit/>
          </a:bodyPr>
          <a:lstStyle/>
          <a:p>
            <a:pPr algn="l"/>
            <a:r>
              <a:rPr sz="1500" b="1" i="0">
                <a:solidFill>
                  <a:srgbClr val="1E2761"/>
                </a:solidFill>
                <a:latin typeface="Cambria"/>
              </a:rPr>
              <a:t>Emisor del activo financiero</a:t>
            </a:r>
          </a:p>
        </p:txBody>
      </p:sp>
      <p:sp>
        <p:nvSpPr>
          <p:cNvPr id="6" name="TextBox 5"/>
          <p:cNvSpPr txBox="1"/>
          <p:nvPr/>
        </p:nvSpPr>
        <p:spPr>
          <a:xfrm>
            <a:off x="1390080" y="2230000"/>
            <a:ext cx="8600000" cy="300000"/>
          </a:xfrm>
          <a:prstGeom prst="rect">
            <a:avLst/>
          </a:prstGeom>
          <a:noFill/>
        </p:spPr>
        <p:txBody>
          <a:bodyPr wrap="square" lIns="0" rIns="0" tIns="0" bIns="0">
            <a:spAutoFit/>
          </a:bodyPr>
          <a:lstStyle/>
          <a:p>
            <a:pPr algn="l"/>
            <a:r>
              <a:rPr sz="1050" b="0" i="0">
                <a:solidFill>
                  <a:srgbClr val="5B6482"/>
                </a:solidFill>
                <a:latin typeface="Calibri"/>
              </a:rPr>
              <a:t>Deuda directa, deuda indirecta y participación de capital, según el emisor</a:t>
            </a:r>
          </a:p>
        </p:txBody>
      </p:sp>
      <p:sp>
        <p:nvSpPr>
          <p:cNvPr id="7" name="TextBox 6"/>
          <p:cNvSpPr txBox="1"/>
          <p:nvPr/>
        </p:nvSpPr>
        <p:spPr>
          <a:xfrm>
            <a:off x="10351920" y="1900000"/>
            <a:ext cx="1200000" cy="400000"/>
          </a:xfrm>
          <a:prstGeom prst="rect">
            <a:avLst/>
          </a:prstGeom>
          <a:noFill/>
        </p:spPr>
        <p:txBody>
          <a:bodyPr wrap="square" lIns="0" rIns="0" tIns="0" bIns="0">
            <a:spAutoFit/>
          </a:bodyPr>
          <a:lstStyle/>
          <a:p>
            <a:pPr algn="r"/>
            <a:r>
              <a:rPr sz="1100" b="0" i="0">
                <a:solidFill>
                  <a:srgbClr val="5B6482"/>
                </a:solidFill>
                <a:latin typeface="Calibri"/>
              </a:rPr>
              <a:t>PÁG. 04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840" cy="320040"/>
          </a:xfrm>
          <a:prstGeom prst="rect">
            <a:avLst/>
          </a:prstGeom>
          <a:noFill/>
        </p:spPr>
        <p:txBody>
          <a:bodyPr wrap="square" lIns="0" rIns="0" tIns="0" bIns="0">
            <a:spAutoFit/>
          </a:bodyPr>
          <a:lstStyle/>
          <a:p>
            <a:pPr algn="l"/>
            <a:r>
              <a:rPr sz="1200" b="1" i="0" spc="150">
                <a:solidFill>
                  <a:srgbClr val="C9A227"/>
                </a:solidFill>
                <a:latin typeface="Calibri"/>
              </a:rPr>
              <a:t>EMISOR DEL ACTIVO FINANCIERO</a:t>
            </a:r>
          </a:p>
        </p:txBody>
      </p:sp>
      <p:sp>
        <p:nvSpPr>
          <p:cNvPr id="3" name="TextBox 2"/>
          <p:cNvSpPr txBox="1"/>
          <p:nvPr/>
        </p:nvSpPr>
        <p:spPr>
          <a:xfrm>
            <a:off x="640080" y="749808"/>
            <a:ext cx="10911840" cy="700000"/>
          </a:xfrm>
          <a:prstGeom prst="rect">
            <a:avLst/>
          </a:prstGeom>
          <a:noFill/>
        </p:spPr>
        <p:txBody>
          <a:bodyPr wrap="square" lIns="0" rIns="0" tIns="0" bIns="0">
            <a:spAutoFit/>
          </a:bodyPr>
          <a:lstStyle/>
          <a:p>
            <a:pPr algn="l"/>
            <a:r>
              <a:rPr sz="3200" b="1" i="0">
                <a:solidFill>
                  <a:srgbClr val="1E2761"/>
                </a:solidFill>
                <a:latin typeface="Cambria"/>
              </a:rPr>
              <a:t>Emisor del activo financiero</a:t>
            </a:r>
          </a:p>
        </p:txBody>
      </p:sp>
      <p:sp>
        <p:nvSpPr>
          <p:cNvPr id="4" name="TextBox 3"/>
          <p:cNvSpPr txBox="1"/>
          <p:nvPr/>
        </p:nvSpPr>
        <p:spPr>
          <a:xfrm>
            <a:off x="11003280" y="6446520"/>
            <a:ext cx="548640" cy="274320"/>
          </a:xfrm>
          <a:prstGeom prst="rect">
            <a:avLst/>
          </a:prstGeom>
          <a:noFill/>
        </p:spPr>
        <p:txBody>
          <a:bodyPr wrap="square" lIns="0" rIns="0" tIns="0" bIns="0">
            <a:spAutoFit/>
          </a:bodyPr>
          <a:lstStyle/>
          <a:p>
            <a:pPr algn="r"/>
            <a:r>
              <a:rPr sz="1000" b="0" i="0">
                <a:solidFill>
                  <a:srgbClr val="A6ADC7"/>
                </a:solidFill>
                <a:latin typeface="Calibri"/>
              </a:rPr>
              <a:t>04</a:t>
            </a:r>
          </a:p>
        </p:txBody>
      </p:sp>
      <p:sp>
        <p:nvSpPr>
          <p:cNvPr id="5" name="TextBox 4"/>
          <p:cNvSpPr txBox="1"/>
          <p:nvPr/>
        </p:nvSpPr>
        <p:spPr>
          <a:xfrm>
            <a:off x="640080" y="1539808"/>
            <a:ext cx="10911840" cy="485168"/>
          </a:xfrm>
          <a:prstGeom prst="rect">
            <a:avLst/>
          </a:prstGeom>
          <a:noFill/>
        </p:spPr>
        <p:txBody>
          <a:bodyPr wrap="square" lIns="0" rIns="0" tIns="0" bIns="0">
            <a:spAutoFit/>
          </a:bodyPr>
          <a:lstStyle/>
          <a:p>
            <a:pPr algn="l"/>
            <a:r>
              <a:rPr sz="1400" b="0" i="0">
                <a:solidFill>
                  <a:srgbClr val="27314D"/>
                </a:solidFill>
                <a:latin typeface="Calibri"/>
              </a:rPr>
              <a:t>El título que recibe la unidad superavitaria a cambio de sus recursos es el activo financiero. Adopta una de tres formas, según quién emite la obligación y, en el caso de la deuda, según quién asume frente al inversionista el riesgo de que no se pague.</a:t>
            </a:r>
          </a:p>
        </p:txBody>
      </p:sp>
      <p:graphicFrame>
        <p:nvGraphicFramePr>
          <p:cNvPr id="6" name="Table 5"/>
          <p:cNvGraphicFramePr>
            <a:graphicFrameLocks noGrp="1"/>
          </p:cNvGraphicFramePr>
          <p:nvPr/>
        </p:nvGraphicFramePr>
        <p:xfrm>
          <a:off x="640080" y="2114976"/>
          <a:ext cx="10911840" cy="1913704"/>
        </p:xfrm>
        <a:graphic>
          <a:graphicData uri="http://schemas.openxmlformats.org/drawingml/2006/table">
            <a:tbl>
              <a:tblPr>
                <a:tableStyleId>{2D5ABB26-0587-4C30-8999-92F81FD0307C}</a:tableStyleId>
              </a:tblPr>
              <a:tblGrid>
                <a:gridCol w="841788"/>
                <a:gridCol w="1039245"/>
                <a:gridCol w="4350332"/>
                <a:gridCol w="2996895"/>
                <a:gridCol w="841788"/>
                <a:gridCol w="841792"/>
              </a:tblGrid>
              <a:tr h="285640">
                <a:tc>
                  <a:txBody>
                    <a:bodyPr wrap="square"/>
                    <a:lstStyle/>
                    <a:p>
                      <a:pPr algn="l"/>
                      <a:r>
                        <a:rPr sz="950" b="1" i="0">
                          <a:solidFill>
                            <a:srgbClr val="FFFFFF"/>
                          </a:solidFill>
                          <a:latin typeface="Calibri"/>
                        </a:rPr>
                        <a:t>Tipo</a:t>
                      </a:r>
                    </a:p>
                  </a:txBody>
                  <a:tcPr marL="54864" marR="54864" marT="27432" marB="27432" anchor="ctr">
                    <a:solidFill>
                      <a:srgbClr val="1E2761"/>
                    </a:solidFill>
                  </a:tcPr>
                </a:tc>
                <a:tc>
                  <a:txBody>
                    <a:bodyPr wrap="square"/>
                    <a:lstStyle/>
                    <a:p>
                      <a:pPr algn="l"/>
                      <a:r>
                        <a:rPr sz="950" b="1" i="0">
                          <a:solidFill>
                            <a:srgbClr val="FFFFFF"/>
                          </a:solidFill>
                          <a:latin typeface="Calibri"/>
                        </a:rPr>
                        <a:t>Emisor</a:t>
                      </a:r>
                    </a:p>
                  </a:txBody>
                  <a:tcPr marL="54864" marR="54864" marT="27432" marB="27432" anchor="ctr">
                    <a:solidFill>
                      <a:srgbClr val="1E2761"/>
                    </a:solidFill>
                  </a:tcPr>
                </a:tc>
                <a:tc>
                  <a:txBody>
                    <a:bodyPr wrap="square"/>
                    <a:lstStyle/>
                    <a:p>
                      <a:pPr algn="l"/>
                      <a:r>
                        <a:rPr sz="950" b="1" i="0">
                          <a:solidFill>
                            <a:srgbClr val="FFFFFF"/>
                          </a:solidFill>
                          <a:latin typeface="Calibri"/>
                        </a:rPr>
                        <a:t>Descripción</a:t>
                      </a:r>
                    </a:p>
                  </a:txBody>
                  <a:tcPr marL="54864" marR="54864" marT="27432" marB="27432" anchor="ctr">
                    <a:solidFill>
                      <a:srgbClr val="1E2761"/>
                    </a:solidFill>
                  </a:tcPr>
                </a:tc>
                <a:tc>
                  <a:txBody>
                    <a:bodyPr wrap="square"/>
                    <a:lstStyle/>
                    <a:p>
                      <a:pPr algn="l"/>
                      <a:r>
                        <a:rPr sz="950" b="1" i="0">
                          <a:solidFill>
                            <a:srgbClr val="FFFFFF"/>
                          </a:solidFill>
                          <a:latin typeface="Calibri"/>
                        </a:rPr>
                        <a:t>Ejemplos</a:t>
                      </a:r>
                    </a:p>
                  </a:txBody>
                  <a:tcPr marL="54864" marR="54864" marT="27432" marB="27432" anchor="ctr">
                    <a:solidFill>
                      <a:srgbClr val="1E2761"/>
                    </a:solidFill>
                  </a:tcPr>
                </a:tc>
                <a:tc>
                  <a:txBody>
                    <a:bodyPr wrap="square"/>
                    <a:lstStyle/>
                    <a:p>
                      <a:pPr algn="l"/>
                      <a:r>
                        <a:rPr sz="950" b="1" i="0">
                          <a:solidFill>
                            <a:srgbClr val="FFFFFF"/>
                          </a:solidFill>
                          <a:latin typeface="Calibri"/>
                        </a:rPr>
                        <a:t>Riesgo</a:t>
                      </a:r>
                    </a:p>
                  </a:txBody>
                  <a:tcPr marL="54864" marR="54864" marT="27432" marB="27432" anchor="ctr">
                    <a:solidFill>
                      <a:srgbClr val="1E2761"/>
                    </a:solidFill>
                  </a:tcPr>
                </a:tc>
                <a:tc>
                  <a:txBody>
                    <a:bodyPr wrap="square"/>
                    <a:lstStyle/>
                    <a:p>
                      <a:pPr algn="l"/>
                      <a:r>
                        <a:rPr sz="950" b="1" i="0">
                          <a:solidFill>
                            <a:srgbClr val="FFFFFF"/>
                          </a:solidFill>
                          <a:latin typeface="Calibri"/>
                        </a:rPr>
                        <a:t>Liquidez</a:t>
                      </a:r>
                    </a:p>
                  </a:txBody>
                  <a:tcPr marL="54864" marR="54864" marT="27432" marB="27432" anchor="ctr">
                    <a:solidFill>
                      <a:srgbClr val="1E2761"/>
                    </a:solidFill>
                  </a:tcPr>
                </a:tc>
              </a:tr>
              <a:tr h="595774">
                <a:tc>
                  <a:txBody>
                    <a:bodyPr wrap="square"/>
                    <a:lstStyle/>
                    <a:p>
                      <a:pPr algn="l"/>
                      <a:r>
                        <a:rPr sz="950" b="0" i="0">
                          <a:solidFill>
                            <a:srgbClr val="27314D"/>
                          </a:solidFill>
                          <a:latin typeface="Calibri"/>
                        </a:rPr>
                        <a:t>Deuda directa</a:t>
                      </a:r>
                    </a:p>
                  </a:txBody>
                  <a:tcPr marL="54864" marR="54864" marT="27432" marB="27432" anchor="ctr">
                    <a:solidFill>
                      <a:srgbClr val="FFFFFF"/>
                    </a:solidFill>
                  </a:tcPr>
                </a:tc>
                <a:tc>
                  <a:txBody>
                    <a:bodyPr wrap="square"/>
                    <a:lstStyle/>
                    <a:p>
                      <a:pPr algn="l"/>
                      <a:r>
                        <a:rPr sz="950" b="0" i="0">
                          <a:solidFill>
                            <a:srgbClr val="27314D"/>
                          </a:solidFill>
                          <a:latin typeface="Calibri"/>
                        </a:rPr>
                        <a:t>El propio deudor final (empresa o gobierno)</a:t>
                      </a:r>
                    </a:p>
                  </a:txBody>
                  <a:tcPr marL="54864" marR="54864" marT="27432" marB="27432" anchor="ctr">
                    <a:solidFill>
                      <a:srgbClr val="FFFFFF"/>
                    </a:solidFill>
                  </a:tcPr>
                </a:tc>
                <a:tc>
                  <a:txBody>
                    <a:bodyPr wrap="square"/>
                    <a:lstStyle/>
                    <a:p>
                      <a:pPr algn="l"/>
                      <a:r>
                        <a:rPr sz="950" b="0" i="0">
                          <a:solidFill>
                            <a:srgbClr val="27314D"/>
                          </a:solidFill>
                          <a:latin typeface="Calibri"/>
                        </a:rPr>
                        <a:t>El deudor que necesita los recursos coloca su propio título directamente con el inversionista, quien asume el riesgo de crédito frente a ese emisor, sin intermediario de por medio.</a:t>
                      </a:r>
                    </a:p>
                  </a:txBody>
                  <a:tcPr marL="54864" marR="54864" marT="27432" marB="27432" anchor="ctr">
                    <a:solidFill>
                      <a:srgbClr val="FFFFFF"/>
                    </a:solidFill>
                  </a:tcPr>
                </a:tc>
                <a:tc>
                  <a:txBody>
                    <a:bodyPr wrap="square"/>
                    <a:lstStyle/>
                    <a:p>
                      <a:pPr algn="l"/>
                      <a:r>
                        <a:rPr sz="950" b="0" i="0">
                          <a:solidFill>
                            <a:srgbClr val="27314D"/>
                          </a:solidFill>
                          <a:latin typeface="Calibri"/>
                        </a:rPr>
                        <a:t>CETE, Bono gubernamental (Bono M, UDIBONO), Bono corporativo, Papel comercial, Certificado bursátil</a:t>
                      </a:r>
                    </a:p>
                  </a:txBody>
                  <a:tcPr marL="54864" marR="54864" marT="27432" marB="27432" anchor="ctr">
                    <a:solidFill>
                      <a:srgbClr val="FFFFFF"/>
                    </a:solidFill>
                  </a:tcPr>
                </a:tc>
                <a:tc>
                  <a:txBody>
                    <a:bodyPr wrap="square"/>
                    <a:lstStyle/>
                    <a:p>
                      <a:pPr algn="l"/>
                      <a:r>
                        <a:rPr sz="950" b="0" i="0">
                          <a:solidFill>
                            <a:srgbClr val="27314D"/>
                          </a:solidFill>
                          <a:latin typeface="Calibri"/>
                        </a:rPr>
                        <a:t>Variable</a:t>
                      </a:r>
                    </a:p>
                  </a:txBody>
                  <a:tcPr marL="54864" marR="54864" marT="27432" marB="27432" anchor="ctr">
                    <a:solidFill>
                      <a:srgbClr val="FFFFFF"/>
                    </a:solidFill>
                  </a:tcPr>
                </a:tc>
                <a:tc>
                  <a:txBody>
                    <a:bodyPr wrap="square"/>
                    <a:lstStyle/>
                    <a:p>
                      <a:pPr algn="l"/>
                      <a:r>
                        <a:rPr sz="950" b="0" i="0">
                          <a:solidFill>
                            <a:srgbClr val="27314D"/>
                          </a:solidFill>
                          <a:latin typeface="Calibri"/>
                        </a:rPr>
                        <a:t>Media</a:t>
                      </a:r>
                    </a:p>
                  </a:txBody>
                  <a:tcPr marL="54864" marR="54864" marT="27432" marB="27432" anchor="ctr">
                    <a:solidFill>
                      <a:srgbClr val="FFFFFF"/>
                    </a:solidFill>
                  </a:tcPr>
                </a:tc>
              </a:tr>
              <a:tr h="595774">
                <a:tc>
                  <a:txBody>
                    <a:bodyPr wrap="square"/>
                    <a:lstStyle/>
                    <a:p>
                      <a:pPr algn="l"/>
                      <a:r>
                        <a:rPr sz="950" b="0" i="0">
                          <a:solidFill>
                            <a:srgbClr val="27314D"/>
                          </a:solidFill>
                          <a:latin typeface="Calibri"/>
                        </a:rPr>
                        <a:t>Deuda indirecta</a:t>
                      </a:r>
                    </a:p>
                  </a:txBody>
                  <a:tcPr marL="54864" marR="54864" marT="27432" marB="27432" anchor="ctr">
                    <a:solidFill>
                      <a:srgbClr val="F2F4FA"/>
                    </a:solidFill>
                  </a:tcPr>
                </a:tc>
                <a:tc>
                  <a:txBody>
                    <a:bodyPr wrap="square"/>
                    <a:lstStyle/>
                    <a:p>
                      <a:pPr algn="l"/>
                      <a:r>
                        <a:rPr sz="950" b="0" i="0">
                          <a:solidFill>
                            <a:srgbClr val="27314D"/>
                          </a:solidFill>
                          <a:latin typeface="Calibri"/>
                        </a:rPr>
                        <a:t>Institución financiera (intermediario)</a:t>
                      </a:r>
                    </a:p>
                  </a:txBody>
                  <a:tcPr marL="54864" marR="54864" marT="27432" marB="27432" anchor="ctr">
                    <a:solidFill>
                      <a:srgbClr val="F2F4FA"/>
                    </a:solidFill>
                  </a:tcPr>
                </a:tc>
                <a:tc>
                  <a:txBody>
                    <a:bodyPr wrap="square"/>
                    <a:lstStyle/>
                    <a:p>
                      <a:pPr algn="l"/>
                      <a:r>
                        <a:rPr sz="950" b="0" i="0">
                          <a:solidFill>
                            <a:srgbClr val="27314D"/>
                          </a:solidFill>
                          <a:latin typeface="Calibri"/>
                        </a:rPr>
                        <a:t>El intermediario capta recursos emitiendo una obligación propia y es él (no el deudor final al que luego presta) quien asume el riesgo de crédito frente al inversionista.</a:t>
                      </a:r>
                    </a:p>
                  </a:txBody>
                  <a:tcPr marL="54864" marR="54864" marT="27432" marB="27432" anchor="ctr">
                    <a:solidFill>
                      <a:srgbClr val="F2F4FA"/>
                    </a:solidFill>
                  </a:tcPr>
                </a:tc>
                <a:tc>
                  <a:txBody>
                    <a:bodyPr wrap="square"/>
                    <a:lstStyle/>
                    <a:p>
                      <a:pPr algn="l"/>
                      <a:r>
                        <a:rPr sz="950" b="0" i="0">
                          <a:solidFill>
                            <a:srgbClr val="27314D"/>
                          </a:solidFill>
                          <a:latin typeface="Calibri"/>
                        </a:rPr>
                        <a:t>Pagarés bancarios, certificados de depósito, cuenta de ahorro / depósito a plazo, crédito hipotecario (visto desde el banco)</a:t>
                      </a:r>
                    </a:p>
                  </a:txBody>
                  <a:tcPr marL="54864" marR="54864" marT="27432" marB="27432" anchor="ctr">
                    <a:solidFill>
                      <a:srgbClr val="F2F4FA"/>
                    </a:solidFill>
                  </a:tcPr>
                </a:tc>
                <a:tc>
                  <a:txBody>
                    <a:bodyPr wrap="square"/>
                    <a:lstStyle/>
                    <a:p>
                      <a:pPr algn="l"/>
                      <a:r>
                        <a:rPr sz="950" b="0" i="0">
                          <a:solidFill>
                            <a:srgbClr val="27314D"/>
                          </a:solidFill>
                          <a:latin typeface="Calibri"/>
                        </a:rPr>
                        <a:t>Bajo</a:t>
                      </a:r>
                    </a:p>
                  </a:txBody>
                  <a:tcPr marL="54864" marR="54864" marT="27432" marB="27432" anchor="ctr">
                    <a:solidFill>
                      <a:srgbClr val="F2F4FA"/>
                    </a:solidFill>
                  </a:tcPr>
                </a:tc>
                <a:tc>
                  <a:txBody>
                    <a:bodyPr wrap="square"/>
                    <a:lstStyle/>
                    <a:p>
                      <a:pPr algn="l"/>
                      <a:r>
                        <a:rPr sz="950" b="0" i="0">
                          <a:solidFill>
                            <a:srgbClr val="27314D"/>
                          </a:solidFill>
                          <a:latin typeface="Calibri"/>
                        </a:rPr>
                        <a:t>Alta</a:t>
                      </a:r>
                    </a:p>
                  </a:txBody>
                  <a:tcPr marL="54864" marR="54864" marT="27432" marB="27432" anchor="ctr">
                    <a:solidFill>
                      <a:srgbClr val="F2F4FA"/>
                    </a:solidFill>
                  </a:tcPr>
                </a:tc>
              </a:tr>
              <a:tr h="436516">
                <a:tc>
                  <a:txBody>
                    <a:bodyPr wrap="square"/>
                    <a:lstStyle/>
                    <a:p>
                      <a:pPr algn="l"/>
                      <a:r>
                        <a:rPr sz="950" b="0" i="0">
                          <a:solidFill>
                            <a:srgbClr val="27314D"/>
                          </a:solidFill>
                          <a:latin typeface="Calibri"/>
                        </a:rPr>
                        <a:t>Participación de capital</a:t>
                      </a:r>
                    </a:p>
                  </a:txBody>
                  <a:tcPr marL="54864" marR="54864" marT="27432" marB="27432" anchor="ctr">
                    <a:solidFill>
                      <a:srgbClr val="FFFFFF"/>
                    </a:solidFill>
                  </a:tcPr>
                </a:tc>
                <a:tc>
                  <a:txBody>
                    <a:bodyPr wrap="square"/>
                    <a:lstStyle/>
                    <a:p>
                      <a:pPr algn="l"/>
                      <a:r>
                        <a:rPr sz="950" b="0" i="0">
                          <a:solidFill>
                            <a:srgbClr val="27314D"/>
                          </a:solidFill>
                          <a:latin typeface="Calibri"/>
                        </a:rPr>
                        <a:t>Empresa (acciones)</a:t>
                      </a:r>
                    </a:p>
                  </a:txBody>
                  <a:tcPr marL="54864" marR="54864" marT="27432" marB="27432" anchor="ctr">
                    <a:solidFill>
                      <a:srgbClr val="FFFFFF"/>
                    </a:solidFill>
                  </a:tcPr>
                </a:tc>
                <a:tc>
                  <a:txBody>
                    <a:bodyPr wrap="square"/>
                    <a:lstStyle/>
                    <a:p>
                      <a:pPr algn="l"/>
                      <a:r>
                        <a:rPr sz="950" b="0" i="0">
                          <a:solidFill>
                            <a:srgbClr val="27314D"/>
                          </a:solidFill>
                          <a:latin typeface="Calibri"/>
                        </a:rPr>
                        <a:t>Título que representa una parte del capital de la empresa y da derecho a sus utilidades.</a:t>
                      </a:r>
                    </a:p>
                  </a:txBody>
                  <a:tcPr marL="54864" marR="54864" marT="27432" marB="27432" anchor="ctr">
                    <a:solidFill>
                      <a:srgbClr val="FFFFFF"/>
                    </a:solidFill>
                  </a:tcPr>
                </a:tc>
                <a:tc>
                  <a:txBody>
                    <a:bodyPr wrap="square"/>
                    <a:lstStyle/>
                    <a:p>
                      <a:pPr algn="l"/>
                      <a:r>
                        <a:rPr sz="950" b="0" i="0">
                          <a:solidFill>
                            <a:srgbClr val="27314D"/>
                          </a:solidFill>
                          <a:latin typeface="Calibri"/>
                        </a:rPr>
                        <a:t>Acciones ordinarias y preferentes, FIBRAs, CKD, CERPI</a:t>
                      </a:r>
                    </a:p>
                  </a:txBody>
                  <a:tcPr marL="54864" marR="54864" marT="27432" marB="27432" anchor="ctr">
                    <a:solidFill>
                      <a:srgbClr val="FFFFFF"/>
                    </a:solidFill>
                  </a:tcPr>
                </a:tc>
                <a:tc>
                  <a:txBody>
                    <a:bodyPr wrap="square"/>
                    <a:lstStyle/>
                    <a:p>
                      <a:pPr algn="l"/>
                      <a:r>
                        <a:rPr sz="950" b="0" i="0">
                          <a:solidFill>
                            <a:srgbClr val="27314D"/>
                          </a:solidFill>
                          <a:latin typeface="Calibri"/>
                        </a:rPr>
                        <a:t>Alto</a:t>
                      </a:r>
                    </a:p>
                  </a:txBody>
                  <a:tcPr marL="54864" marR="54864" marT="27432" marB="27432" anchor="ctr">
                    <a:solidFill>
                      <a:srgbClr val="FFFFFF"/>
                    </a:solidFill>
                  </a:tcPr>
                </a:tc>
                <a:tc>
                  <a:txBody>
                    <a:bodyPr wrap="square"/>
                    <a:lstStyle/>
                    <a:p>
                      <a:pPr algn="l"/>
                      <a:r>
                        <a:rPr sz="950" b="0" i="0">
                          <a:solidFill>
                            <a:srgbClr val="27314D"/>
                          </a:solidFill>
                          <a:latin typeface="Calibri"/>
                        </a:rPr>
                        <a:t>Baja</a:t>
                      </a:r>
                    </a:p>
                  </a:txBody>
                  <a:tcPr marL="54864" marR="54864" marT="27432" marB="27432" anchor="ctr">
                    <a:solidFill>
                      <a:srgbClr val="FFFFFF"/>
                    </a:solidFill>
                  </a:tcPr>
                </a:tc>
              </a:tr>
            </a:tbl>
          </a:graphicData>
        </a:graphic>
      </p:graphicFrame>
      <p:sp>
        <p:nvSpPr>
          <p:cNvPr id="7" name="TextBox 6"/>
          <p:cNvSpPr txBox="1"/>
          <p:nvPr/>
        </p:nvSpPr>
        <p:spPr>
          <a:xfrm>
            <a:off x="640080" y="4118680"/>
            <a:ext cx="10911840" cy="712752"/>
          </a:xfrm>
          <a:prstGeom prst="rect">
            <a:avLst/>
          </a:prstGeom>
          <a:noFill/>
        </p:spPr>
        <p:txBody>
          <a:bodyPr wrap="square" lIns="0" rIns="0" tIns="0" bIns="0">
            <a:spAutoFit/>
          </a:bodyPr>
          <a:lstStyle/>
          <a:p>
            <a:pPr algn="l"/>
            <a:r>
              <a:rPr sz="1400" b="0" i="0">
                <a:solidFill>
                  <a:srgbClr val="27314D"/>
                </a:solidFill>
                <a:latin typeface="Calibri"/>
              </a:rPr>
              <a:t>Esta distinción es la misma que separa el </a:t>
            </a:r>
            <a:r>
              <a:rPr sz="1400" b="1" i="0">
                <a:solidFill>
                  <a:srgbClr val="27314D"/>
                </a:solidFill>
                <a:latin typeface="Calibri"/>
              </a:rPr>
              <a:t>crédito directo</a:t>
            </a:r>
            <a:r>
              <a:rPr sz="1400" b="0" i="0">
                <a:solidFill>
                  <a:srgbClr val="27314D"/>
                </a:solidFill>
                <a:latin typeface="Calibri"/>
              </a:rPr>
              <a:t> del </a:t>
            </a:r>
            <a:r>
              <a:rPr sz="1400" b="1" i="0">
                <a:solidFill>
                  <a:srgbClr val="27314D"/>
                </a:solidFill>
                <a:latin typeface="Calibri"/>
              </a:rPr>
              <a:t>crédito indirecto</a:t>
            </a:r>
            <a:r>
              <a:rPr sz="1400" b="0" i="0">
                <a:solidFill>
                  <a:srgbClr val="27314D"/>
                </a:solidFill>
                <a:latin typeface="Calibri"/>
              </a:rPr>
              <a:t> (intermediación bancaria) vista en </a:t>
            </a:r>
            <a:r>
              <a:rPr sz="1400" b="0" i="0">
                <a:solidFill>
                  <a:srgbClr val="27314D"/>
                </a:solidFill>
                <a:latin typeface="Consolas"/>
              </a:rPr>
              <a:t>1_intermediacion_financiera.md</a:t>
            </a:r>
            <a:r>
              <a:rPr sz="1400" b="0" i="0">
                <a:solidFill>
                  <a:srgbClr val="27314D"/>
                </a:solidFill>
                <a:latin typeface="Calibri"/>
              </a:rPr>
              <a:t>: lo que define a la deuda como directa o indirecta no es solo quién la emite formalmente, sino si ese emisor es el deudor final o un intermediario que se interpone y absorbe el riesgo por él.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840" cy="320040"/>
          </a:xfrm>
          <a:prstGeom prst="rect">
            <a:avLst/>
          </a:prstGeom>
          <a:noFill/>
        </p:spPr>
        <p:txBody>
          <a:bodyPr wrap="square" lIns="0" rIns="0" tIns="0" bIns="0">
            <a:spAutoFit/>
          </a:bodyPr>
          <a:lstStyle/>
          <a:p>
            <a:pPr algn="l"/>
            <a:r>
              <a:rPr sz="1200" b="1" i="0" spc="150">
                <a:solidFill>
                  <a:srgbClr val="C9A227"/>
                </a:solidFill>
                <a:latin typeface="Calibri"/>
              </a:rPr>
              <a:t>EMISOR DEL ACTIVO FINANCIERO</a:t>
            </a:r>
          </a:p>
        </p:txBody>
      </p:sp>
      <p:sp>
        <p:nvSpPr>
          <p:cNvPr id="3" name="TextBox 2"/>
          <p:cNvSpPr txBox="1"/>
          <p:nvPr/>
        </p:nvSpPr>
        <p:spPr>
          <a:xfrm>
            <a:off x="640080" y="749808"/>
            <a:ext cx="10911840" cy="700000"/>
          </a:xfrm>
          <a:prstGeom prst="rect">
            <a:avLst/>
          </a:prstGeom>
          <a:noFill/>
        </p:spPr>
        <p:txBody>
          <a:bodyPr wrap="square" lIns="0" rIns="0" tIns="0" bIns="0">
            <a:spAutoFit/>
          </a:bodyPr>
          <a:lstStyle/>
          <a:p>
            <a:pPr algn="l"/>
            <a:r>
              <a:rPr sz="3200" b="1" i="0">
                <a:solidFill>
                  <a:srgbClr val="1E2761"/>
                </a:solidFill>
                <a:latin typeface="Cambria"/>
              </a:rPr>
              <a:t>Emisor del activo financiero (cont.)</a:t>
            </a:r>
          </a:p>
        </p:txBody>
      </p:sp>
      <p:sp>
        <p:nvSpPr>
          <p:cNvPr id="4" name="TextBox 3"/>
          <p:cNvSpPr txBox="1"/>
          <p:nvPr/>
        </p:nvSpPr>
        <p:spPr>
          <a:xfrm>
            <a:off x="11003280" y="6446520"/>
            <a:ext cx="548640" cy="274320"/>
          </a:xfrm>
          <a:prstGeom prst="rect">
            <a:avLst/>
          </a:prstGeom>
          <a:noFill/>
        </p:spPr>
        <p:txBody>
          <a:bodyPr wrap="square" lIns="0" rIns="0" tIns="0" bIns="0">
            <a:spAutoFit/>
          </a:bodyPr>
          <a:lstStyle/>
          <a:p>
            <a:pPr algn="r"/>
            <a:r>
              <a:rPr sz="1000" b="0" i="0">
                <a:solidFill>
                  <a:srgbClr val="A6ADC7"/>
                </a:solidFill>
                <a:latin typeface="Calibri"/>
              </a:rPr>
              <a:t>05</a:t>
            </a:r>
          </a:p>
        </p:txBody>
      </p:sp>
      <p:sp>
        <p:nvSpPr>
          <p:cNvPr id="5" name="Rounded Rectangle 4"/>
          <p:cNvSpPr/>
          <p:nvPr/>
        </p:nvSpPr>
        <p:spPr>
          <a:xfrm>
            <a:off x="640080" y="1539808"/>
            <a:ext cx="10911840" cy="3779920"/>
          </a:xfrm>
          <a:prstGeom prst="roundRect">
            <a:avLst>
              <a:gd name="adj" fmla="val 5000"/>
            </a:avLst>
          </a:prstGeom>
          <a:solidFill>
            <a:srgbClr val="F2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539808"/>
            <a:ext cx="45720" cy="37799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0080" y="1679808"/>
            <a:ext cx="10551840" cy="452656"/>
          </a:xfrm>
          <a:prstGeom prst="rect">
            <a:avLst/>
          </a:prstGeom>
          <a:noFill/>
        </p:spPr>
        <p:txBody>
          <a:bodyPr wrap="square" lIns="0" rIns="0" tIns="0" bIns="0">
            <a:spAutoFit/>
          </a:bodyPr>
          <a:lstStyle/>
          <a:p>
            <a:pPr algn="l"/>
            <a:r>
              <a:rPr sz="1300" b="1" i="0">
                <a:solidFill>
                  <a:srgbClr val="1E2761"/>
                </a:solidFill>
                <a:latin typeface="Calibri"/>
              </a:rPr>
              <a:t>Ejemplo resuelto.</a:t>
            </a:r>
            <a:r>
              <a:rPr sz="1300" b="0" i="0">
                <a:solidFill>
                  <a:srgbClr val="1E2761"/>
                </a:solidFill>
                <a:latin typeface="Calibri"/>
              </a:rPr>
              <a:t> Clasificar un instrumento por emisor es preguntar quién firma la obligación, y si esa persona es el deudor final o un intermediario que se interpone y absorbe el riesgo por él.</a:t>
            </a:r>
          </a:p>
        </p:txBody>
      </p:sp>
      <p:sp>
        <p:nvSpPr>
          <p:cNvPr id="8" name="TextBox 7"/>
          <p:cNvSpPr txBox="1"/>
          <p:nvPr/>
        </p:nvSpPr>
        <p:spPr>
          <a:xfrm>
            <a:off x="820080" y="2172464"/>
            <a:ext cx="260000" cy="688984"/>
          </a:xfrm>
          <a:prstGeom prst="rect">
            <a:avLst/>
          </a:prstGeom>
          <a:noFill/>
        </p:spPr>
        <p:txBody>
          <a:bodyPr wrap="square" lIns="0" rIns="0" tIns="0" bIns="0">
            <a:spAutoFit/>
          </a:bodyPr>
          <a:lstStyle/>
          <a:p>
            <a:pPr algn="l"/>
            <a:r>
              <a:rPr sz="1300" b="1" i="0">
                <a:solidFill>
                  <a:srgbClr val="C9A227"/>
                </a:solidFill>
                <a:latin typeface="Calibri"/>
              </a:rPr>
              <a:t>•</a:t>
            </a:r>
          </a:p>
        </p:txBody>
      </p:sp>
      <p:sp>
        <p:nvSpPr>
          <p:cNvPr id="9" name="TextBox 8"/>
          <p:cNvSpPr txBox="1"/>
          <p:nvPr/>
        </p:nvSpPr>
        <p:spPr>
          <a:xfrm>
            <a:off x="1080080" y="2172464"/>
            <a:ext cx="10291840" cy="688984"/>
          </a:xfrm>
          <a:prstGeom prst="rect">
            <a:avLst/>
          </a:prstGeom>
          <a:noFill/>
        </p:spPr>
        <p:txBody>
          <a:bodyPr wrap="square" lIns="0" rIns="0" tIns="0" bIns="0">
            <a:spAutoFit/>
          </a:bodyPr>
          <a:lstStyle/>
          <a:p>
            <a:pPr algn="l"/>
            <a:r>
              <a:rPr sz="1300" b="0" i="1">
                <a:solidFill>
                  <a:srgbClr val="1E2761"/>
                </a:solidFill>
                <a:latin typeface="Calibri"/>
              </a:rPr>
              <a:t>Pagaré entre particulares</a:t>
            </a:r>
            <a:r>
              <a:rPr sz="1300" b="0" i="0">
                <a:solidFill>
                  <a:srgbClr val="1E2761"/>
                </a:solidFill>
                <a:latin typeface="Calibri"/>
              </a:rPr>
              <a:t> frente a </a:t>
            </a:r>
            <a:r>
              <a:rPr sz="1300" b="0" i="1">
                <a:solidFill>
                  <a:srgbClr val="1E2761"/>
                </a:solidFill>
                <a:latin typeface="Calibri"/>
              </a:rPr>
              <a:t>cuenta de ahorro en el banco</a:t>
            </a:r>
            <a:r>
              <a:rPr sz="1300" b="0" i="0">
                <a:solidFill>
                  <a:srgbClr val="1E2761"/>
                </a:solidFill>
                <a:latin typeface="Calibri"/>
              </a:rPr>
              <a:t> (ver </a:t>
            </a:r>
            <a:r>
              <a:rPr sz="1300" b="0" i="0">
                <a:solidFill>
                  <a:srgbClr val="1E2761"/>
                </a:solidFill>
                <a:latin typeface="Consolas"/>
              </a:rPr>
              <a:t>1_intermediacion_financiera.md</a:t>
            </a:r>
            <a:r>
              <a:rPr sz="1300" b="0" i="0">
                <a:solidFill>
                  <a:srgbClr val="1E2761"/>
                </a:solidFill>
                <a:latin typeface="Calibri"/>
              </a:rPr>
              <a:t>). En el pagaré, quien pide prestado firma directamente con quien presta → deuda directa. En la cuenta de ahorro, el banco firma la obligación con el ahorrador y luego presta esos recursos a un tercero, absorbiendo el riesgo de ese tercero → deuda indirecta.</a:t>
            </a:r>
          </a:p>
        </p:txBody>
      </p:sp>
      <p:sp>
        <p:nvSpPr>
          <p:cNvPr id="10" name="TextBox 9"/>
          <p:cNvSpPr txBox="1"/>
          <p:nvPr/>
        </p:nvSpPr>
        <p:spPr>
          <a:xfrm>
            <a:off x="820080" y="2861448"/>
            <a:ext cx="260000" cy="1111640"/>
          </a:xfrm>
          <a:prstGeom prst="rect">
            <a:avLst/>
          </a:prstGeom>
          <a:noFill/>
        </p:spPr>
        <p:txBody>
          <a:bodyPr wrap="square" lIns="0" rIns="0" tIns="0" bIns="0">
            <a:spAutoFit/>
          </a:bodyPr>
          <a:lstStyle/>
          <a:p>
            <a:pPr algn="l"/>
            <a:r>
              <a:rPr sz="1300" b="1" i="0">
                <a:solidFill>
                  <a:srgbClr val="C9A227"/>
                </a:solidFill>
                <a:latin typeface="Calibri"/>
              </a:rPr>
              <a:t>•</a:t>
            </a:r>
          </a:p>
        </p:txBody>
      </p:sp>
      <p:sp>
        <p:nvSpPr>
          <p:cNvPr id="11" name="TextBox 10"/>
          <p:cNvSpPr txBox="1"/>
          <p:nvPr/>
        </p:nvSpPr>
        <p:spPr>
          <a:xfrm>
            <a:off x="1080080" y="2861448"/>
            <a:ext cx="10291840" cy="1111640"/>
          </a:xfrm>
          <a:prstGeom prst="rect">
            <a:avLst/>
          </a:prstGeom>
          <a:noFill/>
        </p:spPr>
        <p:txBody>
          <a:bodyPr wrap="square" lIns="0" rIns="0" tIns="0" bIns="0">
            <a:spAutoFit/>
          </a:bodyPr>
          <a:lstStyle/>
          <a:p>
            <a:pPr algn="l"/>
            <a:r>
              <a:rPr sz="1300" b="0" i="1">
                <a:solidFill>
                  <a:srgbClr val="1E2761"/>
                </a:solidFill>
                <a:latin typeface="Calibri"/>
              </a:rPr>
              <a:t>Un fondo de crédito privado (</a:t>
            </a:r>
            <a:r>
              <a:rPr sz="1300" b="0" i="0">
                <a:solidFill>
                  <a:srgbClr val="1E2761"/>
                </a:solidFill>
                <a:latin typeface="Calibri"/>
              </a:rPr>
              <a:t>direct lending</a:t>
            </a:r>
            <a:r>
              <a:rPr sz="1300" b="0" i="1">
                <a:solidFill>
                  <a:srgbClr val="1E2761"/>
                </a:solidFill>
                <a:latin typeface="Calibri"/>
              </a:rPr>
              <a:t>, ej. Blackstone, Apollo) presta directamente a una empresa mediana, sin que un banco participe.</a:t>
            </a:r>
            <a:r>
              <a:rPr sz="1300" b="0" i="0">
                <a:solidFill>
                  <a:srgbClr val="1E2761"/>
                </a:solidFill>
                <a:latin typeface="Calibri"/>
              </a:rPr>
              <a:t> A primera vista el fondo parece un intermediario, como el banco del ejemplo anterior: capta recursos de inversionistas institucionales y los coloca en créditos. Pero esos inversionistas siguen expuestos al riesgo de crédito de la empresa que recibe el préstamo, no al del fondo; si la empresa no paga, ellos absorben la pérdida. Por eso el auge del </a:t>
            </a:r>
            <a:r>
              <a:rPr sz="1300" b="0" i="1">
                <a:solidFill>
                  <a:srgbClr val="1E2761"/>
                </a:solidFill>
                <a:latin typeface="Calibri"/>
              </a:rPr>
              <a:t>direct lending</a:t>
            </a:r>
            <a:r>
              <a:rPr sz="1300" b="0" i="0">
                <a:solidFill>
                  <a:srgbClr val="1E2761"/>
                </a:solidFill>
                <a:latin typeface="Calibri"/>
              </a:rPr>
              <a:t> (2023-2025), aunque se sienta como una categoría nueva, sigue siendo deuda directa de la empresa: el fondo actúa como vehículo del inversionista, no como el banco que absorbe el riesgo en su lugar.</a:t>
            </a:r>
          </a:p>
        </p:txBody>
      </p:sp>
      <p:sp>
        <p:nvSpPr>
          <p:cNvPr id="12" name="TextBox 11"/>
          <p:cNvSpPr txBox="1"/>
          <p:nvPr/>
        </p:nvSpPr>
        <p:spPr>
          <a:xfrm>
            <a:off x="820080" y="3973088"/>
            <a:ext cx="260000" cy="688984"/>
          </a:xfrm>
          <a:prstGeom prst="rect">
            <a:avLst/>
          </a:prstGeom>
          <a:noFill/>
        </p:spPr>
        <p:txBody>
          <a:bodyPr wrap="square" lIns="0" rIns="0" tIns="0" bIns="0">
            <a:spAutoFit/>
          </a:bodyPr>
          <a:lstStyle/>
          <a:p>
            <a:pPr algn="l"/>
            <a:r>
              <a:rPr sz="1300" b="1" i="0">
                <a:solidFill>
                  <a:srgbClr val="C9A227"/>
                </a:solidFill>
                <a:latin typeface="Calibri"/>
              </a:rPr>
              <a:t>•</a:t>
            </a:r>
          </a:p>
        </p:txBody>
      </p:sp>
      <p:sp>
        <p:nvSpPr>
          <p:cNvPr id="13" name="TextBox 12"/>
          <p:cNvSpPr txBox="1"/>
          <p:nvPr/>
        </p:nvSpPr>
        <p:spPr>
          <a:xfrm>
            <a:off x="1080080" y="3973088"/>
            <a:ext cx="10291840" cy="688984"/>
          </a:xfrm>
          <a:prstGeom prst="rect">
            <a:avLst/>
          </a:prstGeom>
          <a:noFill/>
        </p:spPr>
        <p:txBody>
          <a:bodyPr wrap="square" lIns="0" rIns="0" tIns="0" bIns="0">
            <a:spAutoFit/>
          </a:bodyPr>
          <a:lstStyle/>
          <a:p>
            <a:pPr algn="l"/>
            <a:r>
              <a:rPr sz="1300" b="0" i="1">
                <a:solidFill>
                  <a:srgbClr val="1E2761"/>
                </a:solidFill>
                <a:latin typeface="Calibri"/>
              </a:rPr>
              <a:t>FIBRA</a:t>
            </a:r>
            <a:r>
              <a:rPr sz="1300" b="0" i="0">
                <a:solidFill>
                  <a:srgbClr val="1E2761"/>
                </a:solidFill>
                <a:latin typeface="Calibri"/>
              </a:rPr>
              <a:t> frente a </a:t>
            </a:r>
            <a:r>
              <a:rPr sz="1300" b="0" i="1">
                <a:solidFill>
                  <a:srgbClr val="1E2761"/>
                </a:solidFill>
                <a:latin typeface="Calibri"/>
              </a:rPr>
              <a:t>bono corporativo</a:t>
            </a:r>
            <a:r>
              <a:rPr sz="1300" b="0" i="0">
                <a:solidFill>
                  <a:srgbClr val="1E2761"/>
                </a:solidFill>
                <a:latin typeface="Calibri"/>
              </a:rPr>
              <a:t>. Ambos reparten pagos periódicos, pero eso no define el tipo: la FIBRA es participación de capital, porque el fideicomiso no promete un monto fijo (las distribuciones dependen de la renta que generen los inmuebles); el bono corporativo es deuda directa, porque la empresa promete un cupón fijo sin importar cómo le vaya al negocio.</a:t>
            </a:r>
          </a:p>
        </p:txBody>
      </p:sp>
      <p:sp>
        <p:nvSpPr>
          <p:cNvPr id="14" name="TextBox 13"/>
          <p:cNvSpPr txBox="1"/>
          <p:nvPr/>
        </p:nvSpPr>
        <p:spPr>
          <a:xfrm>
            <a:off x="820080" y="4662072"/>
            <a:ext cx="260000" cy="477656"/>
          </a:xfrm>
          <a:prstGeom prst="rect">
            <a:avLst/>
          </a:prstGeom>
          <a:noFill/>
        </p:spPr>
        <p:txBody>
          <a:bodyPr wrap="square" lIns="0" rIns="0" tIns="0" bIns="0">
            <a:spAutoFit/>
          </a:bodyPr>
          <a:lstStyle/>
          <a:p>
            <a:pPr algn="l"/>
            <a:r>
              <a:rPr sz="1300" b="1" i="0">
                <a:solidFill>
                  <a:srgbClr val="C9A227"/>
                </a:solidFill>
                <a:latin typeface="Calibri"/>
              </a:rPr>
              <a:t>•</a:t>
            </a:r>
          </a:p>
        </p:txBody>
      </p:sp>
      <p:sp>
        <p:nvSpPr>
          <p:cNvPr id="15" name="TextBox 14"/>
          <p:cNvSpPr txBox="1"/>
          <p:nvPr/>
        </p:nvSpPr>
        <p:spPr>
          <a:xfrm>
            <a:off x="1080080" y="4662072"/>
            <a:ext cx="10291840" cy="477656"/>
          </a:xfrm>
          <a:prstGeom prst="rect">
            <a:avLst/>
          </a:prstGeom>
          <a:noFill/>
        </p:spPr>
        <p:txBody>
          <a:bodyPr wrap="square" lIns="0" rIns="0" tIns="0" bIns="0">
            <a:spAutoFit/>
          </a:bodyPr>
          <a:lstStyle/>
          <a:p>
            <a:pPr algn="l"/>
            <a:r>
              <a:rPr sz="1300" b="0" i="1">
                <a:solidFill>
                  <a:srgbClr val="1E2761"/>
                </a:solidFill>
                <a:latin typeface="Calibri"/>
              </a:rPr>
              <a:t>Certificado bursátil</a:t>
            </a:r>
            <a:r>
              <a:rPr sz="1300" b="0" i="0">
                <a:solidFill>
                  <a:srgbClr val="1E2761"/>
                </a:solidFill>
                <a:latin typeface="Calibri"/>
              </a:rPr>
              <a:t> emitido por una empresa. El nombre no adelanta el tipo: quien lo emite es la empresa directamente, sin un intermediario que se interponga, y promete pagar un monto pactado en la emisión → deuda directa, igual que un bono corporativo.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749808"/>
            <a:ext cx="10911840" cy="700000"/>
          </a:xfrm>
          <a:prstGeom prst="rect">
            <a:avLst/>
          </a:prstGeom>
          <a:noFill/>
        </p:spPr>
        <p:txBody>
          <a:bodyPr wrap="square" lIns="0" rIns="0" tIns="0" bIns="0">
            <a:spAutoFit/>
          </a:bodyPr>
          <a:lstStyle/>
          <a:p>
            <a:pPr algn="l"/>
            <a:r>
              <a:rPr sz="3200" b="1" i="0">
                <a:solidFill>
                  <a:srgbClr val="1E2761"/>
                </a:solidFill>
                <a:latin typeface="Cambria"/>
              </a:rPr>
              <a:t>Cierre · Emisor del Activo Financiero</a:t>
            </a:r>
          </a:p>
        </p:txBody>
      </p:sp>
      <p:sp>
        <p:nvSpPr>
          <p:cNvPr id="3" name="TextBox 2"/>
          <p:cNvSpPr txBox="1"/>
          <p:nvPr/>
        </p:nvSpPr>
        <p:spPr>
          <a:xfrm>
            <a:off x="822960" y="1629808"/>
            <a:ext cx="10332720" cy="334320"/>
          </a:xfrm>
          <a:prstGeom prst="rect">
            <a:avLst/>
          </a:prstGeom>
          <a:noFill/>
        </p:spPr>
        <p:txBody>
          <a:bodyPr wrap="square" lIns="0" rIns="0" tIns="0" bIns="0">
            <a:spAutoFit/>
          </a:bodyPr>
          <a:lstStyle/>
          <a:p>
            <a:pPr algn="l"/>
            <a:r>
              <a:rPr sz="1600" b="0" i="0">
                <a:solidFill>
                  <a:srgbClr val="1E2761"/>
                </a:solidFill>
                <a:latin typeface="Calibri"/>
              </a:rPr>
              <a:t>El activo financiero es </a:t>
            </a:r>
            <a:r>
              <a:rPr sz="1600" b="1" i="0">
                <a:solidFill>
                  <a:srgbClr val="1E2761"/>
                </a:solidFill>
                <a:latin typeface="Calibri"/>
              </a:rPr>
              <a:t>deuda directa</a:t>
            </a:r>
            <a:r>
              <a:rPr sz="1600" b="0" i="0">
                <a:solidFill>
                  <a:srgbClr val="1E2761"/>
                </a:solidFill>
                <a:latin typeface="Calibri"/>
              </a:rPr>
              <a:t>, </a:t>
            </a:r>
            <a:r>
              <a:rPr sz="1600" b="1" i="0">
                <a:solidFill>
                  <a:srgbClr val="1E2761"/>
                </a:solidFill>
                <a:latin typeface="Calibri"/>
              </a:rPr>
              <a:t>deuda indirecta</a:t>
            </a:r>
            <a:r>
              <a:rPr sz="1600" b="0" i="0">
                <a:solidFill>
                  <a:srgbClr val="1E2761"/>
                </a:solidFill>
                <a:latin typeface="Calibri"/>
              </a:rPr>
              <a:t> o </a:t>
            </a:r>
            <a:r>
              <a:rPr sz="1600" b="1" i="0">
                <a:solidFill>
                  <a:srgbClr val="1E2761"/>
                </a:solidFill>
                <a:latin typeface="Calibri"/>
              </a:rPr>
              <a:t>participación de capital</a:t>
            </a:r>
            <a:r>
              <a:rPr sz="1600" b="0" i="0">
                <a:solidFill>
                  <a:srgbClr val="1E2761"/>
                </a:solidFill>
                <a:latin typeface="Calibri"/>
              </a:rPr>
              <a:t>, según quién emite la obligación.</a:t>
            </a:r>
          </a:p>
        </p:txBody>
      </p:sp>
      <p:sp>
        <p:nvSpPr>
          <p:cNvPr id="4" name="TextBox 3"/>
          <p:cNvSpPr txBox="1"/>
          <p:nvPr/>
        </p:nvSpPr>
        <p:spPr>
          <a:xfrm>
            <a:off x="822960" y="2164128"/>
            <a:ext cx="10332720" cy="608640"/>
          </a:xfrm>
          <a:prstGeom prst="rect">
            <a:avLst/>
          </a:prstGeom>
          <a:noFill/>
        </p:spPr>
        <p:txBody>
          <a:bodyPr wrap="square" lIns="0" rIns="0" tIns="0" bIns="0">
            <a:spAutoFit/>
          </a:bodyPr>
          <a:lstStyle/>
          <a:p>
            <a:pPr algn="l"/>
            <a:r>
              <a:rPr sz="1600" b="0" i="0">
                <a:solidFill>
                  <a:srgbClr val="1E2761"/>
                </a:solidFill>
                <a:latin typeface="Calibri"/>
              </a:rPr>
              <a:t>Lo que separa deuda directa de indirecta no es solo quién firma formalmente, sino si ese emisor es el deudor final o un intermediario que absorbe el riesgo de crédito en su lugar.</a:t>
            </a:r>
          </a:p>
        </p:txBody>
      </p:sp>
      <p:sp>
        <p:nvSpPr>
          <p:cNvPr id="5" name="TextBox 4"/>
          <p:cNvSpPr txBox="1"/>
          <p:nvPr/>
        </p:nvSpPr>
        <p:spPr>
          <a:xfrm>
            <a:off x="822960" y="2972768"/>
            <a:ext cx="10332720" cy="608640"/>
          </a:xfrm>
          <a:prstGeom prst="rect">
            <a:avLst/>
          </a:prstGeom>
          <a:noFill/>
        </p:spPr>
        <p:txBody>
          <a:bodyPr wrap="square" lIns="0" rIns="0" tIns="0" bIns="0">
            <a:spAutoFit/>
          </a:bodyPr>
          <a:lstStyle/>
          <a:p>
            <a:pPr algn="l"/>
            <a:r>
              <a:rPr sz="1600" b="0" i="0">
                <a:solidFill>
                  <a:srgbClr val="1E2761"/>
                </a:solidFill>
                <a:latin typeface="Calibri"/>
              </a:rPr>
              <a:t>El </a:t>
            </a:r>
            <a:r>
              <a:rPr sz="1600" b="0" i="1">
                <a:solidFill>
                  <a:srgbClr val="1E2761"/>
                </a:solidFill>
                <a:latin typeface="Calibri"/>
              </a:rPr>
              <a:t>direct lending</a:t>
            </a:r>
            <a:r>
              <a:rPr sz="1600" b="0" i="0">
                <a:solidFill>
                  <a:srgbClr val="1E2761"/>
                </a:solidFill>
                <a:latin typeface="Calibri"/>
              </a:rPr>
              <a:t> (fondos que prestan directo a una empresa) sigue siendo deuda directa: el fondo es vehículo del inversionista, no un intermediario que absorbe el riesgo como lo haría un banco.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11840" cy="320040"/>
          </a:xfrm>
          <a:prstGeom prst="rect">
            <a:avLst/>
          </a:prstGeom>
          <a:noFill/>
        </p:spPr>
        <p:txBody>
          <a:bodyPr wrap="square" lIns="0" rIns="0" tIns="0" bIns="0">
            <a:spAutoFit/>
          </a:bodyPr>
          <a:lstStyle/>
          <a:p>
            <a:pPr algn="l"/>
            <a:r>
              <a:rPr sz="1200" b="1" i="0" spc="150">
                <a:solidFill>
                  <a:srgbClr val="C9A227"/>
                </a:solidFill>
                <a:latin typeface="Calibri"/>
              </a:rPr>
              <a:t>PREPARACIÓN DOCENTE</a:t>
            </a:r>
          </a:p>
        </p:txBody>
      </p:sp>
      <p:sp>
        <p:nvSpPr>
          <p:cNvPr id="3" name="TextBox 2"/>
          <p:cNvSpPr txBox="1"/>
          <p:nvPr/>
        </p:nvSpPr>
        <p:spPr>
          <a:xfrm>
            <a:off x="640080" y="749808"/>
            <a:ext cx="10911840" cy="700000"/>
          </a:xfrm>
          <a:prstGeom prst="rect">
            <a:avLst/>
          </a:prstGeom>
          <a:noFill/>
        </p:spPr>
        <p:txBody>
          <a:bodyPr wrap="square" lIns="0" rIns="0" tIns="0" bIns="0">
            <a:spAutoFit/>
          </a:bodyPr>
          <a:lstStyle/>
          <a:p>
            <a:pPr algn="l"/>
            <a:r>
              <a:rPr sz="3200" b="1" i="0">
                <a:solidFill>
                  <a:srgbClr val="1E2761"/>
                </a:solidFill>
                <a:latin typeface="Cambria"/>
              </a:rPr>
              <a:t>Fuentes y referencias recomendadas</a:t>
            </a:r>
          </a:p>
        </p:txBody>
      </p:sp>
      <p:sp>
        <p:nvSpPr>
          <p:cNvPr id="4" name="TextBox 3"/>
          <p:cNvSpPr txBox="1"/>
          <p:nvPr/>
        </p:nvSpPr>
        <p:spPr>
          <a:xfrm>
            <a:off x="11003280" y="6446520"/>
            <a:ext cx="548640" cy="274320"/>
          </a:xfrm>
          <a:prstGeom prst="rect">
            <a:avLst/>
          </a:prstGeom>
          <a:noFill/>
        </p:spPr>
        <p:txBody>
          <a:bodyPr wrap="square" lIns="0" rIns="0" tIns="0" bIns="0">
            <a:spAutoFit/>
          </a:bodyPr>
          <a:lstStyle/>
          <a:p>
            <a:pPr algn="r"/>
            <a:r>
              <a:rPr sz="1000" b="0" i="0">
                <a:solidFill>
                  <a:srgbClr val="A6ADC7"/>
                </a:solidFill>
                <a:latin typeface="Calibri"/>
              </a:rPr>
              <a:t>06</a:t>
            </a:r>
          </a:p>
        </p:txBody>
      </p:sp>
      <p:sp>
        <p:nvSpPr>
          <p:cNvPr id="5" name="TextBox 4"/>
          <p:cNvSpPr txBox="1"/>
          <p:nvPr/>
        </p:nvSpPr>
        <p:spPr>
          <a:xfrm>
            <a:off x="640080" y="1539808"/>
            <a:ext cx="260000" cy="274456"/>
          </a:xfrm>
          <a:prstGeom prst="rect">
            <a:avLst/>
          </a:prstGeom>
          <a:noFill/>
        </p:spPr>
        <p:txBody>
          <a:bodyPr wrap="square" lIns="0" rIns="0" tIns="0" bIns="0">
            <a:spAutoFit/>
          </a:bodyPr>
          <a:lstStyle/>
          <a:p>
            <a:pPr algn="l"/>
            <a:r>
              <a:rPr sz="1350" b="1" i="0">
                <a:solidFill>
                  <a:srgbClr val="C9A227"/>
                </a:solidFill>
                <a:latin typeface="Calibri"/>
              </a:rPr>
              <a:t>•</a:t>
            </a:r>
          </a:p>
        </p:txBody>
      </p:sp>
      <p:sp>
        <p:nvSpPr>
          <p:cNvPr id="6" name="TextBox 5"/>
          <p:cNvSpPr txBox="1"/>
          <p:nvPr/>
        </p:nvSpPr>
        <p:spPr>
          <a:xfrm>
            <a:off x="900080" y="1539808"/>
            <a:ext cx="10651840" cy="274456"/>
          </a:xfrm>
          <a:prstGeom prst="rect">
            <a:avLst/>
          </a:prstGeom>
          <a:noFill/>
        </p:spPr>
        <p:txBody>
          <a:bodyPr wrap="square" lIns="0" rIns="0" tIns="0" bIns="0">
            <a:spAutoFit/>
          </a:bodyPr>
          <a:lstStyle/>
          <a:p>
            <a:pPr algn="l"/>
            <a:r>
              <a:rPr sz="1350" b="0" i="0">
                <a:solidFill>
                  <a:srgbClr val="27314D"/>
                </a:solidFill>
                <a:latin typeface="Calibri"/>
              </a:rPr>
              <a:t>Mántey de Anguiano, G. (2024). </a:t>
            </a:r>
            <a:r>
              <a:rPr sz="1350" b="0" i="1">
                <a:solidFill>
                  <a:srgbClr val="27314D"/>
                </a:solidFill>
                <a:latin typeface="Calibri"/>
              </a:rPr>
              <a:t>Lecciones de Economía Monetaria</a:t>
            </a:r>
            <a:r>
              <a:rPr sz="1350" b="0" i="0">
                <a:solidFill>
                  <a:srgbClr val="27314D"/>
                </a:solidFill>
                <a:latin typeface="Calibri"/>
              </a:rPr>
              <a:t>. UNAM. Lección 2: clasificación de activos financieros según el emisor.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