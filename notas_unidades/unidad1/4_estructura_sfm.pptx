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9600000" y="-1400000"/>
            <a:ext cx="4200000" cy="4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00000" y="4300000"/>
            <a:ext cx="3200000" cy="3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50000"/>
            <a:ext cx="10911840" cy="320040"/>
          </a:xfrm>
          <a:prstGeom prst="rect">
            <a:avLst/>
          </a:prstGeom>
          <a:noFill/>
        </p:spPr>
        <p:txBody>
          <a:bodyPr wrap="square" lIns="0" rIns="0" tIns="0" bIns="0">
            <a:spAutoFit/>
          </a:bodyPr>
          <a:lstStyle/>
          <a:p>
            <a:pPr algn="l"/>
            <a:r>
              <a:rPr sz="1300" b="1" i="0">
                <a:solidFill>
                  <a:srgbClr val="C9A227"/>
                </a:solidFill>
                <a:latin typeface="Calibri"/>
              </a:rPr>
              <a:t>MERCADOS DE DEUDA Y CAPITALES</a:t>
            </a:r>
          </a:p>
        </p:txBody>
      </p:sp>
      <p:sp>
        <p:nvSpPr>
          <p:cNvPr id="5" name="TextBox 4"/>
          <p:cNvSpPr txBox="1"/>
          <p:nvPr/>
        </p:nvSpPr>
        <p:spPr>
          <a:xfrm>
            <a:off x="640080" y="2050000"/>
            <a:ext cx="9200000" cy="1240000"/>
          </a:xfrm>
          <a:prstGeom prst="rect">
            <a:avLst/>
          </a:prstGeom>
          <a:noFill/>
        </p:spPr>
        <p:txBody>
          <a:bodyPr wrap="square" lIns="0" rIns="0" tIns="0" bIns="0">
            <a:spAutoFit/>
          </a:bodyPr>
          <a:lstStyle/>
          <a:p>
            <a:pPr algn="l"/>
            <a:r>
              <a:rPr sz="4000" b="1" i="0">
                <a:solidFill>
                  <a:srgbClr val="1E2761"/>
                </a:solidFill>
                <a:latin typeface="Cambria"/>
              </a:rPr>
              <a:t>Estructura del Sistema Financiero Mexicano</a:t>
            </a:r>
          </a:p>
        </p:txBody>
      </p:sp>
      <p:sp>
        <p:nvSpPr>
          <p:cNvPr id="6" name="TextBox 5"/>
          <p:cNvSpPr txBox="1"/>
          <p:nvPr/>
        </p:nvSpPr>
        <p:spPr>
          <a:xfrm>
            <a:off x="640080" y="3410000"/>
            <a:ext cx="9200000" cy="400000"/>
          </a:xfrm>
          <a:prstGeom prst="rect">
            <a:avLst/>
          </a:prstGeom>
          <a:noFill/>
        </p:spPr>
        <p:txBody>
          <a:bodyPr wrap="square" lIns="0" rIns="0" tIns="0" bIns="0">
            <a:spAutoFit/>
          </a:bodyPr>
          <a:lstStyle/>
          <a:p>
            <a:pPr algn="l"/>
            <a:r>
              <a:rPr sz="1300" b="0" i="1">
                <a:solidFill>
                  <a:srgbClr val="5B6482"/>
                </a:solidFill>
                <a:latin typeface="Calibri"/>
              </a:rPr>
              <a:t>Mercados de Deuda y Capitales, Licenciatura en Comercio y Finanzas Internacionales, Universidad Autónoma de Zacatecas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Objetivo de la unidad</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02</a:t>
            </a:r>
          </a:p>
        </p:txBody>
      </p:sp>
      <p:sp>
        <p:nvSpPr>
          <p:cNvPr id="5" name="Rounded Rectangle 4"/>
          <p:cNvSpPr/>
          <p:nvPr/>
        </p:nvSpPr>
        <p:spPr>
          <a:xfrm>
            <a:off x="640080" y="2743200"/>
            <a:ext cx="10881360" cy="2024000"/>
          </a:xfrm>
          <a:prstGeom prst="roundRect">
            <a:avLst>
              <a:gd name="adj" fmla="val 4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943200"/>
            <a:ext cx="10058400" cy="1624000"/>
          </a:xfrm>
          <a:prstGeom prst="rect">
            <a:avLst/>
          </a:prstGeom>
          <a:noFill/>
        </p:spPr>
        <p:txBody>
          <a:bodyPr wrap="square" lIns="0" rIns="0" tIns="0" bIns="0" anchor="ctr">
            <a:spAutoFit/>
          </a:bodyPr>
          <a:lstStyle/>
          <a:p>
            <a:pPr algn="l"/>
            <a:r>
              <a:rPr sz="2000" b="0" i="0">
                <a:solidFill>
                  <a:srgbClr val="27314D"/>
                </a:solidFill>
                <a:latin typeface="Cambria"/>
              </a:rPr>
              <a:t>Que el estudiante ubique qué autoridad del Sistema Financiero Mexicano regula, supervisa o protege (SHCP, Banxico, CNBV, CNSF, Consar, IPAB, CONDUSEF), y distinga el modelo de sistema financiero (basado en bancos o basado en mercados) de un país dado, ubicando su equivalente funcional a cada autoridad del SFM.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Tabla de contenido</a:t>
            </a:r>
          </a:p>
        </p:txBody>
      </p:sp>
      <p:sp>
        <p:nvSpPr>
          <p:cNvPr id="3" name="TextBox 2"/>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03</a:t>
            </a:r>
          </a:p>
        </p:txBody>
      </p:sp>
      <p:sp>
        <p:nvSpPr>
          <p:cNvPr id="4" name="TextBox 3"/>
          <p:cNvSpPr txBox="1"/>
          <p:nvPr/>
        </p:nvSpPr>
        <p:spPr>
          <a:xfrm>
            <a:off x="640080" y="1900000"/>
            <a:ext cx="700000" cy="400000"/>
          </a:xfrm>
          <a:prstGeom prst="rect">
            <a:avLst/>
          </a:prstGeom>
          <a:noFill/>
        </p:spPr>
        <p:txBody>
          <a:bodyPr wrap="square" lIns="0" rIns="0" tIns="0" bIns="0">
            <a:spAutoFit/>
          </a:bodyPr>
          <a:lstStyle/>
          <a:p>
            <a:pPr algn="l"/>
            <a:r>
              <a:rPr sz="1500" b="1" i="0">
                <a:solidFill>
                  <a:srgbClr val="C9A227"/>
                </a:solidFill>
                <a:latin typeface="Cambria"/>
              </a:rPr>
              <a:t>I.</a:t>
            </a:r>
          </a:p>
        </p:txBody>
      </p:sp>
      <p:sp>
        <p:nvSpPr>
          <p:cNvPr id="5" name="TextBox 4"/>
          <p:cNvSpPr txBox="1"/>
          <p:nvPr/>
        </p:nvSpPr>
        <p:spPr>
          <a:xfrm>
            <a:off x="1390080" y="1900000"/>
            <a:ext cx="8600000" cy="400000"/>
          </a:xfrm>
          <a:prstGeom prst="rect">
            <a:avLst/>
          </a:prstGeom>
          <a:noFill/>
        </p:spPr>
        <p:txBody>
          <a:bodyPr wrap="square" lIns="0" rIns="0" tIns="0" bIns="0">
            <a:spAutoFit/>
          </a:bodyPr>
          <a:lstStyle/>
          <a:p>
            <a:pPr algn="l"/>
            <a:r>
              <a:rPr sz="1500" b="1" i="0">
                <a:solidFill>
                  <a:srgbClr val="1E2761"/>
                </a:solidFill>
                <a:latin typeface="Cambria"/>
              </a:rPr>
              <a:t>Estructura del Sistema Financiero Mexicano</a:t>
            </a:r>
          </a:p>
        </p:txBody>
      </p:sp>
      <p:sp>
        <p:nvSpPr>
          <p:cNvPr id="6" name="TextBox 5"/>
          <p:cNvSpPr txBox="1"/>
          <p:nvPr/>
        </p:nvSpPr>
        <p:spPr>
          <a:xfrm>
            <a:off x="1390080" y="2230000"/>
            <a:ext cx="8600000" cy="300000"/>
          </a:xfrm>
          <a:prstGeom prst="rect">
            <a:avLst/>
          </a:prstGeom>
          <a:noFill/>
        </p:spPr>
        <p:txBody>
          <a:bodyPr wrap="square" lIns="0" rIns="0" tIns="0" bIns="0">
            <a:spAutoFit/>
          </a:bodyPr>
          <a:lstStyle/>
          <a:p>
            <a:pPr algn="l"/>
            <a:r>
              <a:rPr sz="1050" b="0" i="0">
                <a:solidFill>
                  <a:srgbClr val="5B6482"/>
                </a:solidFill>
                <a:latin typeface="Calibri"/>
              </a:rPr>
              <a:t>Reguladores, supervisores y organismos de apoyo y protección</a:t>
            </a:r>
          </a:p>
        </p:txBody>
      </p:sp>
      <p:sp>
        <p:nvSpPr>
          <p:cNvPr id="7" name="TextBox 6"/>
          <p:cNvSpPr txBox="1"/>
          <p:nvPr/>
        </p:nvSpPr>
        <p:spPr>
          <a:xfrm>
            <a:off x="10351920" y="1900000"/>
            <a:ext cx="1200000" cy="400000"/>
          </a:xfrm>
          <a:prstGeom prst="rect">
            <a:avLst/>
          </a:prstGeom>
          <a:noFill/>
        </p:spPr>
        <p:txBody>
          <a:bodyPr wrap="square" lIns="0" rIns="0" tIns="0" bIns="0">
            <a:spAutoFit/>
          </a:bodyPr>
          <a:lstStyle/>
          <a:p>
            <a:pPr algn="r"/>
            <a:r>
              <a:rPr sz="1100" b="0" i="0">
                <a:solidFill>
                  <a:srgbClr val="5B6482"/>
                </a:solidFill>
                <a:latin typeface="Calibri"/>
              </a:rPr>
              <a:t>PÁG. 04</a:t>
            </a:r>
          </a:p>
        </p:txBody>
      </p:sp>
      <p:sp>
        <p:nvSpPr>
          <p:cNvPr id="8" name="TextBox 7"/>
          <p:cNvSpPr txBox="1"/>
          <p:nvPr/>
        </p:nvSpPr>
        <p:spPr>
          <a:xfrm>
            <a:off x="640080" y="2520000"/>
            <a:ext cx="700000" cy="400000"/>
          </a:xfrm>
          <a:prstGeom prst="rect">
            <a:avLst/>
          </a:prstGeom>
          <a:noFill/>
        </p:spPr>
        <p:txBody>
          <a:bodyPr wrap="square" lIns="0" rIns="0" tIns="0" bIns="0">
            <a:spAutoFit/>
          </a:bodyPr>
          <a:lstStyle/>
          <a:p>
            <a:pPr algn="l"/>
            <a:r>
              <a:rPr sz="1500" b="1" i="0">
                <a:solidFill>
                  <a:srgbClr val="C9A227"/>
                </a:solidFill>
                <a:latin typeface="Cambria"/>
              </a:rPr>
              <a:t>II.</a:t>
            </a:r>
          </a:p>
        </p:txBody>
      </p:sp>
      <p:sp>
        <p:nvSpPr>
          <p:cNvPr id="9" name="TextBox 8"/>
          <p:cNvSpPr txBox="1"/>
          <p:nvPr/>
        </p:nvSpPr>
        <p:spPr>
          <a:xfrm>
            <a:off x="1390080" y="2520000"/>
            <a:ext cx="8600000" cy="400000"/>
          </a:xfrm>
          <a:prstGeom prst="rect">
            <a:avLst/>
          </a:prstGeom>
          <a:noFill/>
        </p:spPr>
        <p:txBody>
          <a:bodyPr wrap="square" lIns="0" rIns="0" tIns="0" bIns="0">
            <a:spAutoFit/>
          </a:bodyPr>
          <a:lstStyle/>
          <a:p>
            <a:pPr algn="l"/>
            <a:r>
              <a:rPr sz="1500" b="1" i="0">
                <a:solidFill>
                  <a:srgbClr val="1E2761"/>
                </a:solidFill>
                <a:latin typeface="Cambria"/>
              </a:rPr>
              <a:t>Organigrama del Sistema Financiero Mexicano</a:t>
            </a:r>
          </a:p>
        </p:txBody>
      </p:sp>
      <p:sp>
        <p:nvSpPr>
          <p:cNvPr id="10" name="TextBox 9"/>
          <p:cNvSpPr txBox="1"/>
          <p:nvPr/>
        </p:nvSpPr>
        <p:spPr>
          <a:xfrm>
            <a:off x="1390080" y="2850000"/>
            <a:ext cx="8600000" cy="300000"/>
          </a:xfrm>
          <a:prstGeom prst="rect">
            <a:avLst/>
          </a:prstGeom>
          <a:noFill/>
        </p:spPr>
        <p:txBody>
          <a:bodyPr wrap="square" lIns="0" rIns="0" tIns="0" bIns="0">
            <a:spAutoFit/>
          </a:bodyPr>
          <a:lstStyle/>
          <a:p>
            <a:pPr algn="l"/>
            <a:r>
              <a:rPr sz="1050" b="0" i="0">
                <a:solidFill>
                  <a:srgbClr val="5B6482"/>
                </a:solidFill>
                <a:latin typeface="Calibri"/>
              </a:rPr>
              <a:t>Jerarquía, coordinación y relación funcional entre autoridades</a:t>
            </a:r>
          </a:p>
        </p:txBody>
      </p:sp>
      <p:sp>
        <p:nvSpPr>
          <p:cNvPr id="11" name="TextBox 10"/>
          <p:cNvSpPr txBox="1"/>
          <p:nvPr/>
        </p:nvSpPr>
        <p:spPr>
          <a:xfrm>
            <a:off x="10351920" y="2520000"/>
            <a:ext cx="1200000" cy="400000"/>
          </a:xfrm>
          <a:prstGeom prst="rect">
            <a:avLst/>
          </a:prstGeom>
          <a:noFill/>
        </p:spPr>
        <p:txBody>
          <a:bodyPr wrap="square" lIns="0" rIns="0" tIns="0" bIns="0">
            <a:spAutoFit/>
          </a:bodyPr>
          <a:lstStyle/>
          <a:p>
            <a:pPr algn="r"/>
            <a:r>
              <a:rPr sz="1100" b="0" i="0">
                <a:solidFill>
                  <a:srgbClr val="5B6482"/>
                </a:solidFill>
                <a:latin typeface="Calibri"/>
              </a:rPr>
              <a:t>PÁG. 05</a:t>
            </a:r>
          </a:p>
        </p:txBody>
      </p:sp>
      <p:sp>
        <p:nvSpPr>
          <p:cNvPr id="12" name="TextBox 11"/>
          <p:cNvSpPr txBox="1"/>
          <p:nvPr/>
        </p:nvSpPr>
        <p:spPr>
          <a:xfrm>
            <a:off x="640080" y="3140000"/>
            <a:ext cx="700000" cy="400000"/>
          </a:xfrm>
          <a:prstGeom prst="rect">
            <a:avLst/>
          </a:prstGeom>
          <a:noFill/>
        </p:spPr>
        <p:txBody>
          <a:bodyPr wrap="square" lIns="0" rIns="0" tIns="0" bIns="0">
            <a:spAutoFit/>
          </a:bodyPr>
          <a:lstStyle/>
          <a:p>
            <a:pPr algn="l"/>
            <a:r>
              <a:rPr sz="1500" b="1" i="0">
                <a:solidFill>
                  <a:srgbClr val="C9A227"/>
                </a:solidFill>
                <a:latin typeface="Cambria"/>
              </a:rPr>
              <a:t>III.</a:t>
            </a:r>
          </a:p>
        </p:txBody>
      </p:sp>
      <p:sp>
        <p:nvSpPr>
          <p:cNvPr id="13" name="TextBox 12"/>
          <p:cNvSpPr txBox="1"/>
          <p:nvPr/>
        </p:nvSpPr>
        <p:spPr>
          <a:xfrm>
            <a:off x="1390080" y="3140000"/>
            <a:ext cx="8600000" cy="400000"/>
          </a:xfrm>
          <a:prstGeom prst="rect">
            <a:avLst/>
          </a:prstGeom>
          <a:noFill/>
        </p:spPr>
        <p:txBody>
          <a:bodyPr wrap="square" lIns="0" rIns="0" tIns="0" bIns="0">
            <a:spAutoFit/>
          </a:bodyPr>
          <a:lstStyle/>
          <a:p>
            <a:pPr algn="l"/>
            <a:r>
              <a:rPr sz="1500" b="1" i="0">
                <a:solidFill>
                  <a:srgbClr val="1E2761"/>
                </a:solidFill>
                <a:latin typeface="Cambria"/>
              </a:rPr>
              <a:t>De los activos financieros a sus autoridades</a:t>
            </a:r>
          </a:p>
        </p:txBody>
      </p:sp>
      <p:sp>
        <p:nvSpPr>
          <p:cNvPr id="14" name="TextBox 13"/>
          <p:cNvSpPr txBox="1"/>
          <p:nvPr/>
        </p:nvSpPr>
        <p:spPr>
          <a:xfrm>
            <a:off x="1390080" y="3470000"/>
            <a:ext cx="8600000" cy="300000"/>
          </a:xfrm>
          <a:prstGeom prst="rect">
            <a:avLst/>
          </a:prstGeom>
          <a:noFill/>
        </p:spPr>
        <p:txBody>
          <a:bodyPr wrap="square" lIns="0" rIns="0" tIns="0" bIns="0">
            <a:spAutoFit/>
          </a:bodyPr>
          <a:lstStyle/>
          <a:p>
            <a:pPr algn="l"/>
            <a:r>
              <a:rPr sz="1050" b="0" i="0">
                <a:solidFill>
                  <a:srgbClr val="5B6482"/>
                </a:solidFill>
                <a:latin typeface="Calibri"/>
              </a:rPr>
              <a:t>Qué autoridad vigila cada instrumento de la Unidad 0, en qué mercado opera y qué protección tiene el inversionista</a:t>
            </a:r>
          </a:p>
        </p:txBody>
      </p:sp>
      <p:sp>
        <p:nvSpPr>
          <p:cNvPr id="15" name="TextBox 14"/>
          <p:cNvSpPr txBox="1"/>
          <p:nvPr/>
        </p:nvSpPr>
        <p:spPr>
          <a:xfrm>
            <a:off x="10351920" y="3140000"/>
            <a:ext cx="1200000" cy="400000"/>
          </a:xfrm>
          <a:prstGeom prst="rect">
            <a:avLst/>
          </a:prstGeom>
          <a:noFill/>
        </p:spPr>
        <p:txBody>
          <a:bodyPr wrap="square" lIns="0" rIns="0" tIns="0" bIns="0">
            <a:spAutoFit/>
          </a:bodyPr>
          <a:lstStyle/>
          <a:p>
            <a:pPr algn="r"/>
            <a:r>
              <a:rPr sz="1100" b="0" i="0">
                <a:solidFill>
                  <a:srgbClr val="5B6482"/>
                </a:solidFill>
                <a:latin typeface="Calibri"/>
              </a:rPr>
              <a:t>PÁG. 08</a:t>
            </a:r>
          </a:p>
        </p:txBody>
      </p:sp>
      <p:sp>
        <p:nvSpPr>
          <p:cNvPr id="16" name="TextBox 15"/>
          <p:cNvSpPr txBox="1"/>
          <p:nvPr/>
        </p:nvSpPr>
        <p:spPr>
          <a:xfrm>
            <a:off x="640080" y="3760000"/>
            <a:ext cx="700000" cy="400000"/>
          </a:xfrm>
          <a:prstGeom prst="rect">
            <a:avLst/>
          </a:prstGeom>
          <a:noFill/>
        </p:spPr>
        <p:txBody>
          <a:bodyPr wrap="square" lIns="0" rIns="0" tIns="0" bIns="0">
            <a:spAutoFit/>
          </a:bodyPr>
          <a:lstStyle/>
          <a:p>
            <a:pPr algn="l"/>
            <a:r>
              <a:rPr sz="1500" b="1" i="0">
                <a:solidFill>
                  <a:srgbClr val="C9A227"/>
                </a:solidFill>
                <a:latin typeface="Cambria"/>
              </a:rPr>
              <a:t>IV.</a:t>
            </a:r>
          </a:p>
        </p:txBody>
      </p:sp>
      <p:sp>
        <p:nvSpPr>
          <p:cNvPr id="17" name="TextBox 16"/>
          <p:cNvSpPr txBox="1"/>
          <p:nvPr/>
        </p:nvSpPr>
        <p:spPr>
          <a:xfrm>
            <a:off x="1390080" y="3760000"/>
            <a:ext cx="8600000" cy="400000"/>
          </a:xfrm>
          <a:prstGeom prst="rect">
            <a:avLst/>
          </a:prstGeom>
          <a:noFill/>
        </p:spPr>
        <p:txBody>
          <a:bodyPr wrap="square" lIns="0" rIns="0" tIns="0" bIns="0">
            <a:spAutoFit/>
          </a:bodyPr>
          <a:lstStyle/>
          <a:p>
            <a:pPr algn="l"/>
            <a:r>
              <a:rPr sz="1500" b="1" i="0">
                <a:solidFill>
                  <a:srgbClr val="1E2761"/>
                </a:solidFill>
                <a:latin typeface="Cambria"/>
              </a:rPr>
              <a:t>Protección al usuario financiero en la práctica</a:t>
            </a:r>
          </a:p>
        </p:txBody>
      </p:sp>
      <p:sp>
        <p:nvSpPr>
          <p:cNvPr id="18" name="TextBox 17"/>
          <p:cNvSpPr txBox="1"/>
          <p:nvPr/>
        </p:nvSpPr>
        <p:spPr>
          <a:xfrm>
            <a:off x="1390080" y="4090000"/>
            <a:ext cx="8600000" cy="300000"/>
          </a:xfrm>
          <a:prstGeom prst="rect">
            <a:avLst/>
          </a:prstGeom>
          <a:noFill/>
        </p:spPr>
        <p:txBody>
          <a:bodyPr wrap="square" lIns="0" rIns="0" tIns="0" bIns="0">
            <a:spAutoFit/>
          </a:bodyPr>
          <a:lstStyle/>
          <a:p>
            <a:pPr algn="l"/>
            <a:r>
              <a:rPr sz="1050" b="0" i="0">
                <a:solidFill>
                  <a:srgbClr val="5B6482"/>
                </a:solidFill>
                <a:latin typeface="Calibri"/>
              </a:rPr>
              <a:t>IPAB (seguro de depósito), CONDUSEF (reclamación formal), Buró de Entidades Financieras/SIPRES</a:t>
            </a:r>
          </a:p>
        </p:txBody>
      </p:sp>
      <p:sp>
        <p:nvSpPr>
          <p:cNvPr id="19" name="TextBox 18"/>
          <p:cNvSpPr txBox="1"/>
          <p:nvPr/>
        </p:nvSpPr>
        <p:spPr>
          <a:xfrm>
            <a:off x="10351920" y="3760000"/>
            <a:ext cx="1200000" cy="400000"/>
          </a:xfrm>
          <a:prstGeom prst="rect">
            <a:avLst/>
          </a:prstGeom>
          <a:noFill/>
        </p:spPr>
        <p:txBody>
          <a:bodyPr wrap="square" lIns="0" rIns="0" tIns="0" bIns="0">
            <a:spAutoFit/>
          </a:bodyPr>
          <a:lstStyle/>
          <a:p>
            <a:pPr algn="r"/>
            <a:r>
              <a:rPr sz="1100" b="0" i="0">
                <a:solidFill>
                  <a:srgbClr val="5B6482"/>
                </a:solidFill>
                <a:latin typeface="Calibri"/>
              </a:rPr>
              <a:t>PÁG. 11</a:t>
            </a:r>
          </a:p>
        </p:txBody>
      </p:sp>
      <p:sp>
        <p:nvSpPr>
          <p:cNvPr id="20" name="TextBox 19"/>
          <p:cNvSpPr txBox="1"/>
          <p:nvPr/>
        </p:nvSpPr>
        <p:spPr>
          <a:xfrm>
            <a:off x="640080" y="4380000"/>
            <a:ext cx="700000" cy="400000"/>
          </a:xfrm>
          <a:prstGeom prst="rect">
            <a:avLst/>
          </a:prstGeom>
          <a:noFill/>
        </p:spPr>
        <p:txBody>
          <a:bodyPr wrap="square" lIns="0" rIns="0" tIns="0" bIns="0">
            <a:spAutoFit/>
          </a:bodyPr>
          <a:lstStyle/>
          <a:p>
            <a:pPr algn="l"/>
            <a:r>
              <a:rPr sz="1500" b="1" i="0">
                <a:solidFill>
                  <a:srgbClr val="C9A227"/>
                </a:solidFill>
                <a:latin typeface="Cambria"/>
              </a:rPr>
              <a:t>V.</a:t>
            </a:r>
          </a:p>
        </p:txBody>
      </p:sp>
      <p:sp>
        <p:nvSpPr>
          <p:cNvPr id="21" name="TextBox 20"/>
          <p:cNvSpPr txBox="1"/>
          <p:nvPr/>
        </p:nvSpPr>
        <p:spPr>
          <a:xfrm>
            <a:off x="1390080" y="4380000"/>
            <a:ext cx="8600000" cy="400000"/>
          </a:xfrm>
          <a:prstGeom prst="rect">
            <a:avLst/>
          </a:prstGeom>
          <a:noFill/>
        </p:spPr>
        <p:txBody>
          <a:bodyPr wrap="square" lIns="0" rIns="0" tIns="0" bIns="0">
            <a:spAutoFit/>
          </a:bodyPr>
          <a:lstStyle/>
          <a:p>
            <a:pPr algn="l"/>
            <a:r>
              <a:rPr sz="1500" b="1" i="0">
                <a:solidFill>
                  <a:srgbClr val="1E2761"/>
                </a:solidFill>
                <a:latin typeface="Cambria"/>
              </a:rPr>
              <a:t>Panorama de los sistemas financieros internacionales</a:t>
            </a:r>
          </a:p>
        </p:txBody>
      </p:sp>
      <p:sp>
        <p:nvSpPr>
          <p:cNvPr id="22" name="TextBox 21"/>
          <p:cNvSpPr txBox="1"/>
          <p:nvPr/>
        </p:nvSpPr>
        <p:spPr>
          <a:xfrm>
            <a:off x="1390080" y="4710000"/>
            <a:ext cx="8600000" cy="300000"/>
          </a:xfrm>
          <a:prstGeom prst="rect">
            <a:avLst/>
          </a:prstGeom>
          <a:noFill/>
        </p:spPr>
        <p:txBody>
          <a:bodyPr wrap="square" lIns="0" rIns="0" tIns="0" bIns="0">
            <a:spAutoFit/>
          </a:bodyPr>
          <a:lstStyle/>
          <a:p>
            <a:pPr algn="l"/>
            <a:r>
              <a:rPr sz="1050" b="0" i="0">
                <a:solidFill>
                  <a:srgbClr val="5B6482"/>
                </a:solidFill>
                <a:latin typeface="Calibri"/>
              </a:rPr>
              <a:t>Modelos bank-based/market-based y equivalencias funcionales al SFM</a:t>
            </a:r>
          </a:p>
        </p:txBody>
      </p:sp>
      <p:sp>
        <p:nvSpPr>
          <p:cNvPr id="23" name="TextBox 22"/>
          <p:cNvSpPr txBox="1"/>
          <p:nvPr/>
        </p:nvSpPr>
        <p:spPr>
          <a:xfrm>
            <a:off x="10351920" y="4380000"/>
            <a:ext cx="1200000" cy="400000"/>
          </a:xfrm>
          <a:prstGeom prst="rect">
            <a:avLst/>
          </a:prstGeom>
          <a:noFill/>
        </p:spPr>
        <p:txBody>
          <a:bodyPr wrap="square" lIns="0" rIns="0" tIns="0" bIns="0">
            <a:spAutoFit/>
          </a:bodyPr>
          <a:lstStyle/>
          <a:p>
            <a:pPr algn="r"/>
            <a:r>
              <a:rPr sz="1100" b="0" i="0">
                <a:solidFill>
                  <a:srgbClr val="5B6482"/>
                </a:solidFill>
                <a:latin typeface="Calibri"/>
              </a:rPr>
              <a:t>PÁG.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Estructura del Sistema Financiero Mexicano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04</a:t>
            </a:r>
          </a:p>
        </p:txBody>
      </p:sp>
      <p:sp>
        <p:nvSpPr>
          <p:cNvPr id="5" name="TextBox 4"/>
          <p:cNvSpPr txBox="1"/>
          <p:nvPr/>
        </p:nvSpPr>
        <p:spPr>
          <a:xfrm>
            <a:off x="640080" y="1539808"/>
            <a:ext cx="10911840" cy="281968"/>
          </a:xfrm>
          <a:prstGeom prst="rect">
            <a:avLst/>
          </a:prstGeom>
          <a:noFill/>
        </p:spPr>
        <p:txBody>
          <a:bodyPr wrap="square" lIns="0" rIns="0" tIns="0" bIns="0">
            <a:spAutoFit/>
          </a:bodyPr>
          <a:lstStyle/>
          <a:p>
            <a:pPr algn="l"/>
            <a:r>
              <a:rPr sz="1550" b="0" i="0">
                <a:solidFill>
                  <a:srgbClr val="5B6482"/>
                </a:solidFill>
                <a:latin typeface="Calibri"/>
              </a:rPr>
              <a:t>Mapa general de autoridades: tres niveles con funciones complementarias.</a:t>
            </a:r>
          </a:p>
        </p:txBody>
      </p:sp>
      <p:graphicFrame>
        <p:nvGraphicFramePr>
          <p:cNvPr id="6" name="Table 5"/>
          <p:cNvGraphicFramePr>
            <a:graphicFrameLocks noGrp="1"/>
          </p:cNvGraphicFramePr>
          <p:nvPr/>
        </p:nvGraphicFramePr>
        <p:xfrm>
          <a:off x="640080" y="1951776"/>
          <a:ext cx="10911840" cy="1318582"/>
        </p:xfrm>
        <a:graphic>
          <a:graphicData uri="http://schemas.openxmlformats.org/drawingml/2006/table">
            <a:tbl>
              <a:tblPr>
                <a:tableStyleId>{2D5ABB26-0587-4C30-8999-92F81FD0307C}</a:tableStyleId>
              </a:tblPr>
              <a:tblGrid>
                <a:gridCol w="2089501"/>
                <a:gridCol w="6732837"/>
                <a:gridCol w="2089502"/>
              </a:tblGrid>
              <a:tr h="335932">
                <a:tc>
                  <a:txBody>
                    <a:bodyPr wrap="square"/>
                    <a:lstStyle/>
                    <a:p>
                      <a:pPr algn="l"/>
                      <a:r>
                        <a:rPr sz="1250" b="1" i="0">
                          <a:solidFill>
                            <a:srgbClr val="FFFFFF"/>
                          </a:solidFill>
                          <a:latin typeface="Calibri"/>
                        </a:rPr>
                        <a:t>Nivel</a:t>
                      </a:r>
                    </a:p>
                  </a:txBody>
                  <a:tcPr marL="54864" marR="54864" marT="27432" marB="27432" anchor="ctr">
                    <a:solidFill>
                      <a:srgbClr val="1E2761"/>
                    </a:solidFill>
                  </a:tcPr>
                </a:tc>
                <a:tc>
                  <a:txBody>
                    <a:bodyPr wrap="square"/>
                    <a:lstStyle/>
                    <a:p>
                      <a:pPr algn="l"/>
                      <a:r>
                        <a:rPr sz="1250" b="1" i="0">
                          <a:solidFill>
                            <a:srgbClr val="FFFFFF"/>
                          </a:solidFill>
                          <a:latin typeface="Calibri"/>
                        </a:rPr>
                        <a:t>Función</a:t>
                      </a:r>
                    </a:p>
                  </a:txBody>
                  <a:tcPr marL="54864" marR="54864" marT="27432" marB="27432" anchor="ctr">
                    <a:solidFill>
                      <a:srgbClr val="1E2761"/>
                    </a:solidFill>
                  </a:tcPr>
                </a:tc>
                <a:tc>
                  <a:txBody>
                    <a:bodyPr wrap="square"/>
                    <a:lstStyle/>
                    <a:p>
                      <a:pPr algn="l"/>
                      <a:r>
                        <a:rPr sz="1250" b="1" i="0">
                          <a:solidFill>
                            <a:srgbClr val="FFFFFF"/>
                          </a:solidFill>
                          <a:latin typeface="Calibri"/>
                        </a:rPr>
                        <a:t>Instituciones</a:t>
                      </a:r>
                    </a:p>
                  </a:txBody>
                  <a:tcPr marL="54864" marR="54864" marT="27432" marB="27432" anchor="ctr">
                    <a:solidFill>
                      <a:srgbClr val="1E2761"/>
                    </a:solidFill>
                  </a:tcPr>
                </a:tc>
              </a:tr>
              <a:tr h="327550">
                <a:tc>
                  <a:txBody>
                    <a:bodyPr wrap="square"/>
                    <a:lstStyle/>
                    <a:p>
                      <a:pPr algn="l"/>
                      <a:r>
                        <a:rPr sz="1250" b="0" i="0">
                          <a:solidFill>
                            <a:srgbClr val="27314D"/>
                          </a:solidFill>
                          <a:latin typeface="Calibri"/>
                        </a:rPr>
                        <a:t>Reguladores</a:t>
                      </a:r>
                    </a:p>
                  </a:txBody>
                  <a:tcPr marL="54864" marR="54864" marT="27432" marB="27432" anchor="ctr">
                    <a:solidFill>
                      <a:srgbClr val="FFFFFF"/>
                    </a:solidFill>
                  </a:tcPr>
                </a:tc>
                <a:tc>
                  <a:txBody>
                    <a:bodyPr wrap="square"/>
                    <a:lstStyle/>
                    <a:p>
                      <a:pPr algn="l"/>
                      <a:r>
                        <a:rPr sz="1250" b="0" i="0">
                          <a:solidFill>
                            <a:srgbClr val="27314D"/>
                          </a:solidFill>
                          <a:latin typeface="Calibri"/>
                        </a:rPr>
                        <a:t>Diseñan la política y las reglas del sistema financiero.</a:t>
                      </a:r>
                    </a:p>
                  </a:txBody>
                  <a:tcPr marL="54864" marR="54864" marT="27432" marB="27432" anchor="ctr">
                    <a:solidFill>
                      <a:srgbClr val="FFFFFF"/>
                    </a:solidFill>
                  </a:tcPr>
                </a:tc>
                <a:tc>
                  <a:txBody>
                    <a:bodyPr wrap="square"/>
                    <a:lstStyle/>
                    <a:p>
                      <a:pPr algn="l"/>
                      <a:r>
                        <a:rPr sz="1250" b="0" i="0">
                          <a:solidFill>
                            <a:srgbClr val="27314D"/>
                          </a:solidFill>
                          <a:latin typeface="Calibri"/>
                        </a:rPr>
                        <a:t>SHCP, Banxico</a:t>
                      </a:r>
                    </a:p>
                  </a:txBody>
                  <a:tcPr marL="54864" marR="54864" marT="27432" marB="27432" anchor="ctr">
                    <a:solidFill>
                      <a:srgbClr val="FFFFFF"/>
                    </a:solidFill>
                  </a:tcPr>
                </a:tc>
              </a:tr>
              <a:tr h="327550">
                <a:tc>
                  <a:txBody>
                    <a:bodyPr wrap="square"/>
                    <a:lstStyle/>
                    <a:p>
                      <a:pPr algn="l"/>
                      <a:r>
                        <a:rPr sz="1250" b="0" i="0">
                          <a:solidFill>
                            <a:srgbClr val="27314D"/>
                          </a:solidFill>
                          <a:latin typeface="Calibri"/>
                        </a:rPr>
                        <a:t>Supervisores</a:t>
                      </a:r>
                    </a:p>
                  </a:txBody>
                  <a:tcPr marL="54864" marR="54864" marT="27432" marB="27432" anchor="ctr">
                    <a:solidFill>
                      <a:srgbClr val="F2F4FA"/>
                    </a:solidFill>
                  </a:tcPr>
                </a:tc>
                <a:tc>
                  <a:txBody>
                    <a:bodyPr wrap="square"/>
                    <a:lstStyle/>
                    <a:p>
                      <a:pPr algn="l"/>
                      <a:r>
                        <a:rPr sz="1250" b="0" i="0">
                          <a:solidFill>
                            <a:srgbClr val="27314D"/>
                          </a:solidFill>
                          <a:latin typeface="Calibri"/>
                        </a:rPr>
                        <a:t>Vigilan a los intermediarios de cada sector especializado.</a:t>
                      </a:r>
                    </a:p>
                  </a:txBody>
                  <a:tcPr marL="54864" marR="54864" marT="27432" marB="27432" anchor="ctr">
                    <a:solidFill>
                      <a:srgbClr val="F2F4FA"/>
                    </a:solidFill>
                  </a:tcPr>
                </a:tc>
                <a:tc>
                  <a:txBody>
                    <a:bodyPr wrap="square"/>
                    <a:lstStyle/>
                    <a:p>
                      <a:pPr algn="l"/>
                      <a:r>
                        <a:rPr sz="1250" b="0" i="0">
                          <a:solidFill>
                            <a:srgbClr val="27314D"/>
                          </a:solidFill>
                          <a:latin typeface="Calibri"/>
                        </a:rPr>
                        <a:t>CNBV, CNSF, Consar</a:t>
                      </a:r>
                    </a:p>
                  </a:txBody>
                  <a:tcPr marL="54864" marR="54864" marT="27432" marB="27432" anchor="ctr">
                    <a:solidFill>
                      <a:srgbClr val="F2F4FA"/>
                    </a:solidFill>
                  </a:tcPr>
                </a:tc>
              </a:tr>
              <a:tr h="327550">
                <a:tc>
                  <a:txBody>
                    <a:bodyPr wrap="square"/>
                    <a:lstStyle/>
                    <a:p>
                      <a:pPr algn="l"/>
                      <a:r>
                        <a:rPr sz="1250" b="0" i="0">
                          <a:solidFill>
                            <a:srgbClr val="27314D"/>
                          </a:solidFill>
                          <a:latin typeface="Calibri"/>
                        </a:rPr>
                        <a:t>Apoyo y Protección</a:t>
                      </a:r>
                    </a:p>
                  </a:txBody>
                  <a:tcPr marL="54864" marR="54864" marT="27432" marB="27432" anchor="ctr">
                    <a:solidFill>
                      <a:srgbClr val="FFFFFF"/>
                    </a:solidFill>
                  </a:tcPr>
                </a:tc>
                <a:tc>
                  <a:txBody>
                    <a:bodyPr wrap="square"/>
                    <a:lstStyle/>
                    <a:p>
                      <a:pPr algn="l"/>
                      <a:r>
                        <a:rPr sz="1250" b="0" i="0">
                          <a:solidFill>
                            <a:srgbClr val="27314D"/>
                          </a:solidFill>
                          <a:latin typeface="Calibri"/>
                        </a:rPr>
                        <a:t>Respaldan y defienden al ahorrador y al usuario final.</a:t>
                      </a:r>
                    </a:p>
                  </a:txBody>
                  <a:tcPr marL="54864" marR="54864" marT="27432" marB="27432" anchor="ctr">
                    <a:solidFill>
                      <a:srgbClr val="FFFFFF"/>
                    </a:solidFill>
                  </a:tcPr>
                </a:tc>
                <a:tc>
                  <a:txBody>
                    <a:bodyPr wrap="square"/>
                    <a:lstStyle/>
                    <a:p>
                      <a:pPr algn="l"/>
                      <a:r>
                        <a:rPr sz="1250" b="0" i="0">
                          <a:solidFill>
                            <a:srgbClr val="27314D"/>
                          </a:solidFill>
                          <a:latin typeface="Calibri"/>
                        </a:rPr>
                        <a:t>IPAB, CONDUSEF</a:t>
                      </a:r>
                    </a:p>
                  </a:txBody>
                  <a:tcPr marL="54864" marR="54864" marT="27432" marB="27432"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Organigrama del Sistema Financiero Mexicano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05</a:t>
            </a:r>
          </a:p>
        </p:txBody>
      </p:sp>
      <p:sp>
        <p:nvSpPr>
          <p:cNvPr id="5" name="TextBox 4"/>
          <p:cNvSpPr txBox="1"/>
          <p:nvPr/>
        </p:nvSpPr>
        <p:spPr>
          <a:xfrm>
            <a:off x="640080" y="1539808"/>
            <a:ext cx="10911840" cy="533936"/>
          </a:xfrm>
          <a:prstGeom prst="rect">
            <a:avLst/>
          </a:prstGeom>
          <a:noFill/>
        </p:spPr>
        <p:txBody>
          <a:bodyPr wrap="square" lIns="0" rIns="0" tIns="0" bIns="0">
            <a:spAutoFit/>
          </a:bodyPr>
          <a:lstStyle/>
          <a:p>
            <a:pPr algn="l"/>
            <a:r>
              <a:rPr sz="1550" b="0" i="0">
                <a:solidFill>
                  <a:srgbClr val="5B6482"/>
                </a:solidFill>
                <a:latin typeface="Calibri"/>
              </a:rPr>
              <a:t>No todas las relaciones son de mando: hay jerarquía, coordinación entre autoridades autónomas y funciones cruzadas entre entidades.</a:t>
            </a:r>
          </a:p>
        </p:txBody>
      </p:sp>
      <p:pic>
        <p:nvPicPr>
          <p:cNvPr id="6" name="Picture 5" descr="secOrganigram_mermaid_1.png"/>
          <p:cNvPicPr>
            <a:picLocks noChangeAspect="1"/>
          </p:cNvPicPr>
          <p:nvPr/>
        </p:nvPicPr>
        <p:blipFill>
          <a:blip r:embed="rId2"/>
          <a:stretch>
            <a:fillRect/>
          </a:stretch>
        </p:blipFill>
        <p:spPr>
          <a:xfrm>
            <a:off x="1112667" y="2203744"/>
            <a:ext cx="9966666" cy="260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Organigrama del Sistema Financiero Mexicano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06</a:t>
            </a:r>
          </a:p>
        </p:txBody>
      </p:sp>
      <p:sp>
        <p:nvSpPr>
          <p:cNvPr id="5" name="TextBox 4"/>
          <p:cNvSpPr txBox="1"/>
          <p:nvPr/>
        </p:nvSpPr>
        <p:spPr>
          <a:xfrm>
            <a:off x="640080" y="1539808"/>
            <a:ext cx="10911840" cy="257584"/>
          </a:xfrm>
          <a:prstGeom prst="rect">
            <a:avLst/>
          </a:prstGeom>
          <a:noFill/>
        </p:spPr>
        <p:txBody>
          <a:bodyPr wrap="square" lIns="0" rIns="0" tIns="0" bIns="0">
            <a:spAutoFit/>
          </a:bodyPr>
          <a:lstStyle/>
          <a:p>
            <a:pPr algn="l"/>
            <a:r>
              <a:rPr sz="1400" b="1" i="0">
                <a:solidFill>
                  <a:srgbClr val="27314D"/>
                </a:solidFill>
                <a:latin typeface="Calibri"/>
              </a:rPr>
              <a:t>Tipos de relación:</a:t>
            </a:r>
          </a:p>
        </p:txBody>
      </p:sp>
      <p:sp>
        <p:nvSpPr>
          <p:cNvPr id="6" name="TextBox 5"/>
          <p:cNvSpPr txBox="1"/>
          <p:nvPr/>
        </p:nvSpPr>
        <p:spPr>
          <a:xfrm>
            <a:off x="640080" y="1887392"/>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7" name="TextBox 6"/>
          <p:cNvSpPr txBox="1"/>
          <p:nvPr/>
        </p:nvSpPr>
        <p:spPr>
          <a:xfrm>
            <a:off x="900080" y="1887392"/>
            <a:ext cx="10651840" cy="274456"/>
          </a:xfrm>
          <a:prstGeom prst="rect">
            <a:avLst/>
          </a:prstGeom>
          <a:noFill/>
        </p:spPr>
        <p:txBody>
          <a:bodyPr wrap="square" lIns="0" rIns="0" tIns="0" bIns="0">
            <a:spAutoFit/>
          </a:bodyPr>
          <a:lstStyle/>
          <a:p>
            <a:pPr algn="l"/>
            <a:r>
              <a:rPr sz="1350" b="0" i="0">
                <a:solidFill>
                  <a:srgbClr val="27314D"/>
                </a:solidFill>
                <a:latin typeface="Calibri"/>
              </a:rPr>
              <a:t>Línea sólida: jerarquía / sectorización (SHCP sobre CNBV, CNSF, Consar).</a:t>
            </a:r>
          </a:p>
        </p:txBody>
      </p:sp>
      <p:sp>
        <p:nvSpPr>
          <p:cNvPr id="8" name="TextBox 7"/>
          <p:cNvSpPr txBox="1"/>
          <p:nvPr/>
        </p:nvSpPr>
        <p:spPr>
          <a:xfrm>
            <a:off x="640080" y="216184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9" name="TextBox 8"/>
          <p:cNvSpPr txBox="1"/>
          <p:nvPr/>
        </p:nvSpPr>
        <p:spPr>
          <a:xfrm>
            <a:off x="900080" y="2161848"/>
            <a:ext cx="10651840" cy="274456"/>
          </a:xfrm>
          <a:prstGeom prst="rect">
            <a:avLst/>
          </a:prstGeom>
          <a:noFill/>
        </p:spPr>
        <p:txBody>
          <a:bodyPr wrap="square" lIns="0" rIns="0" tIns="0" bIns="0">
            <a:spAutoFit/>
          </a:bodyPr>
          <a:lstStyle/>
          <a:p>
            <a:pPr algn="l"/>
            <a:r>
              <a:rPr sz="1350" b="0" i="0">
                <a:solidFill>
                  <a:srgbClr val="27314D"/>
                </a:solidFill>
                <a:latin typeface="Calibri"/>
              </a:rPr>
              <a:t>Línea punteada sin flecha: coordinación entre autoridades autónomas (SHCP y Banxico vía CESF).</a:t>
            </a:r>
          </a:p>
        </p:txBody>
      </p:sp>
      <p:sp>
        <p:nvSpPr>
          <p:cNvPr id="10" name="TextBox 9"/>
          <p:cNvSpPr txBox="1"/>
          <p:nvPr/>
        </p:nvSpPr>
        <p:spPr>
          <a:xfrm>
            <a:off x="640080" y="2436304"/>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1" name="TextBox 10"/>
          <p:cNvSpPr txBox="1"/>
          <p:nvPr/>
        </p:nvSpPr>
        <p:spPr>
          <a:xfrm>
            <a:off x="900080" y="2436304"/>
            <a:ext cx="10651840" cy="493912"/>
          </a:xfrm>
          <a:prstGeom prst="rect">
            <a:avLst/>
          </a:prstGeom>
          <a:noFill/>
        </p:spPr>
        <p:txBody>
          <a:bodyPr wrap="square" lIns="0" rIns="0" tIns="0" bIns="0">
            <a:spAutoFit/>
          </a:bodyPr>
          <a:lstStyle/>
          <a:p>
            <a:pPr algn="l"/>
            <a:r>
              <a:rPr sz="1350" b="0" i="0">
                <a:solidFill>
                  <a:srgbClr val="27314D"/>
                </a:solidFill>
                <a:latin typeface="Calibri"/>
              </a:rPr>
              <a:t>Línea punteada con flecha: relación funcional (IPAB garantiza lo que supervisa la CNBV; CONDUSEF protege al usuario de los tres sectores supervisados).</a:t>
            </a:r>
          </a:p>
        </p:txBody>
      </p:sp>
      <p:sp>
        <p:nvSpPr>
          <p:cNvPr id="12" name="TextBox 11"/>
          <p:cNvSpPr txBox="1"/>
          <p:nvPr/>
        </p:nvSpPr>
        <p:spPr>
          <a:xfrm>
            <a:off x="640080" y="3020216"/>
            <a:ext cx="10911840" cy="257584"/>
          </a:xfrm>
          <a:prstGeom prst="rect">
            <a:avLst/>
          </a:prstGeom>
          <a:noFill/>
        </p:spPr>
        <p:txBody>
          <a:bodyPr wrap="square" lIns="0" rIns="0" tIns="0" bIns="0">
            <a:spAutoFit/>
          </a:bodyPr>
          <a:lstStyle/>
          <a:p>
            <a:pPr algn="l"/>
            <a:r>
              <a:rPr sz="1400" b="1" i="0">
                <a:solidFill>
                  <a:srgbClr val="27314D"/>
                </a:solidFill>
                <a:latin typeface="Calibri"/>
              </a:rPr>
              <a:t>Detalle por institución:</a:t>
            </a:r>
          </a:p>
        </p:txBody>
      </p:sp>
      <p:sp>
        <p:nvSpPr>
          <p:cNvPr id="13" name="TextBox 12"/>
          <p:cNvSpPr txBox="1"/>
          <p:nvPr/>
        </p:nvSpPr>
        <p:spPr>
          <a:xfrm>
            <a:off x="640080" y="336780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4" name="TextBox 13"/>
          <p:cNvSpPr txBox="1"/>
          <p:nvPr/>
        </p:nvSpPr>
        <p:spPr>
          <a:xfrm>
            <a:off x="900080" y="3367800"/>
            <a:ext cx="10651840" cy="274456"/>
          </a:xfrm>
          <a:prstGeom prst="rect">
            <a:avLst/>
          </a:prstGeom>
          <a:noFill/>
        </p:spPr>
        <p:txBody>
          <a:bodyPr wrap="square" lIns="0" rIns="0" tIns="0" bIns="0">
            <a:spAutoFit/>
          </a:bodyPr>
          <a:lstStyle/>
          <a:p>
            <a:pPr algn="l"/>
            <a:r>
              <a:rPr sz="1350" b="1" i="0">
                <a:solidFill>
                  <a:srgbClr val="27314D"/>
                </a:solidFill>
                <a:latin typeface="Calibri"/>
              </a:rPr>
              <a:t>SHCP</a:t>
            </a:r>
            <a:r>
              <a:rPr sz="1350" b="0" i="0">
                <a:solidFill>
                  <a:srgbClr val="27314D"/>
                </a:solidFill>
                <a:latin typeface="Calibri"/>
              </a:rPr>
              <a:t>: cabeza de sector, política financiera.</a:t>
            </a:r>
          </a:p>
        </p:txBody>
      </p:sp>
      <p:sp>
        <p:nvSpPr>
          <p:cNvPr id="15" name="TextBox 14"/>
          <p:cNvSpPr txBox="1"/>
          <p:nvPr/>
        </p:nvSpPr>
        <p:spPr>
          <a:xfrm>
            <a:off x="640080" y="364225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6" name="TextBox 15"/>
          <p:cNvSpPr txBox="1"/>
          <p:nvPr/>
        </p:nvSpPr>
        <p:spPr>
          <a:xfrm>
            <a:off x="900080" y="3642256"/>
            <a:ext cx="10651840" cy="274456"/>
          </a:xfrm>
          <a:prstGeom prst="rect">
            <a:avLst/>
          </a:prstGeom>
          <a:noFill/>
        </p:spPr>
        <p:txBody>
          <a:bodyPr wrap="square" lIns="0" rIns="0" tIns="0" bIns="0">
            <a:spAutoFit/>
          </a:bodyPr>
          <a:lstStyle/>
          <a:p>
            <a:pPr algn="l"/>
            <a:r>
              <a:rPr sz="1350" b="1" i="0">
                <a:solidFill>
                  <a:srgbClr val="27314D"/>
                </a:solidFill>
                <a:latin typeface="Calibri"/>
              </a:rPr>
              <a:t>Banxico</a:t>
            </a:r>
            <a:r>
              <a:rPr sz="1350" b="0" i="0">
                <a:solidFill>
                  <a:srgbClr val="27314D"/>
                </a:solidFill>
                <a:latin typeface="Calibri"/>
              </a:rPr>
              <a:t>: autónomo, no forma parte de la SHCP; coordina con la SHCP vía el </a:t>
            </a:r>
            <a:r>
              <a:rPr sz="1350" b="1" i="0">
                <a:solidFill>
                  <a:srgbClr val="27314D"/>
                </a:solidFill>
                <a:latin typeface="Calibri"/>
              </a:rPr>
              <a:t>CESF</a:t>
            </a:r>
            <a:r>
              <a:rPr sz="1350" b="0" i="0">
                <a:solidFill>
                  <a:srgbClr val="27314D"/>
                </a:solidFill>
                <a:latin typeface="Calibri"/>
              </a:rPr>
              <a:t> (Consejo de Estabilidad del Sistema Financiero).</a:t>
            </a:r>
          </a:p>
        </p:txBody>
      </p:sp>
      <p:sp>
        <p:nvSpPr>
          <p:cNvPr id="17" name="TextBox 16"/>
          <p:cNvSpPr txBox="1"/>
          <p:nvPr/>
        </p:nvSpPr>
        <p:spPr>
          <a:xfrm>
            <a:off x="640080" y="3916712"/>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8" name="TextBox 17"/>
          <p:cNvSpPr txBox="1"/>
          <p:nvPr/>
        </p:nvSpPr>
        <p:spPr>
          <a:xfrm>
            <a:off x="900080" y="3916712"/>
            <a:ext cx="10651840" cy="493912"/>
          </a:xfrm>
          <a:prstGeom prst="rect">
            <a:avLst/>
          </a:prstGeom>
          <a:noFill/>
        </p:spPr>
        <p:txBody>
          <a:bodyPr wrap="square" lIns="0" rIns="0" tIns="0" bIns="0">
            <a:spAutoFit/>
          </a:bodyPr>
          <a:lstStyle/>
          <a:p>
            <a:pPr algn="l"/>
            <a:r>
              <a:rPr sz="1350" b="1" i="0">
                <a:solidFill>
                  <a:srgbClr val="27314D"/>
                </a:solidFill>
                <a:latin typeface="Calibri"/>
              </a:rPr>
              <a:t>CNBV</a:t>
            </a:r>
            <a:r>
              <a:rPr sz="1350" b="0" i="0">
                <a:solidFill>
                  <a:srgbClr val="27314D"/>
                </a:solidFill>
                <a:latin typeface="Calibri"/>
              </a:rPr>
              <a:t>: regula banca y mercado de valores. Sectores: banca múltiple y de desarrollo; bursátil (BMV, BIVA, casas de bolsa); Fintech/ITF; ahorro popular (SOFIPO, SOCAP); auxiliares (SOFOM ER, uniones de crédito).</a:t>
            </a:r>
          </a:p>
        </p:txBody>
      </p:sp>
      <p:sp>
        <p:nvSpPr>
          <p:cNvPr id="19" name="TextBox 18"/>
          <p:cNvSpPr txBox="1"/>
          <p:nvPr/>
        </p:nvSpPr>
        <p:spPr>
          <a:xfrm>
            <a:off x="640080" y="441062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20" name="TextBox 19"/>
          <p:cNvSpPr txBox="1"/>
          <p:nvPr/>
        </p:nvSpPr>
        <p:spPr>
          <a:xfrm>
            <a:off x="900080" y="4410624"/>
            <a:ext cx="10651840" cy="274456"/>
          </a:xfrm>
          <a:prstGeom prst="rect">
            <a:avLst/>
          </a:prstGeom>
          <a:noFill/>
        </p:spPr>
        <p:txBody>
          <a:bodyPr wrap="square" lIns="0" rIns="0" tIns="0" bIns="0">
            <a:spAutoFit/>
          </a:bodyPr>
          <a:lstStyle/>
          <a:p>
            <a:pPr algn="l"/>
            <a:r>
              <a:rPr sz="1350" b="1" i="0">
                <a:solidFill>
                  <a:srgbClr val="27314D"/>
                </a:solidFill>
                <a:latin typeface="Calibri"/>
              </a:rPr>
              <a:t>CNSF</a:t>
            </a:r>
            <a:r>
              <a:rPr sz="1350" b="0" i="0">
                <a:solidFill>
                  <a:srgbClr val="27314D"/>
                </a:solidFill>
                <a:latin typeface="Calibri"/>
              </a:rPr>
              <a:t>: regula seguros y fianzas. Sectores: instituciones de seguros; fianzas y caución.</a:t>
            </a:r>
          </a:p>
        </p:txBody>
      </p:sp>
      <p:sp>
        <p:nvSpPr>
          <p:cNvPr id="21" name="TextBox 20"/>
          <p:cNvSpPr txBox="1"/>
          <p:nvPr/>
        </p:nvSpPr>
        <p:spPr>
          <a:xfrm>
            <a:off x="640080" y="468508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22" name="TextBox 21"/>
          <p:cNvSpPr txBox="1"/>
          <p:nvPr/>
        </p:nvSpPr>
        <p:spPr>
          <a:xfrm>
            <a:off x="900080" y="4685080"/>
            <a:ext cx="10651840" cy="274456"/>
          </a:xfrm>
          <a:prstGeom prst="rect">
            <a:avLst/>
          </a:prstGeom>
          <a:noFill/>
        </p:spPr>
        <p:txBody>
          <a:bodyPr wrap="square" lIns="0" rIns="0" tIns="0" bIns="0">
            <a:spAutoFit/>
          </a:bodyPr>
          <a:lstStyle/>
          <a:p>
            <a:pPr algn="l"/>
            <a:r>
              <a:rPr sz="1350" b="1" i="0">
                <a:solidFill>
                  <a:srgbClr val="27314D"/>
                </a:solidFill>
                <a:latin typeface="Calibri"/>
              </a:rPr>
              <a:t>Consar</a:t>
            </a:r>
            <a:r>
              <a:rPr sz="1350" b="0" i="0">
                <a:solidFill>
                  <a:srgbClr val="27314D"/>
                </a:solidFill>
                <a:latin typeface="Calibri"/>
              </a:rPr>
              <a:t>: regula el sistema de pensiones. Sector: Afores y Siefores generacionales.</a:t>
            </a:r>
          </a:p>
        </p:txBody>
      </p:sp>
      <p:sp>
        <p:nvSpPr>
          <p:cNvPr id="23" name="TextBox 22"/>
          <p:cNvSpPr txBox="1"/>
          <p:nvPr/>
        </p:nvSpPr>
        <p:spPr>
          <a:xfrm>
            <a:off x="640080" y="495953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24" name="TextBox 23"/>
          <p:cNvSpPr txBox="1"/>
          <p:nvPr/>
        </p:nvSpPr>
        <p:spPr>
          <a:xfrm>
            <a:off x="900080" y="4959536"/>
            <a:ext cx="10651840" cy="274456"/>
          </a:xfrm>
          <a:prstGeom prst="rect">
            <a:avLst/>
          </a:prstGeom>
          <a:noFill/>
        </p:spPr>
        <p:txBody>
          <a:bodyPr wrap="square" lIns="0" rIns="0" tIns="0" bIns="0">
            <a:spAutoFit/>
          </a:bodyPr>
          <a:lstStyle/>
          <a:p>
            <a:pPr algn="l"/>
            <a:r>
              <a:rPr sz="1350" b="1" i="0">
                <a:solidFill>
                  <a:srgbClr val="27314D"/>
                </a:solidFill>
                <a:latin typeface="Calibri"/>
              </a:rPr>
              <a:t>IPAB</a:t>
            </a:r>
            <a:r>
              <a:rPr sz="1350" b="0" i="0">
                <a:solidFill>
                  <a:srgbClr val="27314D"/>
                </a:solidFill>
                <a:latin typeface="Calibri"/>
              </a:rPr>
              <a:t>: garantiza el ahorro bancario; garantiza el seguro de depósito bancario de las instituciones que supervisa la CNBV.</a:t>
            </a:r>
          </a:p>
        </p:txBody>
      </p:sp>
      <p:sp>
        <p:nvSpPr>
          <p:cNvPr id="25" name="TextBox 24"/>
          <p:cNvSpPr txBox="1"/>
          <p:nvPr/>
        </p:nvSpPr>
        <p:spPr>
          <a:xfrm>
            <a:off x="640080" y="5233992"/>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26" name="TextBox 25"/>
          <p:cNvSpPr txBox="1"/>
          <p:nvPr/>
        </p:nvSpPr>
        <p:spPr>
          <a:xfrm>
            <a:off x="900080" y="5233992"/>
            <a:ext cx="10651840" cy="274456"/>
          </a:xfrm>
          <a:prstGeom prst="rect">
            <a:avLst/>
          </a:prstGeom>
          <a:noFill/>
        </p:spPr>
        <p:txBody>
          <a:bodyPr wrap="square" lIns="0" rIns="0" tIns="0" bIns="0">
            <a:spAutoFit/>
          </a:bodyPr>
          <a:lstStyle/>
          <a:p>
            <a:pPr algn="l"/>
            <a:r>
              <a:rPr sz="1350" b="1" i="0">
                <a:solidFill>
                  <a:srgbClr val="27314D"/>
                </a:solidFill>
                <a:latin typeface="Calibri"/>
              </a:rPr>
              <a:t>CONDUSEF</a:t>
            </a:r>
            <a:r>
              <a:rPr sz="1350" b="0" i="0">
                <a:solidFill>
                  <a:srgbClr val="27314D"/>
                </a:solidFill>
                <a:latin typeface="Calibri"/>
              </a:rPr>
              <a:t>: protege al usuario financiero; defiende al usuario ante bancos, aseguradoras, Afores y demás entidades del sistema.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Organigrama del Sistema Financiero Mexicano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07</a:t>
            </a:r>
          </a:p>
        </p:txBody>
      </p:sp>
      <p:sp>
        <p:nvSpPr>
          <p:cNvPr id="5" name="TextBox 4"/>
          <p:cNvSpPr txBox="1"/>
          <p:nvPr/>
        </p:nvSpPr>
        <p:spPr>
          <a:xfrm>
            <a:off x="640080" y="1539808"/>
            <a:ext cx="10911840" cy="940336"/>
          </a:xfrm>
          <a:prstGeom prst="rect">
            <a:avLst/>
          </a:prstGeom>
          <a:noFill/>
        </p:spPr>
        <p:txBody>
          <a:bodyPr wrap="square" lIns="0" rIns="0" tIns="0" bIns="0">
            <a:spAutoFit/>
          </a:bodyPr>
          <a:lstStyle/>
          <a:p>
            <a:pPr algn="l"/>
            <a:r>
              <a:rPr sz="1400" b="1" i="0">
                <a:solidFill>
                  <a:srgbClr val="27314D"/>
                </a:solidFill>
                <a:latin typeface="Calibri"/>
              </a:rPr>
              <a:t>Glosario de siglas:</a:t>
            </a:r>
            <a:r>
              <a:rPr sz="1400" b="0" i="0">
                <a:solidFill>
                  <a:srgbClr val="27314D"/>
                </a:solidFill>
                <a:latin typeface="Calibri"/>
              </a:rPr>
              <a:t> SHCP: Secretaría de Hacienda y Crédito Público · Banxico: Banco de México · CNBV: Comisión Nacional Bancaria y de Valores · CNSF: Comisión Nacional de Seguros y Fianzas · Consar: Comisión Nacional del Sistema de Ahorro para el Retiro · IPAB: Instituto para la Protección al Ahorro Bancario · CONDUSEF: Comisión Nacional para la Protección y Defensa de los Usuarios de Servicios Financieros · CESF: Consejo de Estabilidad del Sistema Financiero.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De los activos financieros a sus autoridades</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08</a:t>
            </a:r>
          </a:p>
        </p:txBody>
      </p:sp>
      <p:sp>
        <p:nvSpPr>
          <p:cNvPr id="5" name="TextBox 4"/>
          <p:cNvSpPr txBox="1"/>
          <p:nvPr/>
        </p:nvSpPr>
        <p:spPr>
          <a:xfrm>
            <a:off x="640080" y="1539808"/>
            <a:ext cx="10911840" cy="712752"/>
          </a:xfrm>
          <a:prstGeom prst="rect">
            <a:avLst/>
          </a:prstGeom>
          <a:noFill/>
        </p:spPr>
        <p:txBody>
          <a:bodyPr wrap="square" lIns="0" rIns="0" tIns="0" bIns="0">
            <a:spAutoFit/>
          </a:bodyPr>
          <a:lstStyle/>
          <a:p>
            <a:pPr algn="l"/>
            <a:r>
              <a:rPr sz="1400" b="0" i="0">
                <a:solidFill>
                  <a:srgbClr val="27314D"/>
                </a:solidFill>
                <a:latin typeface="Calibri"/>
              </a:rPr>
              <a:t>Con el organigrama ya trazado, retomamos los ejemplos de </a:t>
            </a:r>
            <a:r>
              <a:rPr sz="1400" b="0" i="0">
                <a:solidFill>
                  <a:srgbClr val="27314D"/>
                </a:solidFill>
                <a:latin typeface="Consolas"/>
              </a:rPr>
              <a:t>0_activo_financiero.md</a:t>
            </a:r>
            <a:r>
              <a:rPr sz="1400" b="0" i="0">
                <a:solidFill>
                  <a:srgbClr val="27314D"/>
                </a:solidFill>
                <a:latin typeface="Calibri"/>
              </a:rPr>
              <a:t>: cada uno tenía un emisor y un inversionista, pero no se dijo quién vigila al emisor ni qué pasa si algo sale mal. La columna "Mercado" retoma la clasificación por plazo de </a:t>
            </a:r>
            <a:r>
              <a:rPr sz="1400" b="0" i="0">
                <a:solidFill>
                  <a:srgbClr val="27314D"/>
                </a:solidFill>
                <a:latin typeface="Consolas"/>
              </a:rPr>
              <a:t>2_mercado_dinero_capitales.md</a:t>
            </a:r>
            <a:r>
              <a:rPr sz="1400" b="0" i="0">
                <a:solidFill>
                  <a:srgbClr val="27314D"/>
                </a:solidFill>
                <a:latin typeface="Calibri"/>
              </a:rPr>
              <a:t>. Así se reparten entre las autoridades de la sección anterior, y así protegen (o no) al inversionista: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De los activos financieros a sus autoridades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09</a:t>
            </a:r>
          </a:p>
        </p:txBody>
      </p:sp>
      <p:graphicFrame>
        <p:nvGraphicFramePr>
          <p:cNvPr id="5" name="Table 4"/>
          <p:cNvGraphicFramePr>
            <a:graphicFrameLocks noGrp="1"/>
          </p:cNvGraphicFramePr>
          <p:nvPr/>
        </p:nvGraphicFramePr>
        <p:xfrm>
          <a:off x="640080" y="1539808"/>
          <a:ext cx="10911840" cy="4356778"/>
        </p:xfrm>
        <a:graphic>
          <a:graphicData uri="http://schemas.openxmlformats.org/drawingml/2006/table">
            <a:tbl>
              <a:tblPr>
                <a:tableStyleId>{2D5ABB26-0587-4C30-8999-92F81FD0307C}</a:tableStyleId>
              </a:tblPr>
              <a:tblGrid>
                <a:gridCol w="1392323"/>
                <a:gridCol w="966670"/>
                <a:gridCol w="1690678"/>
                <a:gridCol w="3978068"/>
                <a:gridCol w="2884101"/>
              </a:tblGrid>
              <a:tr h="302404">
                <a:tc>
                  <a:txBody>
                    <a:bodyPr wrap="square"/>
                    <a:lstStyle/>
                    <a:p>
                      <a:pPr algn="l"/>
                      <a:r>
                        <a:rPr sz="1050" b="1" i="0">
                          <a:solidFill>
                            <a:srgbClr val="FFFFFF"/>
                          </a:solidFill>
                          <a:latin typeface="Calibri"/>
                        </a:rPr>
                        <a:t>Activo financiero</a:t>
                      </a:r>
                    </a:p>
                  </a:txBody>
                  <a:tcPr marL="54864" marR="54864" marT="27432" marB="27432" anchor="ctr">
                    <a:solidFill>
                      <a:srgbClr val="1E2761"/>
                    </a:solidFill>
                  </a:tcPr>
                </a:tc>
                <a:tc>
                  <a:txBody>
                    <a:bodyPr wrap="square"/>
                    <a:lstStyle/>
                    <a:p>
                      <a:pPr algn="l"/>
                      <a:r>
                        <a:rPr sz="1050" b="1" i="0">
                          <a:solidFill>
                            <a:srgbClr val="FFFFFF"/>
                          </a:solidFill>
                          <a:latin typeface="Calibri"/>
                        </a:rPr>
                        <a:t>Emisor</a:t>
                      </a:r>
                    </a:p>
                  </a:txBody>
                  <a:tcPr marL="54864" marR="54864" marT="27432" marB="27432" anchor="ctr">
                    <a:solidFill>
                      <a:srgbClr val="1E2761"/>
                    </a:solidFill>
                  </a:tcPr>
                </a:tc>
                <a:tc>
                  <a:txBody>
                    <a:bodyPr wrap="square"/>
                    <a:lstStyle/>
                    <a:p>
                      <a:pPr algn="l"/>
                      <a:r>
                        <a:rPr sz="1050" b="1" i="0">
                          <a:solidFill>
                            <a:srgbClr val="FFFFFF"/>
                          </a:solidFill>
                          <a:latin typeface="Calibri"/>
                        </a:rPr>
                        <a:t>Mercado</a:t>
                      </a:r>
                    </a:p>
                  </a:txBody>
                  <a:tcPr marL="54864" marR="54864" marT="27432" marB="27432" anchor="ctr">
                    <a:solidFill>
                      <a:srgbClr val="1E2761"/>
                    </a:solidFill>
                  </a:tcPr>
                </a:tc>
                <a:tc>
                  <a:txBody>
                    <a:bodyPr wrap="square"/>
                    <a:lstStyle/>
                    <a:p>
                      <a:pPr algn="l"/>
                      <a:r>
                        <a:rPr sz="1050" b="1" i="0">
                          <a:solidFill>
                            <a:srgbClr val="FFFFFF"/>
                          </a:solidFill>
                          <a:latin typeface="Calibri"/>
                        </a:rPr>
                        <a:t>¿Quién lo regula o supervisa?</a:t>
                      </a:r>
                    </a:p>
                  </a:txBody>
                  <a:tcPr marL="54864" marR="54864" marT="27432" marB="27432" anchor="ctr">
                    <a:solidFill>
                      <a:srgbClr val="1E2761"/>
                    </a:solidFill>
                  </a:tcPr>
                </a:tc>
                <a:tc>
                  <a:txBody>
                    <a:bodyPr wrap="square"/>
                    <a:lstStyle/>
                    <a:p>
                      <a:pPr algn="l"/>
                      <a:r>
                        <a:rPr sz="1050" b="1" i="0">
                          <a:solidFill>
                            <a:srgbClr val="FFFFFF"/>
                          </a:solidFill>
                          <a:latin typeface="Calibri"/>
                        </a:rPr>
                        <a:t>¿Garantía institucional al inversionista?</a:t>
                      </a:r>
                    </a:p>
                  </a:txBody>
                  <a:tcPr marL="54864" marR="54864" marT="27432" marB="27432" anchor="ctr">
                    <a:solidFill>
                      <a:srgbClr val="1E2761"/>
                    </a:solidFill>
                  </a:tcPr>
                </a:tc>
              </a:tr>
              <a:tr h="470044">
                <a:tc>
                  <a:txBody>
                    <a:bodyPr wrap="square"/>
                    <a:lstStyle/>
                    <a:p>
                      <a:pPr algn="l"/>
                      <a:r>
                        <a:rPr sz="1050" b="0" i="0">
                          <a:solidFill>
                            <a:srgbClr val="27314D"/>
                          </a:solidFill>
                          <a:latin typeface="Calibri"/>
                        </a:rPr>
                        <a:t>CETE</a:t>
                      </a:r>
                    </a:p>
                  </a:txBody>
                  <a:tcPr marL="54864" marR="54864" marT="27432" marB="27432" anchor="ctr">
                    <a:solidFill>
                      <a:srgbClr val="FFFFFF"/>
                    </a:solidFill>
                  </a:tcPr>
                </a:tc>
                <a:tc>
                  <a:txBody>
                    <a:bodyPr wrap="square"/>
                    <a:lstStyle/>
                    <a:p>
                      <a:pPr algn="l"/>
                      <a:r>
                        <a:rPr sz="1050" b="0" i="0">
                          <a:solidFill>
                            <a:srgbClr val="27314D"/>
                          </a:solidFill>
                          <a:latin typeface="Calibri"/>
                        </a:rPr>
                        <a:t>Gobierno federal (SHCP)</a:t>
                      </a:r>
                    </a:p>
                  </a:txBody>
                  <a:tcPr marL="54864" marR="54864" marT="27432" marB="27432" anchor="ctr">
                    <a:solidFill>
                      <a:srgbClr val="FFFFFF"/>
                    </a:solidFill>
                  </a:tcPr>
                </a:tc>
                <a:tc>
                  <a:txBody>
                    <a:bodyPr wrap="square"/>
                    <a:lstStyle/>
                    <a:p>
                      <a:pPr algn="l"/>
                      <a:r>
                        <a:rPr sz="1050" b="0" i="0">
                          <a:solidFill>
                            <a:srgbClr val="27314D"/>
                          </a:solidFill>
                          <a:latin typeface="Calibri"/>
                        </a:rPr>
                        <a:t>Dinero</a:t>
                      </a:r>
                    </a:p>
                  </a:txBody>
                  <a:tcPr marL="54864" marR="54864" marT="27432" marB="27432" anchor="ctr">
                    <a:solidFill>
                      <a:srgbClr val="FFFFFF"/>
                    </a:solidFill>
                  </a:tcPr>
                </a:tc>
                <a:tc>
                  <a:txBody>
                    <a:bodyPr wrap="square"/>
                    <a:lstStyle/>
                    <a:p>
                      <a:pPr algn="l"/>
                      <a:r>
                        <a:rPr sz="1050" b="0" i="0">
                          <a:solidFill>
                            <a:srgbClr val="27314D"/>
                          </a:solidFill>
                          <a:latin typeface="Calibri"/>
                        </a:rPr>
                        <a:t>SHCP emite; Banxico regula la subasta como agente financiero del Gobierno Federal; CNBV supervisa el mercado secundario.</a:t>
                      </a:r>
                    </a:p>
                  </a:txBody>
                  <a:tcPr marL="54864" marR="54864" marT="27432" marB="27432" anchor="ctr">
                    <a:solidFill>
                      <a:srgbClr val="FFFFFF"/>
                    </a:solidFill>
                  </a:tcPr>
                </a:tc>
                <a:tc>
                  <a:txBody>
                    <a:bodyPr wrap="square"/>
                    <a:lstStyle/>
                    <a:p>
                      <a:pPr algn="l"/>
                      <a:r>
                        <a:rPr sz="1050" b="0" i="0">
                          <a:solidFill>
                            <a:srgbClr val="27314D"/>
                          </a:solidFill>
                          <a:latin typeface="Calibri"/>
                        </a:rPr>
                        <a:t>Ninguna: el respaldo es la capacidad de pago del Estado, no una garantía institucional.</a:t>
                      </a:r>
                    </a:p>
                  </a:txBody>
                  <a:tcPr marL="54864" marR="54864" marT="27432" marB="27432" anchor="ctr">
                    <a:solidFill>
                      <a:srgbClr val="FFFFFF"/>
                    </a:solidFill>
                  </a:tcPr>
                </a:tc>
              </a:tr>
              <a:tr h="470044">
                <a:tc>
                  <a:txBody>
                    <a:bodyPr wrap="square"/>
                    <a:lstStyle/>
                    <a:p>
                      <a:pPr algn="l"/>
                      <a:r>
                        <a:rPr sz="1050" b="0" i="0">
                          <a:solidFill>
                            <a:srgbClr val="27314D"/>
                          </a:solidFill>
                          <a:latin typeface="Calibri"/>
                        </a:rPr>
                        <a:t>Bono gubernamental (Bono M, UDIBONO)</a:t>
                      </a:r>
                    </a:p>
                  </a:txBody>
                  <a:tcPr marL="54864" marR="54864" marT="27432" marB="27432" anchor="ctr">
                    <a:solidFill>
                      <a:srgbClr val="F2F4FA"/>
                    </a:solidFill>
                  </a:tcPr>
                </a:tc>
                <a:tc>
                  <a:txBody>
                    <a:bodyPr wrap="square"/>
                    <a:lstStyle/>
                    <a:p>
                      <a:pPr algn="l"/>
                      <a:r>
                        <a:rPr sz="1050" b="0" i="0">
                          <a:solidFill>
                            <a:srgbClr val="27314D"/>
                          </a:solidFill>
                          <a:latin typeface="Calibri"/>
                        </a:rPr>
                        <a:t>Gobierno federal</a:t>
                      </a:r>
                    </a:p>
                  </a:txBody>
                  <a:tcPr marL="54864" marR="54864" marT="27432" marB="27432" anchor="ctr">
                    <a:solidFill>
                      <a:srgbClr val="F2F4FA"/>
                    </a:solidFill>
                  </a:tcPr>
                </a:tc>
                <a:tc>
                  <a:txBody>
                    <a:bodyPr wrap="square"/>
                    <a:lstStyle/>
                    <a:p>
                      <a:pPr algn="l"/>
                      <a:r>
                        <a:rPr sz="1050" b="0" i="0">
                          <a:solidFill>
                            <a:srgbClr val="27314D"/>
                          </a:solidFill>
                          <a:latin typeface="Calibri"/>
                        </a:rPr>
                        <a:t>Capitales</a:t>
                      </a:r>
                    </a:p>
                  </a:txBody>
                  <a:tcPr marL="54864" marR="54864" marT="27432" marB="27432" anchor="ctr">
                    <a:solidFill>
                      <a:srgbClr val="F2F4FA"/>
                    </a:solidFill>
                  </a:tcPr>
                </a:tc>
                <a:tc>
                  <a:txBody>
                    <a:bodyPr wrap="square"/>
                    <a:lstStyle/>
                    <a:p>
                      <a:pPr algn="l"/>
                      <a:r>
                        <a:rPr sz="1050" b="0" i="0">
                          <a:solidFill>
                            <a:srgbClr val="27314D"/>
                          </a:solidFill>
                          <a:latin typeface="Calibri"/>
                        </a:rPr>
                        <a:t>Igual que el CETE.</a:t>
                      </a:r>
                    </a:p>
                  </a:txBody>
                  <a:tcPr marL="54864" marR="54864" marT="27432" marB="27432" anchor="ctr">
                    <a:solidFill>
                      <a:srgbClr val="F2F4FA"/>
                    </a:solidFill>
                  </a:tcPr>
                </a:tc>
                <a:tc>
                  <a:txBody>
                    <a:bodyPr wrap="square"/>
                    <a:lstStyle/>
                    <a:p>
                      <a:pPr algn="l"/>
                      <a:r>
                        <a:rPr sz="1050" b="0" i="0">
                          <a:solidFill>
                            <a:srgbClr val="27314D"/>
                          </a:solidFill>
                          <a:latin typeface="Calibri"/>
                        </a:rPr>
                        <a:t>Igual que el CETE: ninguna garantía institucional.</a:t>
                      </a:r>
                    </a:p>
                  </a:txBody>
                  <a:tcPr marL="54864" marR="54864" marT="27432" marB="27432" anchor="ctr">
                    <a:solidFill>
                      <a:srgbClr val="F2F4FA"/>
                    </a:solidFill>
                  </a:tcPr>
                </a:tc>
              </a:tr>
              <a:tr h="470044">
                <a:tc>
                  <a:txBody>
                    <a:bodyPr wrap="square"/>
                    <a:lstStyle/>
                    <a:p>
                      <a:pPr algn="l"/>
                      <a:r>
                        <a:rPr sz="1050" b="0" i="0">
                          <a:solidFill>
                            <a:srgbClr val="27314D"/>
                          </a:solidFill>
                          <a:latin typeface="Calibri"/>
                        </a:rPr>
                        <a:t>Bono corporativo</a:t>
                      </a:r>
                    </a:p>
                  </a:txBody>
                  <a:tcPr marL="54864" marR="54864" marT="27432" marB="27432" anchor="ctr">
                    <a:solidFill>
                      <a:srgbClr val="FFFFFF"/>
                    </a:solidFill>
                  </a:tcPr>
                </a:tc>
                <a:tc>
                  <a:txBody>
                    <a:bodyPr wrap="square"/>
                    <a:lstStyle/>
                    <a:p>
                      <a:pPr algn="l"/>
                      <a:r>
                        <a:rPr sz="1050" b="0" i="0">
                          <a:solidFill>
                            <a:srgbClr val="27314D"/>
                          </a:solidFill>
                          <a:latin typeface="Calibri"/>
                        </a:rPr>
                        <a:t>La empresa que lo coloca</a:t>
                      </a:r>
                    </a:p>
                  </a:txBody>
                  <a:tcPr marL="54864" marR="54864" marT="27432" marB="27432" anchor="ctr">
                    <a:solidFill>
                      <a:srgbClr val="FFFFFF"/>
                    </a:solidFill>
                  </a:tcPr>
                </a:tc>
                <a:tc>
                  <a:txBody>
                    <a:bodyPr wrap="square"/>
                    <a:lstStyle/>
                    <a:p>
                      <a:pPr algn="l"/>
                      <a:r>
                        <a:rPr sz="1050" b="0" i="0">
                          <a:solidFill>
                            <a:srgbClr val="27314D"/>
                          </a:solidFill>
                          <a:latin typeface="Calibri"/>
                        </a:rPr>
                        <a:t>Capitales</a:t>
                      </a:r>
                    </a:p>
                  </a:txBody>
                  <a:tcPr marL="54864" marR="54864" marT="27432" marB="27432" anchor="ctr">
                    <a:solidFill>
                      <a:srgbClr val="FFFFFF"/>
                    </a:solidFill>
                  </a:tcPr>
                </a:tc>
                <a:tc>
                  <a:txBody>
                    <a:bodyPr wrap="square"/>
                    <a:lstStyle/>
                    <a:p>
                      <a:pPr algn="l"/>
                      <a:r>
                        <a:rPr sz="1050" b="0" i="0">
                          <a:solidFill>
                            <a:srgbClr val="27314D"/>
                          </a:solidFill>
                          <a:latin typeface="Calibri"/>
                        </a:rPr>
                        <a:t>CNBV autoriza y supervisa la oferta pública (sector bursátil).</a:t>
                      </a:r>
                    </a:p>
                  </a:txBody>
                  <a:tcPr marL="54864" marR="54864" marT="27432" marB="27432" anchor="ctr">
                    <a:solidFill>
                      <a:srgbClr val="FFFFFF"/>
                    </a:solidFill>
                  </a:tcPr>
                </a:tc>
                <a:tc>
                  <a:txBody>
                    <a:bodyPr wrap="square"/>
                    <a:lstStyle/>
                    <a:p>
                      <a:pPr algn="l"/>
                      <a:r>
                        <a:rPr sz="1050" b="0" i="0">
                          <a:solidFill>
                            <a:srgbClr val="27314D"/>
                          </a:solidFill>
                          <a:latin typeface="Calibri"/>
                        </a:rPr>
                        <a:t>Ninguna: el inversionista asume el riesgo de crédito directo frente al emisor.</a:t>
                      </a:r>
                    </a:p>
                  </a:txBody>
                  <a:tcPr marL="54864" marR="54864" marT="27432" marB="27432" anchor="ctr">
                    <a:solidFill>
                      <a:srgbClr val="FFFFFF"/>
                    </a:solidFill>
                  </a:tcPr>
                </a:tc>
              </a:tr>
              <a:tr h="470044">
                <a:tc>
                  <a:txBody>
                    <a:bodyPr wrap="square"/>
                    <a:lstStyle/>
                    <a:p>
                      <a:pPr algn="l"/>
                      <a:r>
                        <a:rPr sz="1050" b="0" i="0">
                          <a:solidFill>
                            <a:srgbClr val="27314D"/>
                          </a:solidFill>
                          <a:latin typeface="Calibri"/>
                        </a:rPr>
                        <a:t>Papel comercial</a:t>
                      </a:r>
                    </a:p>
                  </a:txBody>
                  <a:tcPr marL="54864" marR="54864" marT="27432" marB="27432" anchor="ctr">
                    <a:solidFill>
                      <a:srgbClr val="F2F4FA"/>
                    </a:solidFill>
                  </a:tcPr>
                </a:tc>
                <a:tc>
                  <a:txBody>
                    <a:bodyPr wrap="square"/>
                    <a:lstStyle/>
                    <a:p>
                      <a:pPr algn="l"/>
                      <a:r>
                        <a:rPr sz="1050" b="0" i="0">
                          <a:solidFill>
                            <a:srgbClr val="27314D"/>
                          </a:solidFill>
                          <a:latin typeface="Calibri"/>
                        </a:rPr>
                        <a:t>La empresa que lo emite</a:t>
                      </a:r>
                    </a:p>
                  </a:txBody>
                  <a:tcPr marL="54864" marR="54864" marT="27432" marB="27432" anchor="ctr">
                    <a:solidFill>
                      <a:srgbClr val="F2F4FA"/>
                    </a:solidFill>
                  </a:tcPr>
                </a:tc>
                <a:tc>
                  <a:txBody>
                    <a:bodyPr wrap="square"/>
                    <a:lstStyle/>
                    <a:p>
                      <a:pPr algn="l"/>
                      <a:r>
                        <a:rPr sz="1050" b="0" i="0">
                          <a:solidFill>
                            <a:srgbClr val="27314D"/>
                          </a:solidFill>
                          <a:latin typeface="Calibri"/>
                        </a:rPr>
                        <a:t>Dinero</a:t>
                      </a:r>
                    </a:p>
                  </a:txBody>
                  <a:tcPr marL="54864" marR="54864" marT="27432" marB="27432" anchor="ctr">
                    <a:solidFill>
                      <a:srgbClr val="F2F4FA"/>
                    </a:solidFill>
                  </a:tcPr>
                </a:tc>
                <a:tc>
                  <a:txBody>
                    <a:bodyPr wrap="square"/>
                    <a:lstStyle/>
                    <a:p>
                      <a:pPr algn="l"/>
                      <a:r>
                        <a:rPr sz="1050" b="0" i="0">
                          <a:solidFill>
                            <a:srgbClr val="27314D"/>
                          </a:solidFill>
                          <a:latin typeface="Calibri"/>
                        </a:rPr>
                        <a:t>CNBV (sector bursátil).</a:t>
                      </a:r>
                    </a:p>
                  </a:txBody>
                  <a:tcPr marL="54864" marR="54864" marT="27432" marB="27432" anchor="ctr">
                    <a:solidFill>
                      <a:srgbClr val="F2F4FA"/>
                    </a:solidFill>
                  </a:tcPr>
                </a:tc>
                <a:tc>
                  <a:txBody>
                    <a:bodyPr wrap="square"/>
                    <a:lstStyle/>
                    <a:p>
                      <a:pPr algn="l"/>
                      <a:r>
                        <a:rPr sz="1050" b="0" i="0">
                          <a:solidFill>
                            <a:srgbClr val="27314D"/>
                          </a:solidFill>
                          <a:latin typeface="Calibri"/>
                        </a:rPr>
                        <a:t>Ninguna, mismo caso que el bono corporativo.</a:t>
                      </a:r>
                    </a:p>
                  </a:txBody>
                  <a:tcPr marL="54864" marR="54864" marT="27432" marB="27432" anchor="ctr">
                    <a:solidFill>
                      <a:srgbClr val="F2F4FA"/>
                    </a:solidFill>
                  </a:tcPr>
                </a:tc>
              </a:tr>
              <a:tr h="470044">
                <a:tc>
                  <a:txBody>
                    <a:bodyPr wrap="square"/>
                    <a:lstStyle/>
                    <a:p>
                      <a:pPr algn="l"/>
                      <a:r>
                        <a:rPr sz="1050" b="0" i="0">
                          <a:solidFill>
                            <a:srgbClr val="27314D"/>
                          </a:solidFill>
                          <a:latin typeface="Calibri"/>
                        </a:rPr>
                        <a:t>Certificado bursátil</a:t>
                      </a:r>
                    </a:p>
                  </a:txBody>
                  <a:tcPr marL="54864" marR="54864" marT="27432" marB="27432" anchor="ctr">
                    <a:solidFill>
                      <a:srgbClr val="FFFFFF"/>
                    </a:solidFill>
                  </a:tcPr>
                </a:tc>
                <a:tc>
                  <a:txBody>
                    <a:bodyPr wrap="square"/>
                    <a:lstStyle/>
                    <a:p>
                      <a:pPr algn="l"/>
                      <a:r>
                        <a:rPr sz="1050" b="0" i="0">
                          <a:solidFill>
                            <a:srgbClr val="27314D"/>
                          </a:solidFill>
                          <a:latin typeface="Calibri"/>
                        </a:rPr>
                        <a:t>Empresa o gobierno</a:t>
                      </a:r>
                    </a:p>
                  </a:txBody>
                  <a:tcPr marL="54864" marR="54864" marT="27432" marB="27432" anchor="ctr">
                    <a:solidFill>
                      <a:srgbClr val="FFFFFF"/>
                    </a:solidFill>
                  </a:tcPr>
                </a:tc>
                <a:tc>
                  <a:txBody>
                    <a:bodyPr wrap="square"/>
                    <a:lstStyle/>
                    <a:p>
                      <a:pPr algn="l"/>
                      <a:r>
                        <a:rPr sz="1050" b="0" i="0">
                          <a:solidFill>
                            <a:srgbClr val="27314D"/>
                          </a:solidFill>
                          <a:latin typeface="Calibri"/>
                        </a:rPr>
                        <a:t>Capitales (el más común; hay CEBURS de corto plazo)</a:t>
                      </a:r>
                    </a:p>
                  </a:txBody>
                  <a:tcPr marL="54864" marR="54864" marT="27432" marB="27432" anchor="ctr">
                    <a:solidFill>
                      <a:srgbClr val="FFFFFF"/>
                    </a:solidFill>
                  </a:tcPr>
                </a:tc>
                <a:tc>
                  <a:txBody>
                    <a:bodyPr wrap="square"/>
                    <a:lstStyle/>
                    <a:p>
                      <a:pPr algn="l"/>
                      <a:r>
                        <a:rPr sz="1050" b="0" i="0">
                          <a:solidFill>
                            <a:srgbClr val="27314D"/>
                          </a:solidFill>
                          <a:latin typeface="Calibri"/>
                        </a:rPr>
                        <a:t>CNBV (sector bursátil).</a:t>
                      </a:r>
                    </a:p>
                  </a:txBody>
                  <a:tcPr marL="54864" marR="54864" marT="27432" marB="27432" anchor="ctr">
                    <a:solidFill>
                      <a:srgbClr val="FFFFFF"/>
                    </a:solidFill>
                  </a:tcPr>
                </a:tc>
                <a:tc>
                  <a:txBody>
                    <a:bodyPr wrap="square"/>
                    <a:lstStyle/>
                    <a:p>
                      <a:pPr algn="l"/>
                      <a:r>
                        <a:rPr sz="1050" b="0" i="0">
                          <a:solidFill>
                            <a:srgbClr val="27314D"/>
                          </a:solidFill>
                          <a:latin typeface="Calibri"/>
                        </a:rPr>
                        <a:t>Ninguna.</a:t>
                      </a:r>
                    </a:p>
                  </a:txBody>
                  <a:tcPr marL="54864" marR="54864" marT="27432" marB="27432" anchor="ctr">
                    <a:solidFill>
                      <a:srgbClr val="FFFFFF"/>
                    </a:solidFill>
                  </a:tcPr>
                </a:tc>
              </a:tr>
              <a:tr h="470044">
                <a:tc>
                  <a:txBody>
                    <a:bodyPr wrap="square"/>
                    <a:lstStyle/>
                    <a:p>
                      <a:pPr algn="l"/>
                      <a:r>
                        <a:rPr sz="1050" b="0" i="0">
                          <a:solidFill>
                            <a:srgbClr val="27314D"/>
                          </a:solidFill>
                          <a:latin typeface="Calibri"/>
                        </a:rPr>
                        <a:t>Acción común o preferente</a:t>
                      </a:r>
                    </a:p>
                  </a:txBody>
                  <a:tcPr marL="54864" marR="54864" marT="27432" marB="27432" anchor="ctr">
                    <a:solidFill>
                      <a:srgbClr val="F2F4FA"/>
                    </a:solidFill>
                  </a:tcPr>
                </a:tc>
                <a:tc>
                  <a:txBody>
                    <a:bodyPr wrap="square"/>
                    <a:lstStyle/>
                    <a:p>
                      <a:pPr algn="l"/>
                      <a:r>
                        <a:rPr sz="1050" b="0" i="0">
                          <a:solidFill>
                            <a:srgbClr val="27314D"/>
                          </a:solidFill>
                          <a:latin typeface="Calibri"/>
                        </a:rPr>
                        <a:t>La empresa que cotiza</a:t>
                      </a:r>
                    </a:p>
                  </a:txBody>
                  <a:tcPr marL="54864" marR="54864" marT="27432" marB="27432" anchor="ctr">
                    <a:solidFill>
                      <a:srgbClr val="F2F4FA"/>
                    </a:solidFill>
                  </a:tcPr>
                </a:tc>
                <a:tc>
                  <a:txBody>
                    <a:bodyPr wrap="square"/>
                    <a:lstStyle/>
                    <a:p>
                      <a:pPr algn="l"/>
                      <a:r>
                        <a:rPr sz="1050" b="0" i="0">
                          <a:solidFill>
                            <a:srgbClr val="27314D"/>
                          </a:solidFill>
                          <a:latin typeface="Calibri"/>
                        </a:rPr>
                        <a:t>Capitales</a:t>
                      </a:r>
                    </a:p>
                  </a:txBody>
                  <a:tcPr marL="54864" marR="54864" marT="27432" marB="27432" anchor="ctr">
                    <a:solidFill>
                      <a:srgbClr val="F2F4FA"/>
                    </a:solidFill>
                  </a:tcPr>
                </a:tc>
                <a:tc>
                  <a:txBody>
                    <a:bodyPr wrap="square"/>
                    <a:lstStyle/>
                    <a:p>
                      <a:pPr algn="l"/>
                      <a:r>
                        <a:rPr sz="1050" b="0" i="0">
                          <a:solidFill>
                            <a:srgbClr val="27314D"/>
                          </a:solidFill>
                          <a:latin typeface="Calibri"/>
                        </a:rPr>
                        <a:t>CNBV (sector bursátil).</a:t>
                      </a:r>
                    </a:p>
                  </a:txBody>
                  <a:tcPr marL="54864" marR="54864" marT="27432" marB="27432" anchor="ctr">
                    <a:solidFill>
                      <a:srgbClr val="F2F4FA"/>
                    </a:solidFill>
                  </a:tcPr>
                </a:tc>
                <a:tc>
                  <a:txBody>
                    <a:bodyPr wrap="square"/>
                    <a:lstStyle/>
                    <a:p>
                      <a:pPr algn="l"/>
                      <a:r>
                        <a:rPr sz="1050" b="0" i="0">
                          <a:solidFill>
                            <a:srgbClr val="27314D"/>
                          </a:solidFill>
                          <a:latin typeface="Calibri"/>
                        </a:rPr>
                        <a:t>Ninguna: ni el dividendo ni el precio de venta están garantizados.</a:t>
                      </a:r>
                    </a:p>
                  </a:txBody>
                  <a:tcPr marL="54864" marR="54864" marT="27432" marB="27432" anchor="ctr">
                    <a:solidFill>
                      <a:srgbClr val="F2F4FA"/>
                    </a:solidFill>
                  </a:tcPr>
                </a:tc>
              </a:tr>
              <a:tr h="294022">
                <a:tc>
                  <a:txBody>
                    <a:bodyPr wrap="square"/>
                    <a:lstStyle/>
                    <a:p>
                      <a:pPr algn="l"/>
                      <a:r>
                        <a:rPr sz="1050" b="0" i="0">
                          <a:solidFill>
                            <a:srgbClr val="27314D"/>
                          </a:solidFill>
                          <a:latin typeface="Calibri"/>
                        </a:rPr>
                        <a:t>FIBRA / CKD / CERPI</a:t>
                      </a:r>
                    </a:p>
                  </a:txBody>
                  <a:tcPr marL="54864" marR="54864" marT="27432" marB="27432" anchor="ctr">
                    <a:solidFill>
                      <a:srgbClr val="FFFFFF"/>
                    </a:solidFill>
                  </a:tcPr>
                </a:tc>
                <a:tc>
                  <a:txBody>
                    <a:bodyPr wrap="square"/>
                    <a:lstStyle/>
                    <a:p>
                      <a:pPr algn="l"/>
                      <a:r>
                        <a:rPr sz="1050" b="0" i="0">
                          <a:solidFill>
                            <a:srgbClr val="27314D"/>
                          </a:solidFill>
                          <a:latin typeface="Calibri"/>
                        </a:rPr>
                        <a:t>El fideicomiso</a:t>
                      </a:r>
                    </a:p>
                  </a:txBody>
                  <a:tcPr marL="54864" marR="54864" marT="27432" marB="27432" anchor="ctr">
                    <a:solidFill>
                      <a:srgbClr val="FFFFFF"/>
                    </a:solidFill>
                  </a:tcPr>
                </a:tc>
                <a:tc>
                  <a:txBody>
                    <a:bodyPr wrap="square"/>
                    <a:lstStyle/>
                    <a:p>
                      <a:pPr algn="l"/>
                      <a:r>
                        <a:rPr sz="1050" b="0" i="0">
                          <a:solidFill>
                            <a:srgbClr val="27314D"/>
                          </a:solidFill>
                          <a:latin typeface="Calibri"/>
                        </a:rPr>
                        <a:t>Capitales</a:t>
                      </a:r>
                    </a:p>
                  </a:txBody>
                  <a:tcPr marL="54864" marR="54864" marT="27432" marB="27432" anchor="ctr">
                    <a:solidFill>
                      <a:srgbClr val="FFFFFF"/>
                    </a:solidFill>
                  </a:tcPr>
                </a:tc>
                <a:tc>
                  <a:txBody>
                    <a:bodyPr wrap="square"/>
                    <a:lstStyle/>
                    <a:p>
                      <a:pPr algn="l"/>
                      <a:r>
                        <a:rPr sz="1050" b="0" i="0">
                          <a:solidFill>
                            <a:srgbClr val="27314D"/>
                          </a:solidFill>
                          <a:latin typeface="Calibri"/>
                        </a:rPr>
                        <a:t>CNBV (sector bursátil).</a:t>
                      </a:r>
                    </a:p>
                  </a:txBody>
                  <a:tcPr marL="54864" marR="54864" marT="27432" marB="27432" anchor="ctr">
                    <a:solidFill>
                      <a:srgbClr val="FFFFFF"/>
                    </a:solidFill>
                  </a:tcPr>
                </a:tc>
                <a:tc>
                  <a:txBody>
                    <a:bodyPr wrap="square"/>
                    <a:lstStyle/>
                    <a:p>
                      <a:pPr algn="l"/>
                      <a:r>
                        <a:rPr sz="1050" b="0" i="0">
                          <a:solidFill>
                            <a:srgbClr val="27314D"/>
                          </a:solidFill>
                          <a:latin typeface="Calibri"/>
                        </a:rPr>
                        <a:t>Ninguna.</a:t>
                      </a:r>
                    </a:p>
                  </a:txBody>
                  <a:tcPr marL="54864" marR="54864" marT="27432" marB="27432" anchor="ctr">
                    <a:solidFill>
                      <a:srgbClr val="FFFFFF"/>
                    </a:solidFill>
                  </a:tcPr>
                </a:tc>
              </a:tr>
              <a:tr h="470044">
                <a:tc>
                  <a:txBody>
                    <a:bodyPr wrap="square"/>
                    <a:lstStyle/>
                    <a:p>
                      <a:pPr algn="l"/>
                      <a:r>
                        <a:rPr sz="1050" b="0" i="0">
                          <a:solidFill>
                            <a:srgbClr val="27314D"/>
                          </a:solidFill>
                          <a:latin typeface="Calibri"/>
                        </a:rPr>
                        <a:t>Cuenta de ahorro / depósito a plazo</a:t>
                      </a:r>
                    </a:p>
                  </a:txBody>
                  <a:tcPr marL="54864" marR="54864" marT="27432" marB="27432" anchor="ctr">
                    <a:solidFill>
                      <a:srgbClr val="F2F4FA"/>
                    </a:solidFill>
                  </a:tcPr>
                </a:tc>
                <a:tc>
                  <a:txBody>
                    <a:bodyPr wrap="square"/>
                    <a:lstStyle/>
                    <a:p>
                      <a:pPr algn="l"/>
                      <a:r>
                        <a:rPr sz="1050" b="0" i="0">
                          <a:solidFill>
                            <a:srgbClr val="27314D"/>
                          </a:solidFill>
                          <a:latin typeface="Calibri"/>
                        </a:rPr>
                        <a:t>El banco</a:t>
                      </a:r>
                    </a:p>
                  </a:txBody>
                  <a:tcPr marL="54864" marR="54864" marT="27432" marB="27432" anchor="ctr">
                    <a:solidFill>
                      <a:srgbClr val="F2F4FA"/>
                    </a:solidFill>
                  </a:tcPr>
                </a:tc>
                <a:tc>
                  <a:txBody>
                    <a:bodyPr wrap="square"/>
                    <a:lstStyle/>
                    <a:p>
                      <a:pPr algn="l"/>
                      <a:r>
                        <a:rPr sz="1050" b="0" i="0">
                          <a:solidFill>
                            <a:srgbClr val="27314D"/>
                          </a:solidFill>
                          <a:latin typeface="Calibri"/>
                        </a:rPr>
                        <a:t>Dinero</a:t>
                      </a:r>
                    </a:p>
                  </a:txBody>
                  <a:tcPr marL="54864" marR="54864" marT="27432" marB="27432" anchor="ctr">
                    <a:solidFill>
                      <a:srgbClr val="F2F4FA"/>
                    </a:solidFill>
                  </a:tcPr>
                </a:tc>
                <a:tc>
                  <a:txBody>
                    <a:bodyPr wrap="square"/>
                    <a:lstStyle/>
                    <a:p>
                      <a:pPr algn="l"/>
                      <a:r>
                        <a:rPr sz="1050" b="0" i="0">
                          <a:solidFill>
                            <a:srgbClr val="27314D"/>
                          </a:solidFill>
                          <a:latin typeface="Calibri"/>
                        </a:rPr>
                        <a:t>Banxico regula la tasa de referencia y el sistema de pagos; CNBV supervisa al banco (sector banca múltiple).</a:t>
                      </a:r>
                    </a:p>
                  </a:txBody>
                  <a:tcPr marL="54864" marR="54864" marT="27432" marB="27432" anchor="ctr">
                    <a:solidFill>
                      <a:srgbClr val="F2F4FA"/>
                    </a:solidFill>
                  </a:tcPr>
                </a:tc>
                <a:tc>
                  <a:txBody>
                    <a:bodyPr wrap="square"/>
                    <a:lstStyle/>
                    <a:p>
                      <a:pPr algn="l"/>
                      <a:r>
                        <a:rPr sz="1050" b="0" i="0">
                          <a:solidFill>
                            <a:srgbClr val="27314D"/>
                          </a:solidFill>
                          <a:latin typeface="Calibri"/>
                        </a:rPr>
                        <a:t>IPAB garantiza el depósito hasta el límite legal.</a:t>
                      </a:r>
                    </a:p>
                  </a:txBody>
                  <a:tcPr marL="54864" marR="54864" marT="27432" marB="27432" anchor="ctr">
                    <a:solidFill>
                      <a:srgbClr val="F2F4FA"/>
                    </a:solidFill>
                  </a:tcPr>
                </a:tc>
              </a:tr>
              <a:tr h="470044">
                <a:tc>
                  <a:txBody>
                    <a:bodyPr wrap="square"/>
                    <a:lstStyle/>
                    <a:p>
                      <a:pPr algn="l"/>
                      <a:r>
                        <a:rPr sz="1050" b="0" i="0">
                          <a:solidFill>
                            <a:srgbClr val="27314D"/>
                          </a:solidFill>
                          <a:latin typeface="Calibri"/>
                        </a:rPr>
                        <a:t>Crédito hipotecario (visto desde el banco)</a:t>
                      </a:r>
                    </a:p>
                  </a:txBody>
                  <a:tcPr marL="54864" marR="54864" marT="27432" marB="27432" anchor="ctr">
                    <a:solidFill>
                      <a:srgbClr val="FFFFFF"/>
                    </a:solidFill>
                  </a:tcPr>
                </a:tc>
                <a:tc>
                  <a:txBody>
                    <a:bodyPr wrap="square"/>
                    <a:lstStyle/>
                    <a:p>
                      <a:pPr algn="l"/>
                      <a:r>
                        <a:rPr sz="1050" b="0" i="0">
                          <a:solidFill>
                            <a:srgbClr val="27314D"/>
                          </a:solidFill>
                          <a:latin typeface="Calibri"/>
                        </a:rPr>
                        <a:t>Quien pide el préstamo</a:t>
                      </a:r>
                    </a:p>
                  </a:txBody>
                  <a:tcPr marL="54864" marR="54864" marT="27432" marB="27432" anchor="ctr">
                    <a:solidFill>
                      <a:srgbClr val="FFFFFF"/>
                    </a:solidFill>
                  </a:tcPr>
                </a:tc>
                <a:tc>
                  <a:txBody>
                    <a:bodyPr wrap="square"/>
                    <a:lstStyle/>
                    <a:p>
                      <a:pPr algn="l"/>
                      <a:r>
                        <a:rPr sz="1050" b="0" i="0">
                          <a:solidFill>
                            <a:srgbClr val="27314D"/>
                          </a:solidFill>
                          <a:latin typeface="Calibri"/>
                        </a:rPr>
                        <a:t>Capitales</a:t>
                      </a:r>
                    </a:p>
                  </a:txBody>
                  <a:tcPr marL="54864" marR="54864" marT="27432" marB="27432" anchor="ctr">
                    <a:solidFill>
                      <a:srgbClr val="FFFFFF"/>
                    </a:solidFill>
                  </a:tcPr>
                </a:tc>
                <a:tc>
                  <a:txBody>
                    <a:bodyPr wrap="square"/>
                    <a:lstStyle/>
                    <a:p>
                      <a:pPr algn="l"/>
                      <a:r>
                        <a:rPr sz="1050" b="0" i="0">
                          <a:solidFill>
                            <a:srgbClr val="27314D"/>
                          </a:solidFill>
                          <a:latin typeface="Calibri"/>
                        </a:rPr>
                        <a:t>Banxico regula la tasa de referencia (p. ej. TIIE); CNBV supervisa al banco que otorga el crédito.</a:t>
                      </a:r>
                    </a:p>
                  </a:txBody>
                  <a:tcPr marL="54864" marR="54864" marT="27432" marB="27432" anchor="ctr">
                    <a:solidFill>
                      <a:srgbClr val="FFFFFF"/>
                    </a:solidFill>
                  </a:tcPr>
                </a:tc>
                <a:tc>
                  <a:txBody>
                    <a:bodyPr wrap="square"/>
                    <a:lstStyle/>
                    <a:p>
                      <a:pPr algn="l"/>
                      <a:r>
                        <a:rPr sz="1050" b="0" i="0">
                          <a:solidFill>
                            <a:srgbClr val="27314D"/>
                          </a:solidFill>
                          <a:latin typeface="Calibri"/>
                        </a:rPr>
                        <a:t>No aplica: aquí el banco es quien presta, no quien necesita protección.</a:t>
                      </a:r>
                    </a:p>
                  </a:txBody>
                  <a:tcPr marL="54864" marR="54864"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De los activos financieros a sus autoridades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10</a:t>
            </a:r>
          </a:p>
        </p:txBody>
      </p:sp>
      <p:graphicFrame>
        <p:nvGraphicFramePr>
          <p:cNvPr id="5" name="Table 4"/>
          <p:cNvGraphicFramePr>
            <a:graphicFrameLocks noGrp="1"/>
          </p:cNvGraphicFramePr>
          <p:nvPr/>
        </p:nvGraphicFramePr>
        <p:xfrm>
          <a:off x="640080" y="1539808"/>
          <a:ext cx="10911840" cy="956852"/>
        </p:xfrm>
        <a:graphic>
          <a:graphicData uri="http://schemas.openxmlformats.org/drawingml/2006/table">
            <a:tbl>
              <a:tblPr>
                <a:tableStyleId>{2D5ABB26-0587-4C30-8999-92F81FD0307C}</a:tableStyleId>
              </a:tblPr>
              <a:tblGrid>
                <a:gridCol w="1451042"/>
                <a:gridCol w="1218875"/>
                <a:gridCol w="1451042"/>
                <a:gridCol w="4411170"/>
                <a:gridCol w="2379711"/>
              </a:tblGrid>
              <a:tr h="486808">
                <a:tc>
                  <a:txBody>
                    <a:bodyPr wrap="square"/>
                    <a:lstStyle/>
                    <a:p>
                      <a:pPr algn="l"/>
                      <a:r>
                        <a:rPr sz="1050" b="1" i="0">
                          <a:solidFill>
                            <a:srgbClr val="FFFFFF"/>
                          </a:solidFill>
                          <a:latin typeface="Calibri"/>
                        </a:rPr>
                        <a:t>Activo financiero</a:t>
                      </a:r>
                    </a:p>
                  </a:txBody>
                  <a:tcPr marL="54864" marR="54864" marT="27432" marB="27432" anchor="ctr">
                    <a:solidFill>
                      <a:srgbClr val="1E2761"/>
                    </a:solidFill>
                  </a:tcPr>
                </a:tc>
                <a:tc>
                  <a:txBody>
                    <a:bodyPr wrap="square"/>
                    <a:lstStyle/>
                    <a:p>
                      <a:pPr algn="l"/>
                      <a:r>
                        <a:rPr sz="1050" b="1" i="0">
                          <a:solidFill>
                            <a:srgbClr val="FFFFFF"/>
                          </a:solidFill>
                          <a:latin typeface="Calibri"/>
                        </a:rPr>
                        <a:t>Emisor</a:t>
                      </a:r>
                    </a:p>
                  </a:txBody>
                  <a:tcPr marL="54864" marR="54864" marT="27432" marB="27432" anchor="ctr">
                    <a:solidFill>
                      <a:srgbClr val="1E2761"/>
                    </a:solidFill>
                  </a:tcPr>
                </a:tc>
                <a:tc>
                  <a:txBody>
                    <a:bodyPr wrap="square"/>
                    <a:lstStyle/>
                    <a:p>
                      <a:pPr algn="l"/>
                      <a:r>
                        <a:rPr sz="1050" b="1" i="0">
                          <a:solidFill>
                            <a:srgbClr val="FFFFFF"/>
                          </a:solidFill>
                          <a:latin typeface="Calibri"/>
                        </a:rPr>
                        <a:t>Mercado</a:t>
                      </a:r>
                    </a:p>
                  </a:txBody>
                  <a:tcPr marL="54864" marR="54864" marT="27432" marB="27432" anchor="ctr">
                    <a:solidFill>
                      <a:srgbClr val="1E2761"/>
                    </a:solidFill>
                  </a:tcPr>
                </a:tc>
                <a:tc>
                  <a:txBody>
                    <a:bodyPr wrap="square"/>
                    <a:lstStyle/>
                    <a:p>
                      <a:pPr algn="l"/>
                      <a:r>
                        <a:rPr sz="1050" b="1" i="0">
                          <a:solidFill>
                            <a:srgbClr val="FFFFFF"/>
                          </a:solidFill>
                          <a:latin typeface="Calibri"/>
                        </a:rPr>
                        <a:t>¿Quién lo regula o supervisa?</a:t>
                      </a:r>
                    </a:p>
                  </a:txBody>
                  <a:tcPr marL="54864" marR="54864" marT="27432" marB="27432" anchor="ctr">
                    <a:solidFill>
                      <a:srgbClr val="1E2761"/>
                    </a:solidFill>
                  </a:tcPr>
                </a:tc>
                <a:tc>
                  <a:txBody>
                    <a:bodyPr wrap="square"/>
                    <a:lstStyle/>
                    <a:p>
                      <a:pPr algn="l"/>
                      <a:r>
                        <a:rPr sz="1050" b="1" i="0">
                          <a:solidFill>
                            <a:srgbClr val="FFFFFF"/>
                          </a:solidFill>
                          <a:latin typeface="Calibri"/>
                        </a:rPr>
                        <a:t>¿Garantía institucional al inversionista?</a:t>
                      </a:r>
                    </a:p>
                  </a:txBody>
                  <a:tcPr marL="54864" marR="54864" marT="27432" marB="27432" anchor="ctr">
                    <a:solidFill>
                      <a:srgbClr val="1E2761"/>
                    </a:solidFill>
                  </a:tcPr>
                </a:tc>
              </a:tr>
              <a:tr h="470044">
                <a:tc>
                  <a:txBody>
                    <a:bodyPr wrap="square"/>
                    <a:lstStyle/>
                    <a:p>
                      <a:pPr algn="l"/>
                      <a:r>
                        <a:rPr sz="1050" b="0" i="0">
                          <a:solidFill>
                            <a:srgbClr val="27314D"/>
                          </a:solidFill>
                          <a:latin typeface="Calibri"/>
                        </a:rPr>
                        <a:t>Pagaré entre particulares</a:t>
                      </a:r>
                    </a:p>
                  </a:txBody>
                  <a:tcPr marL="54864" marR="54864" marT="27432" marB="27432" anchor="ctr">
                    <a:solidFill>
                      <a:srgbClr val="FFFFFF"/>
                    </a:solidFill>
                  </a:tcPr>
                </a:tc>
                <a:tc>
                  <a:txBody>
                    <a:bodyPr wrap="square"/>
                    <a:lstStyle/>
                    <a:p>
                      <a:pPr algn="l"/>
                      <a:r>
                        <a:rPr sz="1050" b="0" i="0">
                          <a:solidFill>
                            <a:srgbClr val="27314D"/>
                          </a:solidFill>
                          <a:latin typeface="Calibri"/>
                        </a:rPr>
                        <a:t>Quien firma el pagaré</a:t>
                      </a:r>
                    </a:p>
                  </a:txBody>
                  <a:tcPr marL="54864" marR="54864" marT="27432" marB="27432" anchor="ctr">
                    <a:solidFill>
                      <a:srgbClr val="FFFFFF"/>
                    </a:solidFill>
                  </a:tcPr>
                </a:tc>
                <a:tc>
                  <a:txBody>
                    <a:bodyPr wrap="square"/>
                    <a:lstStyle/>
                    <a:p>
                      <a:pPr algn="l"/>
                      <a:r>
                        <a:rPr sz="1050" b="0" i="0">
                          <a:solidFill>
                            <a:srgbClr val="27314D"/>
                          </a:solidFill>
                          <a:latin typeface="Calibri"/>
                        </a:rPr>
                        <a:t>Depende del plazo pactado</a:t>
                      </a:r>
                    </a:p>
                  </a:txBody>
                  <a:tcPr marL="54864" marR="54864" marT="27432" marB="27432" anchor="ctr">
                    <a:solidFill>
                      <a:srgbClr val="FFFFFF"/>
                    </a:solidFill>
                  </a:tcPr>
                </a:tc>
                <a:tc>
                  <a:txBody>
                    <a:bodyPr wrap="square"/>
                    <a:lstStyle/>
                    <a:p>
                      <a:pPr algn="l"/>
                      <a:r>
                        <a:rPr sz="1050" b="0" i="0">
                          <a:solidFill>
                            <a:srgbClr val="27314D"/>
                          </a:solidFill>
                          <a:latin typeface="Calibri"/>
                        </a:rPr>
                        <a:t>Ninguna autoridad del SFM: es un acuerdo privado fuera del sistema regulado.</a:t>
                      </a:r>
                    </a:p>
                  </a:txBody>
                  <a:tcPr marL="54864" marR="54864" marT="27432" marB="27432" anchor="ctr">
                    <a:solidFill>
                      <a:srgbClr val="FFFFFF"/>
                    </a:solidFill>
                  </a:tcPr>
                </a:tc>
                <a:tc>
                  <a:txBody>
                    <a:bodyPr wrap="square"/>
                    <a:lstStyle/>
                    <a:p>
                      <a:pPr algn="l"/>
                      <a:r>
                        <a:rPr sz="1050" b="0" i="0">
                          <a:solidFill>
                            <a:srgbClr val="27314D"/>
                          </a:solidFill>
                          <a:latin typeface="Calibri"/>
                        </a:rPr>
                        <a:t>Ninguna.</a:t>
                      </a:r>
                    </a:p>
                  </a:txBody>
                  <a:tcPr marL="54864" marR="54864" marT="27432" marB="27432" anchor="ctr">
                    <a:solidFill>
                      <a:srgbClr val="FFFFFF"/>
                    </a:solidFill>
                  </a:tcPr>
                </a:tc>
              </a:tr>
            </a:tbl>
          </a:graphicData>
        </a:graphic>
      </p:graphicFrame>
      <p:sp>
        <p:nvSpPr>
          <p:cNvPr id="6" name="Rounded Rectangle 5"/>
          <p:cNvSpPr/>
          <p:nvPr/>
        </p:nvSpPr>
        <p:spPr>
          <a:xfrm>
            <a:off x="640080" y="2586660"/>
            <a:ext cx="10911840" cy="2110624"/>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586660"/>
            <a:ext cx="45720" cy="211062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080" y="2726660"/>
            <a:ext cx="10551840" cy="663984"/>
          </a:xfrm>
          <a:prstGeom prst="rect">
            <a:avLst/>
          </a:prstGeom>
          <a:noFill/>
        </p:spPr>
        <p:txBody>
          <a:bodyPr wrap="square" lIns="0" rIns="0" tIns="0" bIns="0">
            <a:spAutoFit/>
          </a:bodyPr>
          <a:lstStyle/>
          <a:p>
            <a:pPr algn="l"/>
            <a:r>
              <a:rPr sz="1300" b="0" i="0">
                <a:solidFill>
                  <a:srgbClr val="1E2761"/>
                </a:solidFill>
                <a:latin typeface="Calibri"/>
              </a:rPr>
              <a:t>Banxico solo aparece donde su ley le da competencia directa: mercado de dinero (subasta de CETES y bonos gubernamentales), banca (tasas de referencia, sistema de pagos) y cambios. La emisión de valores corporativos y de capital (bono corporativo, papel comercial, certificado bursátil, acciones, FIBRA/CKD/CERPI) es competencia exclusiva de la CNBV bajo la Ley del Mercado de Valores; por eso esas filas no mencionan a Banxico.</a:t>
            </a:r>
          </a:p>
        </p:txBody>
      </p:sp>
      <p:sp>
        <p:nvSpPr>
          <p:cNvPr id="9" name="TextBox 8"/>
          <p:cNvSpPr txBox="1"/>
          <p:nvPr/>
        </p:nvSpPr>
        <p:spPr>
          <a:xfrm>
            <a:off x="820080" y="3430644"/>
            <a:ext cx="10551840" cy="1086640"/>
          </a:xfrm>
          <a:prstGeom prst="rect">
            <a:avLst/>
          </a:prstGeom>
          <a:noFill/>
        </p:spPr>
        <p:txBody>
          <a:bodyPr wrap="square" lIns="0" rIns="0" tIns="0" bIns="0">
            <a:spAutoFit/>
          </a:bodyPr>
          <a:lstStyle/>
          <a:p>
            <a:pPr algn="l"/>
            <a:r>
              <a:rPr sz="1300" b="0" i="0">
                <a:solidFill>
                  <a:srgbClr val="1E2761"/>
                </a:solidFill>
                <a:latin typeface="Calibri"/>
              </a:rPr>
              <a:t>Regular la emisión no es lo mismo que garantizar el pago. La CNBV exige transparencia y reglas de oferta a casi todos los instrumentos bursátiles de la Unidad 0, pero solo el depósito bancario tiene una garantía explícita (IPAB) si el emisor incumple; en el resto, el riesgo de crédito [incumplimiento] del apéndice de </a:t>
            </a:r>
            <a:r>
              <a:rPr sz="1300" b="0" i="0">
                <a:solidFill>
                  <a:srgbClr val="1E2761"/>
                </a:solidFill>
                <a:latin typeface="Consolas"/>
              </a:rPr>
              <a:t>1_intermediacion_financiera.md</a:t>
            </a:r>
            <a:r>
              <a:rPr sz="1300" b="0" i="0">
                <a:solidFill>
                  <a:srgbClr val="1E2761"/>
                </a:solidFill>
                <a:latin typeface="Calibri"/>
              </a:rPr>
              <a:t> lo sigue asumiendo el inversionista, con o sin supervisión de la CNBV encima. Los ejemplos de la Unidad 0 no incluyen pólizas de seguro ni cuentas de Afore: esos instrumentos existen, pero sus autoridades (CNSF y Consar) ya aparecieron en el organigrama de la sección anterior.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Protección al usuario financiero en la práctica</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11</a:t>
            </a:r>
          </a:p>
        </p:txBody>
      </p:sp>
      <p:sp>
        <p:nvSpPr>
          <p:cNvPr id="5" name="TextBox 4"/>
          <p:cNvSpPr txBox="1"/>
          <p:nvPr/>
        </p:nvSpPr>
        <p:spPr>
          <a:xfrm>
            <a:off x="640080" y="1539808"/>
            <a:ext cx="10911840" cy="533936"/>
          </a:xfrm>
          <a:prstGeom prst="rect">
            <a:avLst/>
          </a:prstGeom>
          <a:noFill/>
        </p:spPr>
        <p:txBody>
          <a:bodyPr wrap="square" lIns="0" rIns="0" tIns="0" bIns="0">
            <a:spAutoFit/>
          </a:bodyPr>
          <a:lstStyle/>
          <a:p>
            <a:pPr algn="l"/>
            <a:r>
              <a:rPr sz="1550" b="0" i="0">
                <a:solidFill>
                  <a:srgbClr val="5B6482"/>
                </a:solidFill>
                <a:latin typeface="Calibri"/>
              </a:rPr>
              <a:t>La sección anterior mostró quién protege (o no) cada instrumento; esta muestra cómo se ejerce esa protección cuando algo sale mal.</a:t>
            </a:r>
          </a:p>
        </p:txBody>
      </p:sp>
      <p:sp>
        <p:nvSpPr>
          <p:cNvPr id="6" name="TextBox 5"/>
          <p:cNvSpPr txBox="1"/>
          <p:nvPr/>
        </p:nvSpPr>
        <p:spPr>
          <a:xfrm>
            <a:off x="640080" y="2203744"/>
            <a:ext cx="10911840" cy="940336"/>
          </a:xfrm>
          <a:prstGeom prst="rect">
            <a:avLst/>
          </a:prstGeom>
          <a:noFill/>
        </p:spPr>
        <p:txBody>
          <a:bodyPr wrap="square" lIns="0" rIns="0" tIns="0" bIns="0">
            <a:spAutoFit/>
          </a:bodyPr>
          <a:lstStyle/>
          <a:p>
            <a:pPr algn="l"/>
            <a:r>
              <a:rPr sz="1400" b="1" i="0">
                <a:solidFill>
                  <a:srgbClr val="27314D"/>
                </a:solidFill>
                <a:latin typeface="Calibri"/>
              </a:rPr>
              <a:t>IPAB: reclamar el seguro de depósito.</a:t>
            </a:r>
            <a:r>
              <a:rPr sz="1400" b="0" i="0">
                <a:solidFill>
                  <a:srgbClr val="27314D"/>
                </a:solidFill>
                <a:latin typeface="Calibri"/>
              </a:rPr>
              <a:t> Si el banco donde tienes tus ahorros quiebra, no tienes que hacer ningún trámite especial: el IPAB paga automáticamente a cada cuenta afectada, hasta un límite de </a:t>
            </a:r>
            <a:r>
              <a:rPr sz="1400" b="1" i="0">
                <a:solidFill>
                  <a:srgbClr val="27314D"/>
                </a:solidFill>
                <a:latin typeface="Calibri"/>
              </a:rPr>
              <a:t>400,000 UDIs</a:t>
            </a:r>
            <a:r>
              <a:rPr sz="1400" b="0" i="0">
                <a:solidFill>
                  <a:srgbClr val="27314D"/>
                </a:solidFill>
                <a:latin typeface="Calibri"/>
              </a:rPr>
              <a:t> por persona por institución (unos $3.5 millones de pesos, según el valor de la UDI [2026]). Cubre cuentas de ahorro, depósitos a plazo y otros pasivos bancarios; no cubre inversiones en fondos, acciones o instrumentos bursátiles que el banco solo distribuya como intermediario.</a:t>
            </a:r>
          </a:p>
        </p:txBody>
      </p:sp>
      <p:sp>
        <p:nvSpPr>
          <p:cNvPr id="7" name="TextBox 6"/>
          <p:cNvSpPr txBox="1"/>
          <p:nvPr/>
        </p:nvSpPr>
        <p:spPr>
          <a:xfrm>
            <a:off x="640080" y="3234080"/>
            <a:ext cx="10911840" cy="940336"/>
          </a:xfrm>
          <a:prstGeom prst="rect">
            <a:avLst/>
          </a:prstGeom>
          <a:noFill/>
        </p:spPr>
        <p:txBody>
          <a:bodyPr wrap="square" lIns="0" rIns="0" tIns="0" bIns="0">
            <a:spAutoFit/>
          </a:bodyPr>
          <a:lstStyle/>
          <a:p>
            <a:pPr algn="l"/>
            <a:r>
              <a:rPr sz="1400" b="1" i="0">
                <a:solidFill>
                  <a:srgbClr val="27314D"/>
                </a:solidFill>
                <a:latin typeface="Calibri"/>
              </a:rPr>
              <a:t>CONDUSEF: presentar una reclamación formal.</a:t>
            </a:r>
            <a:r>
              <a:rPr sz="1400" b="0" i="0">
                <a:solidFill>
                  <a:srgbClr val="27314D"/>
                </a:solidFill>
                <a:latin typeface="Calibri"/>
              </a:rPr>
              <a:t> Ante un cobro indebido, una mala práctica o un incumplimiento de un banco, aseguradora, Afore o cualquier entidad que regula el SFM, el usuario puede reclamar directamente ante la institución y, si no hay respuesta satisfactoria, escalar a la CONDUSEF. El proceso general: (1) presentar la queja por escrito ante la propia institución, (2) si no se resuelve, acudir a CONDUSEF con la documentación del caso, (3) CONDUSEF media entre ambas partes y, si no hay acuerdo, puede emitir un dictamen técnico que el usuario puede usar en una demanda judicial.</a:t>
            </a:r>
          </a:p>
        </p:txBody>
      </p:sp>
      <p:sp>
        <p:nvSpPr>
          <p:cNvPr id="8" name="TextBox 7"/>
          <p:cNvSpPr txBox="1"/>
          <p:nvPr/>
        </p:nvSpPr>
        <p:spPr>
          <a:xfrm>
            <a:off x="640080" y="4264416"/>
            <a:ext cx="10911840" cy="257584"/>
          </a:xfrm>
          <a:prstGeom prst="rect">
            <a:avLst/>
          </a:prstGeom>
          <a:noFill/>
        </p:spPr>
        <p:txBody>
          <a:bodyPr wrap="square" lIns="0" rIns="0" tIns="0" bIns="0">
            <a:spAutoFit/>
          </a:bodyPr>
          <a:lstStyle/>
          <a:p>
            <a:pPr algn="l"/>
            <a:r>
              <a:rPr sz="1400" b="1" i="0">
                <a:solidFill>
                  <a:srgbClr val="27314D"/>
                </a:solidFill>
                <a:latin typeface="Calibri"/>
              </a:rPr>
              <a:t>Buró de Entidades Financieras y SIPRES: consultar antes de contratar.</a:t>
            </a:r>
            <a:r>
              <a:rPr sz="1400" b="0" i="0">
                <a:solidFill>
                  <a:srgbClr val="27314D"/>
                </a:solidFill>
                <a:latin typeface="Calibri"/>
              </a:rPr>
              <a:t> Son dos herramientas distintas y complementarias, ambas de CONDUSEF:</a:t>
            </a:r>
          </a:p>
        </p:txBody>
      </p:sp>
      <p:sp>
        <p:nvSpPr>
          <p:cNvPr id="9" name="TextBox 8"/>
          <p:cNvSpPr txBox="1"/>
          <p:nvPr/>
        </p:nvSpPr>
        <p:spPr>
          <a:xfrm>
            <a:off x="640080" y="4612000"/>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4612000"/>
            <a:ext cx="10651840" cy="493912"/>
          </a:xfrm>
          <a:prstGeom prst="rect">
            <a:avLst/>
          </a:prstGeom>
          <a:noFill/>
        </p:spPr>
        <p:txBody>
          <a:bodyPr wrap="square" lIns="0" rIns="0" tIns="0" bIns="0">
            <a:spAutoFit/>
          </a:bodyPr>
          <a:lstStyle/>
          <a:p>
            <a:pPr algn="l"/>
            <a:r>
              <a:rPr sz="1350" b="1" i="0">
                <a:solidFill>
                  <a:srgbClr val="27314D"/>
                </a:solidFill>
                <a:latin typeface="Calibri"/>
              </a:rPr>
              <a:t>Buró de Entidades Financieras</a:t>
            </a:r>
            <a:r>
              <a:rPr sz="1350" b="0" i="0">
                <a:solidFill>
                  <a:srgbClr val="27314D"/>
                </a:solidFill>
                <a:latin typeface="Calibri"/>
              </a:rPr>
              <a:t>: muestra el historial de quejas de una institución ya contratada por otros usuarios, y las cláusulas o prácticas que CONDUSEF ha calificado como abusivas.</a:t>
            </a:r>
          </a:p>
        </p:txBody>
      </p:sp>
      <p:sp>
        <p:nvSpPr>
          <p:cNvPr id="11" name="TextBox 10"/>
          <p:cNvSpPr txBox="1"/>
          <p:nvPr/>
        </p:nvSpPr>
        <p:spPr>
          <a:xfrm>
            <a:off x="640080" y="5105912"/>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2" name="TextBox 11"/>
          <p:cNvSpPr txBox="1"/>
          <p:nvPr/>
        </p:nvSpPr>
        <p:spPr>
          <a:xfrm>
            <a:off x="900080" y="5105912"/>
            <a:ext cx="10651840" cy="493912"/>
          </a:xfrm>
          <a:prstGeom prst="rect">
            <a:avLst/>
          </a:prstGeom>
          <a:noFill/>
        </p:spPr>
        <p:txBody>
          <a:bodyPr wrap="square" lIns="0" rIns="0" tIns="0" bIns="0">
            <a:spAutoFit/>
          </a:bodyPr>
          <a:lstStyle/>
          <a:p>
            <a:pPr algn="l"/>
            <a:r>
              <a:rPr sz="1350" b="1" i="0">
                <a:solidFill>
                  <a:srgbClr val="27314D"/>
                </a:solidFill>
                <a:latin typeface="Calibri"/>
              </a:rPr>
              <a:t>SIPRES</a:t>
            </a:r>
            <a:r>
              <a:rPr sz="1350" b="0" i="0">
                <a:solidFill>
                  <a:srgbClr val="27314D"/>
                </a:solidFill>
                <a:latin typeface="Calibri"/>
              </a:rPr>
              <a:t> (Sistema de Registro de Prestadores de Servicios Financieros): verifica si una institución está legalmente registrada y autorizada para operar, antes de contratarla.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Protección al usuario financiero en la práctica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12</a:t>
            </a:r>
          </a:p>
        </p:txBody>
      </p:sp>
      <p:sp>
        <p:nvSpPr>
          <p:cNvPr id="5" name="Rounded Rectangle 4"/>
          <p:cNvSpPr/>
          <p:nvPr/>
        </p:nvSpPr>
        <p:spPr>
          <a:xfrm>
            <a:off x="640080" y="1539808"/>
            <a:ext cx="10911840" cy="772656"/>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39808"/>
            <a:ext cx="45720" cy="77265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0080" y="1679808"/>
            <a:ext cx="10551840" cy="452656"/>
          </a:xfrm>
          <a:prstGeom prst="rect">
            <a:avLst/>
          </a:prstGeom>
          <a:noFill/>
        </p:spPr>
        <p:txBody>
          <a:bodyPr wrap="square" lIns="0" rIns="0" tIns="0" bIns="0">
            <a:spAutoFit/>
          </a:bodyPr>
          <a:lstStyle/>
          <a:p>
            <a:pPr algn="l"/>
            <a:r>
              <a:rPr sz="1300" b="0" i="0">
                <a:solidFill>
                  <a:srgbClr val="1E2761"/>
                </a:solidFill>
                <a:latin typeface="Calibri"/>
              </a:rPr>
              <a:t>Consultar el Buró responde "¿qué tanto se han quejado de esta institución?"; consultar el SIPRES responde "¿esta institución existe legalmente?". Son preguntas distintas y conviene hacer ambas.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Panorama de los sistemas financieros internacionales</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13</a:t>
            </a:r>
          </a:p>
        </p:txBody>
      </p:sp>
      <p:sp>
        <p:nvSpPr>
          <p:cNvPr id="5" name="TextBox 4"/>
          <p:cNvSpPr txBox="1"/>
          <p:nvPr/>
        </p:nvSpPr>
        <p:spPr>
          <a:xfrm>
            <a:off x="640080" y="1539808"/>
            <a:ext cx="10911840" cy="485168"/>
          </a:xfrm>
          <a:prstGeom prst="rect">
            <a:avLst/>
          </a:prstGeom>
          <a:noFill/>
        </p:spPr>
        <p:txBody>
          <a:bodyPr wrap="square" lIns="0" rIns="0" tIns="0" bIns="0">
            <a:spAutoFit/>
          </a:bodyPr>
          <a:lstStyle/>
          <a:p>
            <a:pPr algn="l"/>
            <a:r>
              <a:rPr sz="1400" b="0" i="0">
                <a:solidFill>
                  <a:srgbClr val="27314D"/>
                </a:solidFill>
                <a:latin typeface="Calibri"/>
              </a:rPr>
              <a:t>Ya ubicado el mapa de autoridades mexicanas, la pregunta natural es si el resto del mundo se organiza igual. La respuesta corta: las mismas tres funciones (regular, supervisar, proteger) aparecen en todos lados, pero el </a:t>
            </a:r>
            <a:r>
              <a:rPr sz="1400" b="1" i="0">
                <a:solidFill>
                  <a:srgbClr val="27314D"/>
                </a:solidFill>
                <a:latin typeface="Calibri"/>
              </a:rPr>
              <a:t>modelo</a:t>
            </a:r>
            <a:r>
              <a:rPr sz="1400" b="0" i="0">
                <a:solidFill>
                  <a:srgbClr val="27314D"/>
                </a:solidFill>
                <a:latin typeface="Calibri"/>
              </a:rPr>
              <a:t> que canaliza el ahorro hacia la inversión varía por país.</a:t>
            </a:r>
          </a:p>
        </p:txBody>
      </p:sp>
      <p:graphicFrame>
        <p:nvGraphicFramePr>
          <p:cNvPr id="6" name="Table 5"/>
          <p:cNvGraphicFramePr>
            <a:graphicFrameLocks noGrp="1"/>
          </p:cNvGraphicFramePr>
          <p:nvPr/>
        </p:nvGraphicFramePr>
        <p:xfrm>
          <a:off x="640080" y="2114976"/>
          <a:ext cx="10911840" cy="991032"/>
        </p:xfrm>
        <a:graphic>
          <a:graphicData uri="http://schemas.openxmlformats.org/drawingml/2006/table">
            <a:tbl>
              <a:tblPr>
                <a:tableStyleId>{2D5ABB26-0587-4C30-8999-92F81FD0307C}</a:tableStyleId>
              </a:tblPr>
              <a:tblGrid>
                <a:gridCol w="2687244"/>
                <a:gridCol w="6025941"/>
                <a:gridCol w="2198655"/>
              </a:tblGrid>
              <a:tr h="335932">
                <a:tc>
                  <a:txBody>
                    <a:bodyPr wrap="square"/>
                    <a:lstStyle/>
                    <a:p>
                      <a:pPr algn="l"/>
                      <a:r>
                        <a:rPr sz="1250" b="1" i="0">
                          <a:solidFill>
                            <a:srgbClr val="FFFFFF"/>
                          </a:solidFill>
                          <a:latin typeface="Calibri"/>
                        </a:rPr>
                        <a:t>Modelo</a:t>
                      </a:r>
                    </a:p>
                  </a:txBody>
                  <a:tcPr marL="54864" marR="54864" marT="27432" marB="27432" anchor="ctr">
                    <a:solidFill>
                      <a:srgbClr val="1E2761"/>
                    </a:solidFill>
                  </a:tcPr>
                </a:tc>
                <a:tc>
                  <a:txBody>
                    <a:bodyPr wrap="square"/>
                    <a:lstStyle/>
                    <a:p>
                      <a:pPr algn="l"/>
                      <a:r>
                        <a:rPr sz="1250" b="1" i="0">
                          <a:solidFill>
                            <a:srgbClr val="FFFFFF"/>
                          </a:solidFill>
                          <a:latin typeface="Calibri"/>
                        </a:rPr>
                        <a:t>Cómo se financian las empresas</a:t>
                      </a:r>
                    </a:p>
                  </a:txBody>
                  <a:tcPr marL="54864" marR="54864" marT="27432" marB="27432" anchor="ctr">
                    <a:solidFill>
                      <a:srgbClr val="1E2761"/>
                    </a:solidFill>
                  </a:tcPr>
                </a:tc>
                <a:tc>
                  <a:txBody>
                    <a:bodyPr wrap="square"/>
                    <a:lstStyle/>
                    <a:p>
                      <a:pPr algn="l"/>
                      <a:r>
                        <a:rPr sz="1250" b="1" i="0">
                          <a:solidFill>
                            <a:srgbClr val="FFFFFF"/>
                          </a:solidFill>
                          <a:latin typeface="Calibri"/>
                        </a:rPr>
                        <a:t>Países representativos</a:t>
                      </a:r>
                    </a:p>
                  </a:txBody>
                  <a:tcPr marL="54864" marR="54864" marT="27432" marB="27432" anchor="ctr">
                    <a:solidFill>
                      <a:srgbClr val="1E2761"/>
                    </a:solidFill>
                  </a:tcPr>
                </a:tc>
              </a:tr>
              <a:tr h="327550">
                <a:tc>
                  <a:txBody>
                    <a:bodyPr wrap="square"/>
                    <a:lstStyle/>
                    <a:p>
                      <a:pPr algn="l"/>
                      <a:r>
                        <a:rPr sz="1250" b="0" i="0">
                          <a:solidFill>
                            <a:srgbClr val="27314D"/>
                          </a:solidFill>
                          <a:latin typeface="Calibri"/>
                        </a:rPr>
                        <a:t>Basado en bancos (bank-based)</a:t>
                      </a:r>
                    </a:p>
                  </a:txBody>
                  <a:tcPr marL="54864" marR="54864" marT="27432" marB="27432" anchor="ctr">
                    <a:solidFill>
                      <a:srgbClr val="FFFFFF"/>
                    </a:solidFill>
                  </a:tcPr>
                </a:tc>
                <a:tc>
                  <a:txBody>
                    <a:bodyPr wrap="square"/>
                    <a:lstStyle/>
                    <a:p>
                      <a:pPr algn="l"/>
                      <a:r>
                        <a:rPr sz="1250" b="0" i="0">
                          <a:solidFill>
                            <a:srgbClr val="27314D"/>
                          </a:solidFill>
                          <a:latin typeface="Calibri"/>
                        </a:rPr>
                        <a:t>Predominan el crédito bancario y la relación de largo plazo banco-empresa.</a:t>
                      </a:r>
                    </a:p>
                  </a:txBody>
                  <a:tcPr marL="54864" marR="54864" marT="27432" marB="27432" anchor="ctr">
                    <a:solidFill>
                      <a:srgbClr val="FFFFFF"/>
                    </a:solidFill>
                  </a:tcPr>
                </a:tc>
                <a:tc>
                  <a:txBody>
                    <a:bodyPr wrap="square"/>
                    <a:lstStyle/>
                    <a:p>
                      <a:pPr algn="l"/>
                      <a:r>
                        <a:rPr sz="1250" b="0" i="0">
                          <a:solidFill>
                            <a:srgbClr val="27314D"/>
                          </a:solidFill>
                          <a:latin typeface="Calibri"/>
                        </a:rPr>
                        <a:t>México, Alemania, Japón</a:t>
                      </a:r>
                    </a:p>
                  </a:txBody>
                  <a:tcPr marL="54864" marR="54864" marT="27432" marB="27432" anchor="ctr">
                    <a:solidFill>
                      <a:srgbClr val="FFFFFF"/>
                    </a:solidFill>
                  </a:tcPr>
                </a:tc>
              </a:tr>
              <a:tr h="327550">
                <a:tc>
                  <a:txBody>
                    <a:bodyPr wrap="square"/>
                    <a:lstStyle/>
                    <a:p>
                      <a:pPr algn="l"/>
                      <a:r>
                        <a:rPr sz="1250" b="0" i="0">
                          <a:solidFill>
                            <a:srgbClr val="27314D"/>
                          </a:solidFill>
                          <a:latin typeface="Calibri"/>
                        </a:rPr>
                        <a:t>Basado en mercados (market-based)</a:t>
                      </a:r>
                    </a:p>
                  </a:txBody>
                  <a:tcPr marL="54864" marR="54864" marT="27432" marB="27432" anchor="ctr">
                    <a:solidFill>
                      <a:srgbClr val="F2F4FA"/>
                    </a:solidFill>
                  </a:tcPr>
                </a:tc>
                <a:tc>
                  <a:txBody>
                    <a:bodyPr wrap="square"/>
                    <a:lstStyle/>
                    <a:p>
                      <a:pPr algn="l"/>
                      <a:r>
                        <a:rPr sz="1250" b="0" i="0">
                          <a:solidFill>
                            <a:srgbClr val="27314D"/>
                          </a:solidFill>
                          <a:latin typeface="Calibri"/>
                        </a:rPr>
                        <a:t>Predomina la emisión directa de deuda y acciones en mercados públicos.</a:t>
                      </a:r>
                    </a:p>
                  </a:txBody>
                  <a:tcPr marL="54864" marR="54864" marT="27432" marB="27432" anchor="ctr">
                    <a:solidFill>
                      <a:srgbClr val="F2F4FA"/>
                    </a:solidFill>
                  </a:tcPr>
                </a:tc>
                <a:tc>
                  <a:txBody>
                    <a:bodyPr wrap="square"/>
                    <a:lstStyle/>
                    <a:p>
                      <a:pPr algn="l"/>
                      <a:r>
                        <a:rPr sz="1250" b="0" i="0">
                          <a:solidFill>
                            <a:srgbClr val="27314D"/>
                          </a:solidFill>
                          <a:latin typeface="Calibri"/>
                        </a:rPr>
                        <a:t>Estados Unidos, Reino Unido</a:t>
                      </a:r>
                    </a:p>
                  </a:txBody>
                  <a:tcPr marL="54864" marR="54864" marT="27432" marB="27432" anchor="ctr">
                    <a:solidFill>
                      <a:srgbClr val="F2F4FA"/>
                    </a:solidFill>
                  </a:tcPr>
                </a:tc>
              </a:tr>
            </a:tbl>
          </a:graphicData>
        </a:graphic>
      </p:graphicFrame>
      <p:sp>
        <p:nvSpPr>
          <p:cNvPr id="7" name="TextBox 6"/>
          <p:cNvSpPr txBox="1"/>
          <p:nvPr/>
        </p:nvSpPr>
        <p:spPr>
          <a:xfrm>
            <a:off x="640080" y="3196008"/>
            <a:ext cx="10911840" cy="257584"/>
          </a:xfrm>
          <a:prstGeom prst="rect">
            <a:avLst/>
          </a:prstGeom>
          <a:noFill/>
        </p:spPr>
        <p:txBody>
          <a:bodyPr wrap="square" lIns="0" rIns="0" tIns="0" bIns="0">
            <a:spAutoFit/>
          </a:bodyPr>
          <a:lstStyle/>
          <a:p>
            <a:pPr algn="l"/>
            <a:r>
              <a:rPr sz="1400" b="0" i="0">
                <a:solidFill>
                  <a:srgbClr val="27314D"/>
                </a:solidFill>
                <a:latin typeface="Calibri"/>
              </a:rPr>
              <a:t>Sobre ese modelo se monta una estructura de autoridades equivalente, aunque con nombres distintos a los del SFM:</a:t>
            </a:r>
          </a:p>
        </p:txBody>
      </p:sp>
      <p:graphicFrame>
        <p:nvGraphicFramePr>
          <p:cNvPr id="8" name="Table 7"/>
          <p:cNvGraphicFramePr>
            <a:graphicFrameLocks noGrp="1"/>
          </p:cNvGraphicFramePr>
          <p:nvPr/>
        </p:nvGraphicFramePr>
        <p:xfrm>
          <a:off x="640080" y="3543592"/>
          <a:ext cx="10911840" cy="1562312"/>
        </p:xfrm>
        <a:graphic>
          <a:graphicData uri="http://schemas.openxmlformats.org/drawingml/2006/table">
            <a:tbl>
              <a:tblPr>
                <a:tableStyleId>{2D5ABB26-0587-4C30-8999-92F81FD0307C}</a:tableStyleId>
              </a:tblPr>
              <a:tblGrid>
                <a:gridCol w="2396724"/>
                <a:gridCol w="950450"/>
                <a:gridCol w="3295497"/>
                <a:gridCol w="4269169"/>
              </a:tblGrid>
              <a:tr h="319168">
                <a:tc>
                  <a:txBody>
                    <a:bodyPr wrap="square"/>
                    <a:lstStyle/>
                    <a:p>
                      <a:pPr algn="l"/>
                      <a:r>
                        <a:rPr sz="1150" b="1" i="0">
                          <a:solidFill>
                            <a:srgbClr val="FFFFFF"/>
                          </a:solidFill>
                          <a:latin typeface="Calibri"/>
                        </a:rPr>
                        <a:t>Función (SFM)</a:t>
                      </a:r>
                    </a:p>
                  </a:txBody>
                  <a:tcPr marL="54864" marR="54864" marT="27432" marB="27432" anchor="ctr">
                    <a:solidFill>
                      <a:srgbClr val="1E2761"/>
                    </a:solidFill>
                  </a:tcPr>
                </a:tc>
                <a:tc>
                  <a:txBody>
                    <a:bodyPr wrap="square"/>
                    <a:lstStyle/>
                    <a:p>
                      <a:pPr algn="l"/>
                      <a:r>
                        <a:rPr sz="1150" b="1" i="0">
                          <a:solidFill>
                            <a:srgbClr val="FFFFFF"/>
                          </a:solidFill>
                          <a:latin typeface="Calibri"/>
                        </a:rPr>
                        <a:t>México</a:t>
                      </a:r>
                    </a:p>
                  </a:txBody>
                  <a:tcPr marL="54864" marR="54864" marT="27432" marB="27432" anchor="ctr">
                    <a:solidFill>
                      <a:srgbClr val="1E2761"/>
                    </a:solidFill>
                  </a:tcPr>
                </a:tc>
                <a:tc>
                  <a:txBody>
                    <a:bodyPr wrap="square"/>
                    <a:lstStyle/>
                    <a:p>
                      <a:pPr algn="l"/>
                      <a:r>
                        <a:rPr sz="1150" b="1" i="0">
                          <a:solidFill>
                            <a:srgbClr val="FFFFFF"/>
                          </a:solidFill>
                          <a:latin typeface="Calibri"/>
                        </a:rPr>
                        <a:t>Estados Unidos</a:t>
                      </a:r>
                    </a:p>
                  </a:txBody>
                  <a:tcPr marL="54864" marR="54864" marT="27432" marB="27432" anchor="ctr">
                    <a:solidFill>
                      <a:srgbClr val="1E2761"/>
                    </a:solidFill>
                  </a:tcPr>
                </a:tc>
                <a:tc>
                  <a:txBody>
                    <a:bodyPr wrap="square"/>
                    <a:lstStyle/>
                    <a:p>
                      <a:pPr algn="l"/>
                      <a:r>
                        <a:rPr sz="1150" b="1" i="0">
                          <a:solidFill>
                            <a:srgbClr val="FFFFFF"/>
                          </a:solidFill>
                          <a:latin typeface="Calibri"/>
                        </a:rPr>
                        <a:t>Zona Euro</a:t>
                      </a:r>
                    </a:p>
                  </a:txBody>
                  <a:tcPr marL="54864" marR="54864" marT="27432" marB="27432" anchor="ctr">
                    <a:solidFill>
                      <a:srgbClr val="1E2761"/>
                    </a:solidFill>
                  </a:tcPr>
                </a:tc>
              </a:tr>
              <a:tr h="310786">
                <a:tc>
                  <a:txBody>
                    <a:bodyPr wrap="square"/>
                    <a:lstStyle/>
                    <a:p>
                      <a:pPr algn="l"/>
                      <a:r>
                        <a:rPr sz="1150" b="0" i="0">
                          <a:solidFill>
                            <a:srgbClr val="27314D"/>
                          </a:solidFill>
                          <a:latin typeface="Calibri"/>
                        </a:rPr>
                        <a:t>Banco central</a:t>
                      </a:r>
                    </a:p>
                  </a:txBody>
                  <a:tcPr marL="54864" marR="54864" marT="27432" marB="27432" anchor="ctr">
                    <a:solidFill>
                      <a:srgbClr val="FFFFFF"/>
                    </a:solidFill>
                  </a:tcPr>
                </a:tc>
                <a:tc>
                  <a:txBody>
                    <a:bodyPr wrap="square"/>
                    <a:lstStyle/>
                    <a:p>
                      <a:pPr algn="l"/>
                      <a:r>
                        <a:rPr sz="1150" b="0" i="0">
                          <a:solidFill>
                            <a:srgbClr val="27314D"/>
                          </a:solidFill>
                          <a:latin typeface="Calibri"/>
                        </a:rPr>
                        <a:t>Banxico</a:t>
                      </a:r>
                    </a:p>
                  </a:txBody>
                  <a:tcPr marL="54864" marR="54864" marT="27432" marB="27432" anchor="ctr">
                    <a:solidFill>
                      <a:srgbClr val="FFFFFF"/>
                    </a:solidFill>
                  </a:tcPr>
                </a:tc>
                <a:tc>
                  <a:txBody>
                    <a:bodyPr wrap="square"/>
                    <a:lstStyle/>
                    <a:p>
                      <a:pPr algn="l"/>
                      <a:r>
                        <a:rPr sz="1150" b="0" i="0">
                          <a:solidFill>
                            <a:srgbClr val="27314D"/>
                          </a:solidFill>
                          <a:latin typeface="Calibri"/>
                        </a:rPr>
                        <a:t>Reserva Federal (Fed)</a:t>
                      </a:r>
                    </a:p>
                  </a:txBody>
                  <a:tcPr marL="54864" marR="54864" marT="27432" marB="27432" anchor="ctr">
                    <a:solidFill>
                      <a:srgbClr val="FFFFFF"/>
                    </a:solidFill>
                  </a:tcPr>
                </a:tc>
                <a:tc>
                  <a:txBody>
                    <a:bodyPr wrap="square"/>
                    <a:lstStyle/>
                    <a:p>
                      <a:pPr algn="l"/>
                      <a:r>
                        <a:rPr sz="1150" b="0" i="0">
                          <a:solidFill>
                            <a:srgbClr val="27314D"/>
                          </a:solidFill>
                          <a:latin typeface="Calibri"/>
                        </a:rPr>
                        <a:t>Banco Central Europeo (BCE) + bancos centrales nacionales</a:t>
                      </a:r>
                    </a:p>
                  </a:txBody>
                  <a:tcPr marL="54864" marR="54864" marT="27432" marB="27432" anchor="ctr">
                    <a:solidFill>
                      <a:srgbClr val="FFFFFF"/>
                    </a:solidFill>
                  </a:tcPr>
                </a:tc>
              </a:tr>
              <a:tr h="310786">
                <a:tc>
                  <a:txBody>
                    <a:bodyPr wrap="square"/>
                    <a:lstStyle/>
                    <a:p>
                      <a:pPr algn="l"/>
                      <a:r>
                        <a:rPr sz="1150" b="0" i="0">
                          <a:solidFill>
                            <a:srgbClr val="27314D"/>
                          </a:solidFill>
                          <a:latin typeface="Calibri"/>
                        </a:rPr>
                        <a:t>Regulador/supervisor de valores</a:t>
                      </a:r>
                    </a:p>
                  </a:txBody>
                  <a:tcPr marL="54864" marR="54864" marT="27432" marB="27432" anchor="ctr">
                    <a:solidFill>
                      <a:srgbClr val="F2F4FA"/>
                    </a:solidFill>
                  </a:tcPr>
                </a:tc>
                <a:tc>
                  <a:txBody>
                    <a:bodyPr wrap="square"/>
                    <a:lstStyle/>
                    <a:p>
                      <a:pPr algn="l"/>
                      <a:r>
                        <a:rPr sz="1150" b="0" i="0">
                          <a:solidFill>
                            <a:srgbClr val="27314D"/>
                          </a:solidFill>
                          <a:latin typeface="Calibri"/>
                        </a:rPr>
                        <a:t>CNBV</a:t>
                      </a:r>
                    </a:p>
                  </a:txBody>
                  <a:tcPr marL="54864" marR="54864" marT="27432" marB="27432" anchor="ctr">
                    <a:solidFill>
                      <a:srgbClr val="F2F4FA"/>
                    </a:solidFill>
                  </a:tcPr>
                </a:tc>
                <a:tc>
                  <a:txBody>
                    <a:bodyPr wrap="square"/>
                    <a:lstStyle/>
                    <a:p>
                      <a:pPr algn="l"/>
                      <a:r>
                        <a:rPr sz="1150" b="0" i="0">
                          <a:solidFill>
                            <a:srgbClr val="27314D"/>
                          </a:solidFill>
                          <a:latin typeface="Calibri"/>
                        </a:rPr>
                        <a:t>SEC (Securities and Exchange Commission)</a:t>
                      </a:r>
                    </a:p>
                  </a:txBody>
                  <a:tcPr marL="54864" marR="54864" marT="27432" marB="27432" anchor="ctr">
                    <a:solidFill>
                      <a:srgbClr val="F2F4FA"/>
                    </a:solidFill>
                  </a:tcPr>
                </a:tc>
                <a:tc>
                  <a:txBody>
                    <a:bodyPr wrap="square"/>
                    <a:lstStyle/>
                    <a:p>
                      <a:pPr algn="l"/>
                      <a:r>
                        <a:rPr sz="1150" b="0" i="0">
                          <a:solidFill>
                            <a:srgbClr val="27314D"/>
                          </a:solidFill>
                          <a:latin typeface="Calibri"/>
                        </a:rPr>
                        <a:t>ESMA + reguladores nacionales (p. ej. BaFin, CNMV)</a:t>
                      </a:r>
                    </a:p>
                  </a:txBody>
                  <a:tcPr marL="54864" marR="54864" marT="27432" marB="27432" anchor="ctr">
                    <a:solidFill>
                      <a:srgbClr val="F2F4FA"/>
                    </a:solidFill>
                  </a:tcPr>
                </a:tc>
              </a:tr>
              <a:tr h="310786">
                <a:tc>
                  <a:txBody>
                    <a:bodyPr wrap="square"/>
                    <a:lstStyle/>
                    <a:p>
                      <a:pPr algn="l"/>
                      <a:r>
                        <a:rPr sz="1150" b="0" i="0">
                          <a:solidFill>
                            <a:srgbClr val="27314D"/>
                          </a:solidFill>
                          <a:latin typeface="Calibri"/>
                        </a:rPr>
                        <a:t>Garantía del ahorro bancario</a:t>
                      </a:r>
                    </a:p>
                  </a:txBody>
                  <a:tcPr marL="54864" marR="54864" marT="27432" marB="27432" anchor="ctr">
                    <a:solidFill>
                      <a:srgbClr val="FFFFFF"/>
                    </a:solidFill>
                  </a:tcPr>
                </a:tc>
                <a:tc>
                  <a:txBody>
                    <a:bodyPr wrap="square"/>
                    <a:lstStyle/>
                    <a:p>
                      <a:pPr algn="l"/>
                      <a:r>
                        <a:rPr sz="1150" b="0" i="0">
                          <a:solidFill>
                            <a:srgbClr val="27314D"/>
                          </a:solidFill>
                          <a:latin typeface="Calibri"/>
                        </a:rPr>
                        <a:t>IPAB</a:t>
                      </a:r>
                    </a:p>
                  </a:txBody>
                  <a:tcPr marL="54864" marR="54864" marT="27432" marB="27432" anchor="ctr">
                    <a:solidFill>
                      <a:srgbClr val="FFFFFF"/>
                    </a:solidFill>
                  </a:tcPr>
                </a:tc>
                <a:tc>
                  <a:txBody>
                    <a:bodyPr wrap="square"/>
                    <a:lstStyle/>
                    <a:p>
                      <a:pPr algn="l"/>
                      <a:r>
                        <a:rPr sz="1150" b="0" i="0">
                          <a:solidFill>
                            <a:srgbClr val="27314D"/>
                          </a:solidFill>
                          <a:latin typeface="Calibri"/>
                        </a:rPr>
                        <a:t>FDIC (Federal Deposit Insurance Corporation)</a:t>
                      </a:r>
                    </a:p>
                  </a:txBody>
                  <a:tcPr marL="54864" marR="54864" marT="27432" marB="27432" anchor="ctr">
                    <a:solidFill>
                      <a:srgbClr val="FFFFFF"/>
                    </a:solidFill>
                  </a:tcPr>
                </a:tc>
                <a:tc>
                  <a:txBody>
                    <a:bodyPr wrap="square"/>
                    <a:lstStyle/>
                    <a:p>
                      <a:pPr algn="l"/>
                      <a:r>
                        <a:rPr sz="1150" b="0" i="0">
                          <a:solidFill>
                            <a:srgbClr val="27314D"/>
                          </a:solidFill>
                          <a:latin typeface="Calibri"/>
                        </a:rPr>
                        <a:t>Esquemas nacionales de garantía de depósitos</a:t>
                      </a:r>
                    </a:p>
                  </a:txBody>
                  <a:tcPr marL="54864" marR="54864" marT="27432" marB="27432" anchor="ctr">
                    <a:solidFill>
                      <a:srgbClr val="FFFFFF"/>
                    </a:solidFill>
                  </a:tcPr>
                </a:tc>
              </a:tr>
              <a:tr h="310786">
                <a:tc>
                  <a:txBody>
                    <a:bodyPr wrap="square"/>
                    <a:lstStyle/>
                    <a:p>
                      <a:pPr algn="l"/>
                      <a:r>
                        <a:rPr sz="1150" b="0" i="0">
                          <a:solidFill>
                            <a:srgbClr val="27314D"/>
                          </a:solidFill>
                          <a:latin typeface="Calibri"/>
                        </a:rPr>
                        <a:t>Protección al usuario financiero</a:t>
                      </a:r>
                    </a:p>
                  </a:txBody>
                  <a:tcPr marL="54864" marR="54864" marT="27432" marB="27432" anchor="ctr">
                    <a:solidFill>
                      <a:srgbClr val="F2F4FA"/>
                    </a:solidFill>
                  </a:tcPr>
                </a:tc>
                <a:tc>
                  <a:txBody>
                    <a:bodyPr wrap="square"/>
                    <a:lstStyle/>
                    <a:p>
                      <a:pPr algn="l"/>
                      <a:r>
                        <a:rPr sz="1150" b="0" i="0">
                          <a:solidFill>
                            <a:srgbClr val="27314D"/>
                          </a:solidFill>
                          <a:latin typeface="Calibri"/>
                        </a:rPr>
                        <a:t>CONDUSEF</a:t>
                      </a:r>
                    </a:p>
                  </a:txBody>
                  <a:tcPr marL="54864" marR="54864" marT="27432" marB="27432" anchor="ctr">
                    <a:solidFill>
                      <a:srgbClr val="F2F4FA"/>
                    </a:solidFill>
                  </a:tcPr>
                </a:tc>
                <a:tc>
                  <a:txBody>
                    <a:bodyPr wrap="square"/>
                    <a:lstStyle/>
                    <a:p>
                      <a:pPr algn="l"/>
                      <a:r>
                        <a:rPr sz="1150" b="0" i="0">
                          <a:solidFill>
                            <a:srgbClr val="27314D"/>
                          </a:solidFill>
                          <a:latin typeface="Calibri"/>
                        </a:rPr>
                        <a:t>CFPB (Consumer Financial Protection Bureau)</a:t>
                      </a:r>
                    </a:p>
                  </a:txBody>
                  <a:tcPr marL="54864" marR="54864" marT="27432" marB="27432" anchor="ctr">
                    <a:solidFill>
                      <a:srgbClr val="F2F4FA"/>
                    </a:solidFill>
                  </a:tcPr>
                </a:tc>
                <a:tc>
                  <a:txBody>
                    <a:bodyPr wrap="square"/>
                    <a:lstStyle/>
                    <a:p>
                      <a:pPr algn="l"/>
                      <a:r>
                        <a:rPr sz="1150" b="0" i="0">
                          <a:solidFill>
                            <a:srgbClr val="27314D"/>
                          </a:solidFill>
                          <a:latin typeface="Calibri"/>
                        </a:rPr>
                        <a:t>Autoridades nacionales de protección al consumidor</a:t>
                      </a:r>
                    </a:p>
                  </a:txBody>
                  <a:tcPr marL="54864" marR="54864" marT="27432" marB="27432" anchor="ctr">
                    <a:solidFill>
                      <a:srgbClr val="F2F4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ESTRUCTURA DEL SISTEMA FINANCIERO MEXICANO</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Panorama de los sistemas financieros internacionales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14</a:t>
            </a:r>
          </a:p>
        </p:txBody>
      </p:sp>
      <p:sp>
        <p:nvSpPr>
          <p:cNvPr id="5" name="TextBox 4"/>
          <p:cNvSpPr txBox="1"/>
          <p:nvPr/>
        </p:nvSpPr>
        <p:spPr>
          <a:xfrm>
            <a:off x="640080" y="1539808"/>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493912"/>
          </a:xfrm>
          <a:prstGeom prst="rect">
            <a:avLst/>
          </a:prstGeom>
          <a:noFill/>
        </p:spPr>
        <p:txBody>
          <a:bodyPr wrap="square" lIns="0" rIns="0" tIns="0" bIns="0">
            <a:spAutoFit/>
          </a:bodyPr>
          <a:lstStyle/>
          <a:p>
            <a:pPr algn="l"/>
            <a:r>
              <a:rPr sz="1350" b="0" i="0">
                <a:solidFill>
                  <a:srgbClr val="27314D"/>
                </a:solidFill>
                <a:latin typeface="Calibri"/>
              </a:rPr>
              <a:t>Ningún país reproduce el organigrama mexicano tal cual: EE. UU., por ejemplo, reparte la supervisión bancaria entre varias agencias (Fed, OCC, FDIC) en vez de concentrarla en una sola como la CNBV.</a:t>
            </a:r>
          </a:p>
        </p:txBody>
      </p:sp>
      <p:sp>
        <p:nvSpPr>
          <p:cNvPr id="7" name="TextBox 6"/>
          <p:cNvSpPr txBox="1"/>
          <p:nvPr/>
        </p:nvSpPr>
        <p:spPr>
          <a:xfrm>
            <a:off x="640080" y="2033720"/>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2033720"/>
            <a:ext cx="10651840" cy="493912"/>
          </a:xfrm>
          <a:prstGeom prst="rect">
            <a:avLst/>
          </a:prstGeom>
          <a:noFill/>
        </p:spPr>
        <p:txBody>
          <a:bodyPr wrap="square" lIns="0" rIns="0" tIns="0" bIns="0">
            <a:spAutoFit/>
          </a:bodyPr>
          <a:lstStyle/>
          <a:p>
            <a:pPr algn="l"/>
            <a:r>
              <a:rPr sz="1350" b="0" i="0">
                <a:solidFill>
                  <a:srgbClr val="27314D"/>
                </a:solidFill>
                <a:latin typeface="Calibri"/>
              </a:rPr>
              <a:t>La Zona Euro es un caso especial: comparte banco central y buena parte de la supervisión bancaria de forma supranacional, pero la protección al usuario sigue siendo, en gran medida, un asunto nacional.</a:t>
            </a:r>
          </a:p>
        </p:txBody>
      </p:sp>
      <p:sp>
        <p:nvSpPr>
          <p:cNvPr id="9" name="TextBox 8"/>
          <p:cNvSpPr txBox="1"/>
          <p:nvPr/>
        </p:nvSpPr>
        <p:spPr>
          <a:xfrm>
            <a:off x="640080" y="2527632"/>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2527632"/>
            <a:ext cx="10651840" cy="493912"/>
          </a:xfrm>
          <a:prstGeom prst="rect">
            <a:avLst/>
          </a:prstGeom>
          <a:noFill/>
        </p:spPr>
        <p:txBody>
          <a:bodyPr wrap="square" lIns="0" rIns="0" tIns="0" bIns="0">
            <a:spAutoFit/>
          </a:bodyPr>
          <a:lstStyle/>
          <a:p>
            <a:pPr algn="l"/>
            <a:r>
              <a:rPr sz="1350" b="0" i="0">
                <a:solidFill>
                  <a:srgbClr val="27314D"/>
                </a:solidFill>
                <a:latin typeface="Calibri"/>
              </a:rPr>
              <a:t>Por encima de estas estructuras nacionales existen organismos que coordinan entre países (FMI, Banco Mundial, BIS, IOSCO, FSB); esa capa se estudia a fondo en la Unidad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Cierre · Estructura del Sistema Financiero Mexicano</a:t>
            </a:r>
          </a:p>
        </p:txBody>
      </p:sp>
      <p:sp>
        <p:nvSpPr>
          <p:cNvPr id="3" name="TextBox 2"/>
          <p:cNvSpPr txBox="1"/>
          <p:nvPr/>
        </p:nvSpPr>
        <p:spPr>
          <a:xfrm>
            <a:off x="822960" y="1629808"/>
            <a:ext cx="10332720" cy="882960"/>
          </a:xfrm>
          <a:prstGeom prst="rect">
            <a:avLst/>
          </a:prstGeom>
          <a:noFill/>
        </p:spPr>
        <p:txBody>
          <a:bodyPr wrap="square" lIns="0" rIns="0" tIns="0" bIns="0">
            <a:spAutoFit/>
          </a:bodyPr>
          <a:lstStyle/>
          <a:p>
            <a:pPr algn="l"/>
            <a:r>
              <a:rPr sz="1600" b="0" i="0">
                <a:solidFill>
                  <a:srgbClr val="1E2761"/>
                </a:solidFill>
                <a:latin typeface="Calibri"/>
              </a:rPr>
              <a:t>El SFM se organiza en tres niveles: </a:t>
            </a:r>
            <a:r>
              <a:rPr sz="1600" b="1" i="0">
                <a:solidFill>
                  <a:srgbClr val="1E2761"/>
                </a:solidFill>
                <a:latin typeface="Calibri"/>
              </a:rPr>
              <a:t>reguladores</a:t>
            </a:r>
            <a:r>
              <a:rPr sz="1600" b="0" i="0">
                <a:solidFill>
                  <a:srgbClr val="1E2761"/>
                </a:solidFill>
                <a:latin typeface="Calibri"/>
              </a:rPr>
              <a:t> (SHCP, Banxico) diseñan la política y coordinan vía el </a:t>
            </a:r>
            <a:r>
              <a:rPr sz="1600" b="1" i="0">
                <a:solidFill>
                  <a:srgbClr val="1E2761"/>
                </a:solidFill>
                <a:latin typeface="Calibri"/>
              </a:rPr>
              <a:t>CESF</a:t>
            </a:r>
            <a:r>
              <a:rPr sz="1600" b="0" i="0">
                <a:solidFill>
                  <a:srgbClr val="1E2761"/>
                </a:solidFill>
                <a:latin typeface="Calibri"/>
              </a:rPr>
              <a:t>; </a:t>
            </a:r>
            <a:r>
              <a:rPr sz="1600" b="1" i="0">
                <a:solidFill>
                  <a:srgbClr val="1E2761"/>
                </a:solidFill>
                <a:latin typeface="Calibri"/>
              </a:rPr>
              <a:t>supervisores</a:t>
            </a:r>
            <a:r>
              <a:rPr sz="1600" b="0" i="0">
                <a:solidFill>
                  <a:srgbClr val="1E2761"/>
                </a:solidFill>
                <a:latin typeface="Calibri"/>
              </a:rPr>
              <a:t> (CNBV, CNSF, Consar) vigilan cada sector, la CNBV con el alcance más amplio (banca, valores, Fintech, ahorro popular); </a:t>
            </a:r>
            <a:r>
              <a:rPr sz="1600" b="1" i="0">
                <a:solidFill>
                  <a:srgbClr val="1E2761"/>
                </a:solidFill>
                <a:latin typeface="Calibri"/>
              </a:rPr>
              <a:t>apoyo y protección</a:t>
            </a:r>
            <a:r>
              <a:rPr sz="1600" b="0" i="0">
                <a:solidFill>
                  <a:srgbClr val="1E2761"/>
                </a:solidFill>
                <a:latin typeface="Calibri"/>
              </a:rPr>
              <a:t> (IPAB, CONDUSEF) respaldan al usuario.</a:t>
            </a:r>
          </a:p>
        </p:txBody>
      </p:sp>
      <p:sp>
        <p:nvSpPr>
          <p:cNvPr id="4" name="TextBox 3"/>
          <p:cNvSpPr txBox="1"/>
          <p:nvPr/>
        </p:nvSpPr>
        <p:spPr>
          <a:xfrm>
            <a:off x="822960" y="2712768"/>
            <a:ext cx="10332720" cy="608640"/>
          </a:xfrm>
          <a:prstGeom prst="rect">
            <a:avLst/>
          </a:prstGeom>
          <a:noFill/>
        </p:spPr>
        <p:txBody>
          <a:bodyPr wrap="square" lIns="0" rIns="0" tIns="0" bIns="0">
            <a:spAutoFit/>
          </a:bodyPr>
          <a:lstStyle/>
          <a:p>
            <a:pPr algn="l"/>
            <a:r>
              <a:rPr sz="1600" b="0" i="0">
                <a:solidFill>
                  <a:srgbClr val="1E2761"/>
                </a:solidFill>
                <a:latin typeface="Calibri"/>
              </a:rPr>
              <a:t>Regular la emisión no es garantizar el pago: la CNBV vigila casi todos los instrumentos de la Unidad 0, pero solo el depósito bancario tiene garantía explícita (IPAB); en el resto, el riesgo de crédito lo asume el inversionista.</a:t>
            </a:r>
          </a:p>
        </p:txBody>
      </p:sp>
      <p:sp>
        <p:nvSpPr>
          <p:cNvPr id="5" name="TextBox 4"/>
          <p:cNvSpPr txBox="1"/>
          <p:nvPr/>
        </p:nvSpPr>
        <p:spPr>
          <a:xfrm>
            <a:off x="822960" y="3521408"/>
            <a:ext cx="10332720" cy="882960"/>
          </a:xfrm>
          <a:prstGeom prst="rect">
            <a:avLst/>
          </a:prstGeom>
          <a:noFill/>
        </p:spPr>
        <p:txBody>
          <a:bodyPr wrap="square" lIns="0" rIns="0" tIns="0" bIns="0">
            <a:spAutoFit/>
          </a:bodyPr>
          <a:lstStyle/>
          <a:p>
            <a:pPr algn="l"/>
            <a:r>
              <a:rPr sz="1600" b="0" i="0">
                <a:solidFill>
                  <a:srgbClr val="1E2761"/>
                </a:solidFill>
                <a:latin typeface="Calibri"/>
              </a:rPr>
              <a:t>Un usuario ejerce esa protección de forma concreta: reclama el seguro de depósito ante el </a:t>
            </a:r>
            <a:r>
              <a:rPr sz="1600" b="1" i="0">
                <a:solidFill>
                  <a:srgbClr val="1E2761"/>
                </a:solidFill>
                <a:latin typeface="Calibri"/>
              </a:rPr>
              <a:t>IPAB</a:t>
            </a:r>
            <a:r>
              <a:rPr sz="1600" b="0" i="0">
                <a:solidFill>
                  <a:srgbClr val="1E2761"/>
                </a:solidFill>
                <a:latin typeface="Calibri"/>
              </a:rPr>
              <a:t>, presenta una reclamación formal ante </a:t>
            </a:r>
            <a:r>
              <a:rPr sz="1600" b="1" i="0">
                <a:solidFill>
                  <a:srgbClr val="1E2761"/>
                </a:solidFill>
                <a:latin typeface="Calibri"/>
              </a:rPr>
              <a:t>CONDUSEF</a:t>
            </a:r>
            <a:r>
              <a:rPr sz="1600" b="0" i="0">
                <a:solidFill>
                  <a:srgbClr val="1E2761"/>
                </a:solidFill>
                <a:latin typeface="Calibri"/>
              </a:rPr>
              <a:t>, y consulta el </a:t>
            </a:r>
            <a:r>
              <a:rPr sz="1600" b="1" i="0">
                <a:solidFill>
                  <a:srgbClr val="1E2761"/>
                </a:solidFill>
                <a:latin typeface="Calibri"/>
              </a:rPr>
              <a:t>Buró de Entidades Financieras</a:t>
            </a:r>
            <a:r>
              <a:rPr sz="1600" b="0" i="0">
                <a:solidFill>
                  <a:srgbClr val="1E2761"/>
                </a:solidFill>
                <a:latin typeface="Calibri"/>
              </a:rPr>
              <a:t> (quejas históricas) o el </a:t>
            </a:r>
            <a:r>
              <a:rPr sz="1600" b="1" i="0">
                <a:solidFill>
                  <a:srgbClr val="1E2761"/>
                </a:solidFill>
                <a:latin typeface="Calibri"/>
              </a:rPr>
              <a:t>SIPRES</a:t>
            </a:r>
            <a:r>
              <a:rPr sz="1600" b="0" i="0">
                <a:solidFill>
                  <a:srgbClr val="1E2761"/>
                </a:solidFill>
                <a:latin typeface="Calibri"/>
              </a:rPr>
              <a:t> (registro legal) antes de contratar.</a:t>
            </a:r>
          </a:p>
        </p:txBody>
      </p:sp>
      <p:sp>
        <p:nvSpPr>
          <p:cNvPr id="6" name="TextBox 5"/>
          <p:cNvSpPr txBox="1"/>
          <p:nvPr/>
        </p:nvSpPr>
        <p:spPr>
          <a:xfrm>
            <a:off x="822960" y="4604368"/>
            <a:ext cx="10332720" cy="882960"/>
          </a:xfrm>
          <a:prstGeom prst="rect">
            <a:avLst/>
          </a:prstGeom>
          <a:noFill/>
        </p:spPr>
        <p:txBody>
          <a:bodyPr wrap="square" lIns="0" rIns="0" tIns="0" bIns="0">
            <a:spAutoFit/>
          </a:bodyPr>
          <a:lstStyle/>
          <a:p>
            <a:pPr algn="l"/>
            <a:r>
              <a:rPr sz="1600" b="0" i="0">
                <a:solidFill>
                  <a:srgbClr val="1E2761"/>
                </a:solidFill>
                <a:latin typeface="Calibri"/>
              </a:rPr>
              <a:t>Todo país reparte las mismas tres funciones (regular, supervisar, proteger) bajo un </a:t>
            </a:r>
            <a:r>
              <a:rPr sz="1600" b="1" i="0">
                <a:solidFill>
                  <a:srgbClr val="1E2761"/>
                </a:solidFill>
                <a:latin typeface="Calibri"/>
              </a:rPr>
              <a:t>modelo</a:t>
            </a:r>
            <a:r>
              <a:rPr sz="1600" b="0" i="0">
                <a:solidFill>
                  <a:srgbClr val="1E2761"/>
                </a:solidFill>
                <a:latin typeface="Calibri"/>
              </a:rPr>
              <a:t> distinto (México </a:t>
            </a:r>
            <a:r>
              <a:rPr sz="1600" b="1" i="0">
                <a:solidFill>
                  <a:srgbClr val="1E2761"/>
                </a:solidFill>
                <a:latin typeface="Calibri"/>
              </a:rPr>
              <a:t>bank-based</a:t>
            </a:r>
            <a:r>
              <a:rPr sz="1600" b="0" i="0">
                <a:solidFill>
                  <a:srgbClr val="1E2761"/>
                </a:solidFill>
                <a:latin typeface="Calibri"/>
              </a:rPr>
              <a:t>, EE. UU. </a:t>
            </a:r>
            <a:r>
              <a:rPr sz="1600" b="1" i="0">
                <a:solidFill>
                  <a:srgbClr val="1E2761"/>
                </a:solidFill>
                <a:latin typeface="Calibri"/>
              </a:rPr>
              <a:t>market-based</a:t>
            </a:r>
            <a:r>
              <a:rPr sz="1600" b="0" i="0">
                <a:solidFill>
                  <a:srgbClr val="1E2761"/>
                </a:solidFill>
                <a:latin typeface="Calibri"/>
              </a:rPr>
              <a:t>), y las autoridades del SFM tienen equivalentes funcionales en otros países (Banxico↔Fed↔BCE, CNBV↔SEC, IPAB↔FDIC, CONDUSEF↔CFPB), aunque el reparto exacto de funciones entre agencias no es idéntico.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PREPARACIÓN DOCENTE</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Fuentes y referencias recomendadas</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15</a:t>
            </a:r>
          </a:p>
        </p:txBody>
      </p:sp>
      <p:sp>
        <p:nvSpPr>
          <p:cNvPr id="5" name="TextBox 4"/>
          <p:cNvSpPr txBox="1"/>
          <p:nvPr/>
        </p:nvSpPr>
        <p:spPr>
          <a:xfrm>
            <a:off x="640080" y="153980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274456"/>
          </a:xfrm>
          <a:prstGeom prst="rect">
            <a:avLst/>
          </a:prstGeom>
          <a:noFill/>
        </p:spPr>
        <p:txBody>
          <a:bodyPr wrap="square" lIns="0" rIns="0" tIns="0" bIns="0">
            <a:spAutoFit/>
          </a:bodyPr>
          <a:lstStyle/>
          <a:p>
            <a:pPr algn="l"/>
            <a:r>
              <a:rPr sz="1350" b="0" i="0">
                <a:solidFill>
                  <a:srgbClr val="27314D"/>
                </a:solidFill>
                <a:latin typeface="Calibri"/>
              </a:rPr>
              <a:t>Banxico Educa: infografías y explicaciones sobre "¿Qué es el Sistema Financiero?", ideales para repaso.</a:t>
            </a:r>
          </a:p>
        </p:txBody>
      </p:sp>
      <p:sp>
        <p:nvSpPr>
          <p:cNvPr id="7" name="TextBox 6"/>
          <p:cNvSpPr txBox="1"/>
          <p:nvPr/>
        </p:nvSpPr>
        <p:spPr>
          <a:xfrm>
            <a:off x="640080" y="181426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1814264"/>
            <a:ext cx="10651840" cy="274456"/>
          </a:xfrm>
          <a:prstGeom prst="rect">
            <a:avLst/>
          </a:prstGeom>
          <a:noFill/>
        </p:spPr>
        <p:txBody>
          <a:bodyPr wrap="square" lIns="0" rIns="0" tIns="0" bIns="0">
            <a:spAutoFit/>
          </a:bodyPr>
          <a:lstStyle/>
          <a:p>
            <a:pPr algn="l"/>
            <a:r>
              <a:rPr sz="1350" b="0" i="0">
                <a:solidFill>
                  <a:srgbClr val="27314D"/>
                </a:solidFill>
                <a:latin typeface="Calibri"/>
              </a:rPr>
              <a:t>Catálogo del Sistema Financiero Mexicano (SHCP): registro oficial de la estructura de autoridades e intermediarios regulados.</a:t>
            </a:r>
          </a:p>
        </p:txBody>
      </p:sp>
      <p:sp>
        <p:nvSpPr>
          <p:cNvPr id="9" name="TextBox 8"/>
          <p:cNvSpPr txBox="1"/>
          <p:nvPr/>
        </p:nvSpPr>
        <p:spPr>
          <a:xfrm>
            <a:off x="640080" y="208872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0" name="TextBox 9"/>
          <p:cNvSpPr txBox="1"/>
          <p:nvPr/>
        </p:nvSpPr>
        <p:spPr>
          <a:xfrm>
            <a:off x="900080" y="2088720"/>
            <a:ext cx="10651840" cy="274456"/>
          </a:xfrm>
          <a:prstGeom prst="rect">
            <a:avLst/>
          </a:prstGeom>
          <a:noFill/>
        </p:spPr>
        <p:txBody>
          <a:bodyPr wrap="square" lIns="0" rIns="0" tIns="0" bIns="0">
            <a:spAutoFit/>
          </a:bodyPr>
          <a:lstStyle/>
          <a:p>
            <a:pPr algn="l"/>
            <a:r>
              <a:rPr sz="1350" b="0" i="0">
                <a:solidFill>
                  <a:srgbClr val="27314D"/>
                </a:solidFill>
                <a:latin typeface="Calibri"/>
              </a:rPr>
              <a:t>Portal CNBV (Sectores Supervisados): esquemas gráficos descargables.</a:t>
            </a:r>
          </a:p>
        </p:txBody>
      </p:sp>
      <p:sp>
        <p:nvSpPr>
          <p:cNvPr id="11" name="TextBox 10"/>
          <p:cNvSpPr txBox="1"/>
          <p:nvPr/>
        </p:nvSpPr>
        <p:spPr>
          <a:xfrm>
            <a:off x="640080" y="2363176"/>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2" name="TextBox 11"/>
          <p:cNvSpPr txBox="1"/>
          <p:nvPr/>
        </p:nvSpPr>
        <p:spPr>
          <a:xfrm>
            <a:off x="900080" y="2363176"/>
            <a:ext cx="10651840" cy="493912"/>
          </a:xfrm>
          <a:prstGeom prst="rect">
            <a:avLst/>
          </a:prstGeom>
          <a:noFill/>
        </p:spPr>
        <p:txBody>
          <a:bodyPr wrap="square" lIns="0" rIns="0" tIns="0" bIns="0">
            <a:spAutoFit/>
          </a:bodyPr>
          <a:lstStyle/>
          <a:p>
            <a:pPr algn="l"/>
            <a:r>
              <a:rPr sz="1350" b="0" i="0">
                <a:solidFill>
                  <a:srgbClr val="27314D"/>
                </a:solidFill>
                <a:latin typeface="Calibri"/>
              </a:rPr>
              <a:t>Portal CONDUSEF (Educación Financiera, Buró de Entidades Financieras, SIPRES): material gráfico, historial de quejas y verificación de registro de instituciones.</a:t>
            </a:r>
          </a:p>
        </p:txBody>
      </p:sp>
      <p:sp>
        <p:nvSpPr>
          <p:cNvPr id="13" name="TextBox 12"/>
          <p:cNvSpPr txBox="1"/>
          <p:nvPr/>
        </p:nvSpPr>
        <p:spPr>
          <a:xfrm>
            <a:off x="640080" y="285708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4" name="TextBox 13"/>
          <p:cNvSpPr txBox="1"/>
          <p:nvPr/>
        </p:nvSpPr>
        <p:spPr>
          <a:xfrm>
            <a:off x="900080" y="2857088"/>
            <a:ext cx="10651840" cy="274456"/>
          </a:xfrm>
          <a:prstGeom prst="rect">
            <a:avLst/>
          </a:prstGeom>
          <a:noFill/>
        </p:spPr>
        <p:txBody>
          <a:bodyPr wrap="square" lIns="0" rIns="0" tIns="0" bIns="0">
            <a:spAutoFit/>
          </a:bodyPr>
          <a:lstStyle/>
          <a:p>
            <a:pPr algn="l"/>
            <a:r>
              <a:rPr sz="1350" b="0" i="0">
                <a:solidFill>
                  <a:srgbClr val="27314D"/>
                </a:solidFill>
                <a:latin typeface="Calibri"/>
              </a:rPr>
              <a:t>Portal IPAB: qué es el seguro de depósito, límite de cobertura vigente en UDIs y proceso de reclamación.</a:t>
            </a:r>
          </a:p>
        </p:txBody>
      </p:sp>
      <p:sp>
        <p:nvSpPr>
          <p:cNvPr id="15" name="TextBox 14"/>
          <p:cNvSpPr txBox="1"/>
          <p:nvPr/>
        </p:nvSpPr>
        <p:spPr>
          <a:xfrm>
            <a:off x="640080" y="3131544"/>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6" name="TextBox 15"/>
          <p:cNvSpPr txBox="1"/>
          <p:nvPr/>
        </p:nvSpPr>
        <p:spPr>
          <a:xfrm>
            <a:off x="900080" y="3131544"/>
            <a:ext cx="10651840" cy="493912"/>
          </a:xfrm>
          <a:prstGeom prst="rect">
            <a:avLst/>
          </a:prstGeom>
          <a:noFill/>
        </p:spPr>
        <p:txBody>
          <a:bodyPr wrap="square" lIns="0" rIns="0" tIns="0" bIns="0">
            <a:spAutoFit/>
          </a:bodyPr>
          <a:lstStyle/>
          <a:p>
            <a:pPr algn="l"/>
            <a:r>
              <a:rPr sz="1350" b="0" i="0">
                <a:solidFill>
                  <a:srgbClr val="27314D"/>
                </a:solidFill>
                <a:latin typeface="Calibri"/>
              </a:rPr>
              <a:t>Mishkin, F. S. y Eakins, S. G. (2024). </a:t>
            </a:r>
            <a:r>
              <a:rPr sz="1350" b="0" i="1">
                <a:solidFill>
                  <a:srgbClr val="27314D"/>
                </a:solidFill>
                <a:latin typeface="Calibri"/>
              </a:rPr>
              <a:t>Financial Markets and Institutions</a:t>
            </a:r>
            <a:r>
              <a:rPr sz="1350" b="0" i="0">
                <a:solidFill>
                  <a:srgbClr val="27314D"/>
                </a:solidFill>
                <a:latin typeface="Calibri"/>
              </a:rPr>
              <a:t> (10ª ed.). Pearson: comparación de sistemas financieros bank-based y market-based alrededor del mundo.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