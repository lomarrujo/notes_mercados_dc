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74" r:id="rId2"/>
    <p:sldId id="275" r:id="rId3"/>
    <p:sldId id="276" r:id="rId4"/>
    <p:sldId id="277" r:id="rId5"/>
    <p:sldId id="278" r:id="rId6"/>
    <p:sldId id="285" r:id="rId7"/>
    <p:sldId id="286" r:id="rId8"/>
    <p:sldId id="287" r:id="rId9"/>
    <p:sldId id="284" r:id="rId10"/>
    <p:sldId id="283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3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4701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4311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358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3144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822960" y="2423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MERCADOS DE DEUDA Y CAPITALES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926080"/>
            <a:ext cx="9692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Activo Financiero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462272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BA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Licenciatura en Comercio y Finanzas Internacionales · Universidad Autónoma de Zacatecas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6263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8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Linton (2019), Fabozzi y Peterson Drake (2009)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 FINANCIERO · PANORAMA GENERAL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771632" y="457200"/>
            <a:ext cx="640080" cy="640080"/>
          </a:xfrm>
          <a:prstGeom prst="ellipse">
            <a:avLst/>
          </a:prstGeom>
          <a:solidFill>
            <a:srgbClr val="EEF3F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" name="Image 0" descr="/tmp/work/deck/icons/bullsey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1652" y="61722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de la unidad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40080" y="2743200"/>
            <a:ext cx="10881360" cy="2377440"/>
          </a:xfrm>
          <a:prstGeom prst="roundRect">
            <a:avLst>
              <a:gd name="adj" fmla="val 3077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188720" y="2743200"/>
            <a:ext cx="10058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2731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el estudiante distinga un activo financiero de otros tipos de activo, y al emisor del inversionista en una transacción dada.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 FINANCIERO · PANORAMA GENERAL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Tabla de contenido</a:t>
            </a:r>
            <a:endParaRPr lang="en-US" sz="3200" dirty="0"/>
          </a:p>
        </p:txBody>
      </p:sp>
      <p:sp>
        <p:nvSpPr>
          <p:cNvPr id="36" name="Text 30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7" name="TextBox 36"/>
          <p:cNvSpPr txBox="1"/>
          <p:nvPr/>
        </p:nvSpPr>
        <p:spPr>
          <a:xfrm>
            <a:off x="777240" y="1783080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C9A227"/>
                </a:solidFill>
                <a:latin typeface="Calibri"/>
              </a:rPr>
              <a:t>I.   </a:t>
            </a:r>
            <a:r>
              <a:rPr sz="1500" b="1" i="0">
                <a:solidFill>
                  <a:srgbClr val="1E2761"/>
                </a:solidFill>
                <a:latin typeface="Calibri"/>
              </a:rPr>
              <a:t>¿Por qué existen los mercados financieros?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9720" y="178308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6ADC7"/>
                </a:solidFill>
                <a:latin typeface="Calibri"/>
              </a:rPr>
              <a:t>PÁG. 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2350008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C9A227"/>
                </a:solidFill>
                <a:latin typeface="Calibri"/>
              </a:rPr>
              <a:t>II.   </a:t>
            </a:r>
            <a:r>
              <a:rPr sz="1500" b="1" i="0">
                <a:solidFill>
                  <a:srgbClr val="1E2761"/>
                </a:solidFill>
                <a:latin typeface="Calibri"/>
              </a:rPr>
              <a:t>¿Qué es un activo financiero?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89720" y="235000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6ADC7"/>
                </a:solidFill>
                <a:latin typeface="Calibri"/>
              </a:rPr>
              <a:t>PÁG. 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2916936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C9A227"/>
                </a:solidFill>
                <a:latin typeface="Calibri"/>
              </a:rPr>
              <a:t>III.   Fuentes y referencias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89720" y="291693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6ADC7"/>
                </a:solidFill>
                <a:latin typeface="Calibri"/>
              </a:rPr>
              <a:t>PÁG. 09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 FINANCIERO · 6 MIN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771632" y="457200"/>
            <a:ext cx="640080" cy="640080"/>
          </a:xfrm>
          <a:prstGeom prst="ellipse">
            <a:avLst/>
          </a:prstGeom>
          <a:solidFill>
            <a:srgbClr val="EEF3F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" name="Image 0" descr="/tmp/work/deck/icons/coins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1652" y="61722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existen los mercados financieros?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0080" y="148132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propósito de un mercado financiero es canalizar recursos de quienes ahorran hacia quienes los necesitan.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640080" y="6400800"/>
            <a:ext cx="9418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Linton, O. (2019). Financial Econometrics: Models and Methods, Cap. 1 "Introduction and Background", §1.1, p. 1, Cambridge University Press.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3" name="TextBox 32"/>
          <p:cNvSpPr txBox="1"/>
          <p:nvPr/>
        </p:nvSpPr>
        <p:spPr>
          <a:xfrm>
            <a:off x="640080" y="2011680"/>
            <a:ext cx="10908792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 b="1" i="0">
                <a:solidFill>
                  <a:srgbClr val="1E2761"/>
                </a:solidFill>
                <a:latin typeface="Calibri"/>
              </a:rPr>
              <a:t>Suavizar el consumo: </a:t>
            </a:r>
            <a:r>
              <a:rPr sz="1350" b="0" i="0">
                <a:solidFill>
                  <a:srgbClr val="5B6482"/>
                </a:solidFill>
                <a:latin typeface="Calibri"/>
              </a:rPr>
              <a:t>las personas prefieren mantener su consumo relativamente estable en el tiempo y ante eventos inesperados.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 b="1" i="0">
                <a:solidFill>
                  <a:srgbClr val="1E2761"/>
                </a:solidFill>
                <a:latin typeface="Calibri"/>
              </a:rPr>
              <a:t>Diversificar el riesgo individual: </a:t>
            </a:r>
            <a:r>
              <a:rPr sz="1350" b="0" i="0">
                <a:solidFill>
                  <a:srgbClr val="5B6482"/>
                </a:solidFill>
                <a:latin typeface="Calibri"/>
              </a:rPr>
              <a:t>juntar los ahorros de muchas personas permite financiar proyectos grandes que nadie podría costear solo.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 b="1" i="0">
                <a:solidFill>
                  <a:srgbClr val="1E2761"/>
                </a:solidFill>
                <a:latin typeface="Calibri"/>
              </a:rPr>
              <a:t>Eficiencia y crecimiento económico: </a:t>
            </a:r>
            <a:r>
              <a:rPr sz="1350" b="0" i="0">
                <a:solidFill>
                  <a:srgbClr val="5B6482"/>
                </a:solidFill>
                <a:latin typeface="Calibri"/>
              </a:rPr>
              <a:t>hay ganancia para la economía cuando quienes tienen proyectos productivos piden prestado a quienes ahorran.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 b="1" i="0">
                <a:solidFill>
                  <a:srgbClr val="1E2761"/>
                </a:solidFill>
                <a:latin typeface="Calibri"/>
              </a:rPr>
              <a:t>Transferencia de riesgo: </a:t>
            </a:r>
            <a:r>
              <a:rPr sz="1350" b="0" i="0">
                <a:solidFill>
                  <a:srgbClr val="5B6482"/>
                </a:solidFill>
                <a:latin typeface="Calibri"/>
              </a:rPr>
              <a:t>los mercados permiten que quien no quiere un riesgo se lo transfiera a alguien dispuesto a tomarlo.</a:t>
            </a:r>
          </a:p>
        </p:txBody>
      </p:sp>
      <p:sp>
        <p:nvSpPr>
          <p:cNvPr id="21" name="Shape 16"/>
          <p:cNvSpPr/>
          <p:nvPr/>
        </p:nvSpPr>
        <p:spPr>
          <a:xfrm>
            <a:off x="640080" y="5120640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17"/>
          <p:cNvSpPr/>
          <p:nvPr/>
        </p:nvSpPr>
        <p:spPr>
          <a:xfrm>
            <a:off x="777240" y="5010912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4600" dirty="0"/>
          </a:p>
        </p:txBody>
      </p:sp>
      <p:sp>
        <p:nvSpPr>
          <p:cNvPr id="23" name="Text 18"/>
          <p:cNvSpPr/>
          <p:nvPr/>
        </p:nvSpPr>
        <p:spPr>
          <a:xfrm>
            <a:off x="1325880" y="521208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activos financieros no son la riqueza real de una economía: son títulos sobre el ingreso que generan los activos reales.</a:t>
            </a:r>
            <a:r>
              <a:rPr lang="en-US" sz="1200" b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Linton (2019), Cap. 1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 FINANCIERO · 8 MIN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771632" y="457200"/>
            <a:ext cx="640080" cy="640080"/>
          </a:xfrm>
          <a:prstGeom prst="ellipse">
            <a:avLst/>
          </a:prstGeom>
          <a:solidFill>
            <a:srgbClr val="EEF3F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" name="Image 0" descr="/tmp/work/deck/icons/coins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1652" y="61722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un activo financiero?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0080" y="148132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hablar de mercados, hay que definir qué es lo que en ellos se intercambia.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1965960"/>
            <a:ext cx="4937760" cy="3063240"/>
          </a:xfrm>
          <a:prstGeom prst="roundRect">
            <a:avLst>
              <a:gd name="adj" fmla="val 2985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932688" y="22402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9" name="Image 1" descr="/tmp/work/deck/icons/landmark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751" y="2376343"/>
            <a:ext cx="294803" cy="29480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45920" y="226771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Activo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1645920" y="25786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 CON VALOR ECONÓMICO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932688" y="2953512"/>
            <a:ext cx="4352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recurso del que se espera obtener beneficios económicos futuros.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932688" y="3730752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0"/>
          <p:cNvSpPr/>
          <p:nvPr/>
        </p:nvSpPr>
        <p:spPr>
          <a:xfrm>
            <a:off x="1143000" y="3593592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Tangible: </a:t>
            </a:r>
            <a:r>
              <a:rPr lang="en-US" sz="103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valor depende de sus propiedades físicas (inmuebles, maquinaria, equipo).</a:t>
            </a:r>
            <a:endParaRPr lang="en-US" sz="1030" dirty="0"/>
          </a:p>
        </p:txBody>
      </p:sp>
      <p:sp>
        <p:nvSpPr>
          <p:cNvPr id="15" name="Shape 11"/>
          <p:cNvSpPr/>
          <p:nvPr/>
        </p:nvSpPr>
        <p:spPr>
          <a:xfrm>
            <a:off x="932688" y="4407408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2"/>
          <p:cNvSpPr/>
          <p:nvPr/>
        </p:nvSpPr>
        <p:spPr>
          <a:xfrm>
            <a:off x="1143000" y="4270248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Intangible: </a:t>
            </a:r>
            <a:r>
              <a:rPr lang="en-US" sz="103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derecho legal sobre beneficios futuros, sin relación con una forma física.</a:t>
            </a:r>
            <a:endParaRPr lang="en-US" sz="1030" dirty="0"/>
          </a:p>
        </p:txBody>
      </p:sp>
      <p:sp>
        <p:nvSpPr>
          <p:cNvPr id="17" name="Shape 13"/>
          <p:cNvSpPr/>
          <p:nvPr/>
        </p:nvSpPr>
        <p:spPr>
          <a:xfrm>
            <a:off x="6611112" y="1965960"/>
            <a:ext cx="4937760" cy="3063240"/>
          </a:xfrm>
          <a:prstGeom prst="roundRect">
            <a:avLst>
              <a:gd name="adj" fmla="val 298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4"/>
          <p:cNvSpPr/>
          <p:nvPr/>
        </p:nvSpPr>
        <p:spPr>
          <a:xfrm>
            <a:off x="6903720" y="2240280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9" name="Image 2" descr="/tmp/work/deck/icons/exchange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9783" y="2376343"/>
            <a:ext cx="294803" cy="29480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616952" y="226771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Activo financiero</a:t>
            </a:r>
            <a:endParaRPr lang="en-US" sz="1650" dirty="0"/>
          </a:p>
        </p:txBody>
      </p:sp>
      <p:sp>
        <p:nvSpPr>
          <p:cNvPr id="21" name="Text 16"/>
          <p:cNvSpPr/>
          <p:nvPr/>
        </p:nvSpPr>
        <p:spPr>
          <a:xfrm>
            <a:off x="7616952" y="25786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 INTANGIBLE · INSTRUMENTO FINANCIERO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6903720" y="2953512"/>
            <a:ext cx="4352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 intangible cuyo beneficio futuro es un derecho sobre efectivo futuro. Si se negocia en mercados organizados, se le llama valor (security).</a:t>
            </a:r>
            <a:endParaRPr lang="en-US" sz="1080" dirty="0"/>
          </a:p>
        </p:txBody>
      </p:sp>
      <p:sp>
        <p:nvSpPr>
          <p:cNvPr id="23" name="Shape 18"/>
          <p:cNvSpPr/>
          <p:nvPr/>
        </p:nvSpPr>
        <p:spPr>
          <a:xfrm>
            <a:off x="6903720" y="3730752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19"/>
          <p:cNvSpPr/>
          <p:nvPr/>
        </p:nvSpPr>
        <p:spPr>
          <a:xfrm>
            <a:off x="7114032" y="3593592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3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Emisor: </a:t>
            </a:r>
            <a:r>
              <a:rPr lang="en-US" sz="10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compromete a realizar los pagos futuros.</a:t>
            </a:r>
            <a:endParaRPr lang="en-US" sz="1030" dirty="0"/>
          </a:p>
        </p:txBody>
      </p:sp>
      <p:sp>
        <p:nvSpPr>
          <p:cNvPr id="25" name="Shape 20"/>
          <p:cNvSpPr/>
          <p:nvPr/>
        </p:nvSpPr>
        <p:spPr>
          <a:xfrm>
            <a:off x="6903720" y="4407408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1"/>
          <p:cNvSpPr/>
          <p:nvPr/>
        </p:nvSpPr>
        <p:spPr>
          <a:xfrm>
            <a:off x="7114032" y="4270248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3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Inversionista: </a:t>
            </a:r>
            <a:r>
              <a:rPr lang="en-US" sz="10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posee el instrumento y tiene derecho a recibir esos pagos.</a:t>
            </a:r>
            <a:endParaRPr lang="en-US" sz="1030" dirty="0"/>
          </a:p>
        </p:txBody>
      </p:sp>
      <p:sp>
        <p:nvSpPr>
          <p:cNvPr id="27" name="Shape 22"/>
          <p:cNvSpPr/>
          <p:nvPr/>
        </p:nvSpPr>
        <p:spPr>
          <a:xfrm>
            <a:off x="640080" y="5212080"/>
            <a:ext cx="10908792" cy="548640"/>
          </a:xfrm>
          <a:prstGeom prst="roundRect">
            <a:avLst>
              <a:gd name="adj" fmla="val 13333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Shape 23"/>
          <p:cNvSpPr/>
          <p:nvPr/>
        </p:nvSpPr>
        <p:spPr>
          <a:xfrm>
            <a:off x="777240" y="5312664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9" name="Image 3" descr="/tmp/work/deck/icons/balance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633" y="5396057"/>
            <a:ext cx="180685" cy="180685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280160" y="5212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instrumento financiero involucra, como mínimo, dos partes: el emisor (unidad deficitaria) y el inversionista (unidad superavitaria).</a:t>
            </a:r>
            <a:endParaRPr lang="en-US" sz="1080" dirty="0"/>
          </a:p>
        </p:txBody>
      </p:sp>
      <p:sp>
        <p:nvSpPr>
          <p:cNvPr id="31" name="Text 25"/>
          <p:cNvSpPr/>
          <p:nvPr/>
        </p:nvSpPr>
        <p:spPr>
          <a:xfrm>
            <a:off x="640080" y="6400800"/>
            <a:ext cx="9418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Fabozzi, F. J. y Peterson Drake, P. (2009). Finance: Capital Markets, Financial Management, and Investment Management, Cap. 4, Wiley.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 FINANCIERO · 5 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Ejemplos de activos financieros (I)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cada uno, el emisor es quien promete el pago futuro y el inversionista es quien lo compra esperando recibirlo.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08792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 FINANCIERO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383280" y="1783080"/>
            <a:ext cx="220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EMISOR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700000" y="1783080"/>
            <a:ext cx="150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INVERSIONISTA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240280"/>
            <a:ext cx="10908792" cy="658368"/>
          </a:xfrm>
          <a:prstGeom prst="rect">
            <a:avLst/>
          </a:prstGeom>
          <a:solidFill>
            <a:srgbClr val="EEF3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822960" y="23774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1" name="Image 0" descr="/tmp/work/deck/icons/landmark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132" y="2469612"/>
            <a:ext cx="199705" cy="19970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16736" y="2240280"/>
            <a:ext cx="1929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383280" y="2240280"/>
            <a:ext cx="2200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Gobierno federal (SHCP)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700000" y="2240280"/>
            <a:ext cx="1500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Comprador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40080" y="2898648"/>
            <a:ext cx="10908792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822960" y="30358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7" name="Image 1" descr="/tmp/work/deck/icons/moneybill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132" y="3127980"/>
            <a:ext cx="199705" cy="199705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316736" y="2898648"/>
            <a:ext cx="1929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Bono gubernamental (Bono M, UDIBONO)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3383280" y="2898648"/>
            <a:ext cx="2200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Gobierno federal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5700000" y="2898648"/>
            <a:ext cx="1500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Comprador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640080" y="3557016"/>
            <a:ext cx="10908792" cy="658368"/>
          </a:xfrm>
          <a:prstGeom prst="rect">
            <a:avLst/>
          </a:prstGeom>
          <a:solidFill>
            <a:srgbClr val="EEF3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Shape 18"/>
          <p:cNvSpPr/>
          <p:nvPr/>
        </p:nvSpPr>
        <p:spPr>
          <a:xfrm>
            <a:off x="822960" y="369417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3" name="Image 2" descr="/tmp/work/deck/icons/handholding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132" y="3786348"/>
            <a:ext cx="199705" cy="199705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316736" y="3557016"/>
            <a:ext cx="1929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Bono corporativo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3383280" y="3557016"/>
            <a:ext cx="2200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empresa que lo coloca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5700000" y="3557016"/>
            <a:ext cx="1500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Comprador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640080" y="4215384"/>
            <a:ext cx="10908792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Shape 23"/>
          <p:cNvSpPr/>
          <p:nvPr/>
        </p:nvSpPr>
        <p:spPr>
          <a:xfrm>
            <a:off x="822960" y="435254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9" name="Image 3" descr="/tmp/work/deck/icons/university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132" y="4444716"/>
            <a:ext cx="199705" cy="199705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316736" y="4215384"/>
            <a:ext cx="1929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 comercial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3383280" y="4215384"/>
            <a:ext cx="2200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empresa que lo emite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5700000" y="4215384"/>
            <a:ext cx="1500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Comprador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640080" y="4873752"/>
            <a:ext cx="10908792" cy="658368"/>
          </a:xfrm>
          <a:prstGeom prst="rect">
            <a:avLst/>
          </a:prstGeom>
          <a:solidFill>
            <a:srgbClr val="EEF3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Shape 28"/>
          <p:cNvSpPr/>
          <p:nvPr/>
        </p:nvSpPr>
        <p:spPr>
          <a:xfrm>
            <a:off x="822960" y="501091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5" name="Image 4" descr="/tmp/work/deck/icons/piggy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5132" y="5103084"/>
            <a:ext cx="199705" cy="199705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316736" y="4873752"/>
            <a:ext cx="1929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 bursátil</a:t>
            </a:r>
            <a:endParaRPr lang="en-US" sz="1050" dirty="0"/>
          </a:p>
        </p:txBody>
      </p:sp>
      <p:sp>
        <p:nvSpPr>
          <p:cNvPr id="37" name="Text 30"/>
          <p:cNvSpPr/>
          <p:nvPr/>
        </p:nvSpPr>
        <p:spPr>
          <a:xfrm>
            <a:off x="3383280" y="4873752"/>
            <a:ext cx="2200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o gobierno</a:t>
            </a:r>
            <a:endParaRPr lang="en-US" sz="950" dirty="0"/>
          </a:p>
        </p:txBody>
      </p:sp>
      <p:sp>
        <p:nvSpPr>
          <p:cNvPr id="38" name="Text 31"/>
          <p:cNvSpPr/>
          <p:nvPr/>
        </p:nvSpPr>
        <p:spPr>
          <a:xfrm>
            <a:off x="5700000" y="4873752"/>
            <a:ext cx="1500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Comprador</a:t>
            </a:r>
            <a:endParaRPr lang="en-US" sz="950" dirty="0"/>
          </a:p>
        </p:txBody>
      </p:sp>
      <p:sp>
        <p:nvSpPr>
          <p:cNvPr id="39" name="Shape 32"/>
          <p:cNvSpPr/>
          <p:nvPr/>
        </p:nvSpPr>
        <p:spPr>
          <a:xfrm>
            <a:off x="640080" y="5532120"/>
            <a:ext cx="10908792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Shape 33"/>
          <p:cNvSpPr/>
          <p:nvPr/>
        </p:nvSpPr>
        <p:spPr>
          <a:xfrm>
            <a:off x="822960" y="56692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1" name="Image 5" descr="/tmp/work/deck/icons/shield_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5132" y="5761452"/>
            <a:ext cx="199705" cy="199705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1316736" y="5532120"/>
            <a:ext cx="1929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común o preferente</a:t>
            </a:r>
            <a:endParaRPr lang="en-US" sz="1050" dirty="0"/>
          </a:p>
        </p:txBody>
      </p:sp>
      <p:sp>
        <p:nvSpPr>
          <p:cNvPr id="43" name="Text 35"/>
          <p:cNvSpPr/>
          <p:nvPr/>
        </p:nvSpPr>
        <p:spPr>
          <a:xfrm>
            <a:off x="3383280" y="5532120"/>
            <a:ext cx="2200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empresa que cotiza</a:t>
            </a:r>
            <a:endParaRPr lang="en-US" sz="950" dirty="0"/>
          </a:p>
        </p:txBody>
      </p:sp>
      <p:sp>
        <p:nvSpPr>
          <p:cNvPr id="44" name="Text 36"/>
          <p:cNvSpPr/>
          <p:nvPr/>
        </p:nvSpPr>
        <p:spPr>
          <a:xfrm>
            <a:off x="5700000" y="5532120"/>
            <a:ext cx="1500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accionista</a:t>
            </a:r>
            <a:endParaRPr lang="en-US" sz="950" dirty="0"/>
          </a:p>
        </p:txBody>
      </p:sp>
      <p:sp>
        <p:nvSpPr>
          <p:cNvPr id="45" name="Shape 37"/>
          <p:cNvSpPr/>
          <p:nvPr/>
        </p:nvSpPr>
        <p:spPr>
          <a:xfrm>
            <a:off x="640080" y="1783080"/>
            <a:ext cx="10908792" cy="4407408"/>
          </a:xfrm>
          <a:prstGeom prst="rect">
            <a:avLst/>
          </a:prstGeom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38"/>
          <p:cNvSpPr/>
          <p:nvPr/>
        </p:nvSpPr>
        <p:spPr>
          <a:xfrm>
            <a:off x="640080" y="6400800"/>
            <a:ext cx="9418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Fabozzi, F. J. y Peterson Drake, P. (2009). Finance, Cap. 4, Wiley.</a:t>
            </a:r>
            <a:endParaRPr lang="en-US" sz="950" dirty="0"/>
          </a:p>
        </p:txBody>
      </p:sp>
      <p:sp>
        <p:nvSpPr>
          <p:cNvPr id="47" name="Text 39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9001" name="Text HeaderCol4"/>
          <p:cNvSpPr/>
          <p:nvPr/>
        </p:nvSpPr>
        <p:spPr>
          <a:xfrm>
            <a:off x="7350000" y="1783080"/>
            <a:ext cx="419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LLEGA EL RENDIMIENTO?</a:t>
            </a:r>
            <a:endParaRPr lang="en-US" sz="1000" dirty="0"/>
          </a:p>
        </p:txBody>
      </p:sp>
      <p:sp>
        <p:nvSpPr>
          <p:cNvPr id="9100" name="Text RendCol0"/>
          <p:cNvSpPr/>
          <p:nvPr/>
        </p:nvSpPr>
        <p:spPr>
          <a:xfrm>
            <a:off x="7350000" y="2240280"/>
            <a:ext cx="4198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descuento: se compra por debajo de su valor nominal y se cobra el nominal completo al vencimiento; no paga cupones.</a:t>
            </a:r>
            <a:endParaRPr lang="en-US" sz="950" dirty="0"/>
          </a:p>
        </p:txBody>
      </p:sp>
      <p:sp>
        <p:nvSpPr>
          <p:cNvPr id="9101" name="Text RendCol1"/>
          <p:cNvSpPr/>
          <p:nvPr/>
        </p:nvSpPr>
        <p:spPr>
          <a:xfrm>
            <a:off x="7350000" y="2898648"/>
            <a:ext cx="4198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Cupones periódicos (interés) durante la vida del bono, más el valor nominal al vencimiento.</a:t>
            </a:r>
            <a:endParaRPr lang="en-US" sz="950" dirty="0"/>
          </a:p>
        </p:txBody>
      </p:sp>
      <p:sp>
        <p:nvSpPr>
          <p:cNvPr id="9102" name="Text RendCol2"/>
          <p:cNvSpPr/>
          <p:nvPr/>
        </p:nvSpPr>
        <p:spPr>
          <a:xfrm>
            <a:off x="7350000" y="3557016"/>
            <a:ext cx="4198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 que el bono gubernamental: cupones periódicos más el principal al vencimiento.</a:t>
            </a:r>
            <a:endParaRPr lang="en-US" sz="950" dirty="0"/>
          </a:p>
        </p:txBody>
      </p:sp>
      <p:sp>
        <p:nvSpPr>
          <p:cNvPr id="9103" name="Text RendCol3"/>
          <p:cNvSpPr/>
          <p:nvPr/>
        </p:nvSpPr>
        <p:spPr>
          <a:xfrm>
            <a:off x="7350000" y="4215384"/>
            <a:ext cx="4198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descuento, igual que el CETE: la ganancia es la diferencia entre precio de compra y valor nominal.</a:t>
            </a:r>
            <a:endParaRPr lang="en-US" sz="950" dirty="0"/>
          </a:p>
        </p:txBody>
      </p:sp>
      <p:sp>
        <p:nvSpPr>
          <p:cNvPr id="9104" name="Text RendCol4"/>
          <p:cNvSpPr/>
          <p:nvPr/>
        </p:nvSpPr>
        <p:spPr>
          <a:xfrm>
            <a:off x="7350000" y="4873752"/>
            <a:ext cx="4198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Normalmente cupones periódicos más el principal al vencimiento, según se pacte en la emisión.</a:t>
            </a:r>
            <a:endParaRPr lang="en-US" sz="950" dirty="0"/>
          </a:p>
        </p:txBody>
      </p:sp>
      <p:sp>
        <p:nvSpPr>
          <p:cNvPr id="9105" name="Text RendCol5"/>
          <p:cNvSpPr/>
          <p:nvPr/>
        </p:nvSpPr>
        <p:spPr>
          <a:xfrm>
            <a:off x="7350000" y="5532120"/>
            <a:ext cx="4198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Dividendos (si la empresa reparte utilidades) más la plusvalía si se vende a un precio mayor al de compra.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420151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 FINANCIERO · 5 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Ejemplos de activos financieros (II)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son activos financieros: un derecho intangible sobre efectivo futuro, con un emisor y un inversionista identificables.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08792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 FINANCIERO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383280" y="1783080"/>
            <a:ext cx="220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EMISOR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700000" y="1783080"/>
            <a:ext cx="150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INVERSIONISTA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240280"/>
            <a:ext cx="10908792" cy="658368"/>
          </a:xfrm>
          <a:prstGeom prst="rect">
            <a:avLst/>
          </a:prstGeom>
          <a:solidFill>
            <a:srgbClr val="EEF3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822960" y="23774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1" name="Image 0" descr="/tmp/work/deck/icons/landmark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132" y="2469612"/>
            <a:ext cx="199705" cy="19970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16736" y="2240280"/>
            <a:ext cx="1929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FIBRA (certificado del fideicomiso)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383280" y="2240280"/>
            <a:ext cx="2200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fideicomiso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700000" y="2240280"/>
            <a:ext cx="1500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Dueño del certificado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40080" y="2898648"/>
            <a:ext cx="10908792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822960" y="30358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7" name="Image 1" descr="/tmp/work/deck/icons/moneybill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132" y="3127980"/>
            <a:ext cx="199705" cy="199705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316736" y="2898648"/>
            <a:ext cx="1929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CKD (Certificado de Capital de Desarrollo)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3383280" y="2898648"/>
            <a:ext cx="2200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fideicomiso que agrupa los proyectos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5700000" y="2898648"/>
            <a:ext cx="1500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Dueño del certificado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640080" y="3557016"/>
            <a:ext cx="10908792" cy="658368"/>
          </a:xfrm>
          <a:prstGeom prst="rect">
            <a:avLst/>
          </a:prstGeom>
          <a:solidFill>
            <a:srgbClr val="EEF3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Shape 18"/>
          <p:cNvSpPr/>
          <p:nvPr/>
        </p:nvSpPr>
        <p:spPr>
          <a:xfrm>
            <a:off x="822960" y="369417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3" name="Image 2" descr="/tmp/work/deck/icons/handholding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132" y="3786348"/>
            <a:ext cx="199705" cy="199705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316736" y="3557016"/>
            <a:ext cx="1929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CERPI (Certificado de Proyectos de Inversión)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3383280" y="3557016"/>
            <a:ext cx="2200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fideicomiso que agrupa los proyectos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5700000" y="3557016"/>
            <a:ext cx="1500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Dueño del certificado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640080" y="4215384"/>
            <a:ext cx="10908792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Shape 23"/>
          <p:cNvSpPr/>
          <p:nvPr/>
        </p:nvSpPr>
        <p:spPr>
          <a:xfrm>
            <a:off x="822960" y="435254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9" name="Image 3" descr="/tmp/work/deck/icons/university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132" y="4444716"/>
            <a:ext cx="199705" cy="199705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316736" y="4215384"/>
            <a:ext cx="1929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Pagaré entre particulares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3383280" y="4215384"/>
            <a:ext cx="2200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 firma el pagaré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5700000" y="4215384"/>
            <a:ext cx="1500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Prestamista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640080" y="4873752"/>
            <a:ext cx="10908792" cy="658368"/>
          </a:xfrm>
          <a:prstGeom prst="rect">
            <a:avLst/>
          </a:prstGeom>
          <a:solidFill>
            <a:srgbClr val="EEF3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Shape 28"/>
          <p:cNvSpPr/>
          <p:nvPr/>
        </p:nvSpPr>
        <p:spPr>
          <a:xfrm>
            <a:off x="822960" y="501091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5" name="Image 4" descr="/tmp/work/deck/icons/piggy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5132" y="5103084"/>
            <a:ext cx="199705" cy="199705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316736" y="4873752"/>
            <a:ext cx="1929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de ahorro / depósito a plazo</a:t>
            </a:r>
            <a:endParaRPr lang="en-US" sz="1050" dirty="0"/>
          </a:p>
        </p:txBody>
      </p:sp>
      <p:sp>
        <p:nvSpPr>
          <p:cNvPr id="37" name="Text 30"/>
          <p:cNvSpPr/>
          <p:nvPr/>
        </p:nvSpPr>
        <p:spPr>
          <a:xfrm>
            <a:off x="3383280" y="4873752"/>
            <a:ext cx="2200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banco</a:t>
            </a:r>
            <a:endParaRPr lang="en-US" sz="950" dirty="0"/>
          </a:p>
        </p:txBody>
      </p:sp>
      <p:sp>
        <p:nvSpPr>
          <p:cNvPr id="38" name="Text 31"/>
          <p:cNvSpPr/>
          <p:nvPr/>
        </p:nvSpPr>
        <p:spPr>
          <a:xfrm>
            <a:off x="5700000" y="4873752"/>
            <a:ext cx="1500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ahorrador</a:t>
            </a:r>
            <a:endParaRPr lang="en-US" sz="950" dirty="0"/>
          </a:p>
        </p:txBody>
      </p:sp>
      <p:sp>
        <p:nvSpPr>
          <p:cNvPr id="39" name="Shape 32"/>
          <p:cNvSpPr/>
          <p:nvPr/>
        </p:nvSpPr>
        <p:spPr>
          <a:xfrm>
            <a:off x="640080" y="5532120"/>
            <a:ext cx="10908792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Shape 33"/>
          <p:cNvSpPr/>
          <p:nvPr/>
        </p:nvSpPr>
        <p:spPr>
          <a:xfrm>
            <a:off x="822960" y="56692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1" name="Image 5" descr="/tmp/work/deck/icons/shield_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5132" y="5761452"/>
            <a:ext cx="199705" cy="199705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1316736" y="5532120"/>
            <a:ext cx="1929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 hipotecario (visto desde el banco)</a:t>
            </a:r>
            <a:endParaRPr lang="en-US" sz="1050" dirty="0"/>
          </a:p>
        </p:txBody>
      </p:sp>
      <p:sp>
        <p:nvSpPr>
          <p:cNvPr id="43" name="Text 35"/>
          <p:cNvSpPr/>
          <p:nvPr/>
        </p:nvSpPr>
        <p:spPr>
          <a:xfrm>
            <a:off x="3383280" y="5532120"/>
            <a:ext cx="2200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 pide el préstamo</a:t>
            </a:r>
            <a:endParaRPr lang="en-US" sz="950" dirty="0"/>
          </a:p>
        </p:txBody>
      </p:sp>
      <p:sp>
        <p:nvSpPr>
          <p:cNvPr id="44" name="Text 36"/>
          <p:cNvSpPr/>
          <p:nvPr/>
        </p:nvSpPr>
        <p:spPr>
          <a:xfrm>
            <a:off x="5700000" y="5532120"/>
            <a:ext cx="1500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banco</a:t>
            </a:r>
            <a:endParaRPr lang="en-US" sz="950" dirty="0"/>
          </a:p>
        </p:txBody>
      </p:sp>
      <p:sp>
        <p:nvSpPr>
          <p:cNvPr id="45" name="Shape 37"/>
          <p:cNvSpPr/>
          <p:nvPr/>
        </p:nvSpPr>
        <p:spPr>
          <a:xfrm>
            <a:off x="640080" y="1783080"/>
            <a:ext cx="10908792" cy="4407408"/>
          </a:xfrm>
          <a:prstGeom prst="rect">
            <a:avLst/>
          </a:prstGeom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38"/>
          <p:cNvSpPr/>
          <p:nvPr/>
        </p:nvSpPr>
        <p:spPr>
          <a:xfrm>
            <a:off x="640080" y="6400800"/>
            <a:ext cx="9418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Fabozzi, F. J. y Peterson Drake, P. (2009). Finance, Cap. 4, Wiley.</a:t>
            </a:r>
            <a:endParaRPr lang="en-US" sz="950" dirty="0"/>
          </a:p>
        </p:txBody>
      </p:sp>
      <p:sp>
        <p:nvSpPr>
          <p:cNvPr id="47" name="Text 39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9001" name="Text HeaderCol4"/>
          <p:cNvSpPr/>
          <p:nvPr/>
        </p:nvSpPr>
        <p:spPr>
          <a:xfrm>
            <a:off x="7350000" y="1783080"/>
            <a:ext cx="419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LLEGA EL RENDIMIENTO?</a:t>
            </a:r>
            <a:endParaRPr lang="en-US" sz="1000" dirty="0"/>
          </a:p>
        </p:txBody>
      </p:sp>
      <p:sp>
        <p:nvSpPr>
          <p:cNvPr id="9200" name="Text RendCol0"/>
          <p:cNvSpPr/>
          <p:nvPr/>
        </p:nvSpPr>
        <p:spPr>
          <a:xfrm>
            <a:off x="7350000" y="2240280"/>
            <a:ext cx="4198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Distribuciones periódicas obligatorias (renta de los inmuebles) más la plusvalía del certificado.</a:t>
            </a:r>
            <a:endParaRPr lang="en-US" sz="950" dirty="0"/>
          </a:p>
        </p:txBody>
      </p:sp>
      <p:sp>
        <p:nvSpPr>
          <p:cNvPr id="9201" name="Text RendCol1"/>
          <p:cNvSpPr/>
          <p:nvPr/>
        </p:nvSpPr>
        <p:spPr>
          <a:xfrm>
            <a:off x="7350000" y="2898648"/>
            <a:ext cx="4198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Distribuciones cuando los proyectos generan flujo o se venden, más la plusvalía; sin monto ni fecha garantizados.</a:t>
            </a:r>
            <a:endParaRPr lang="en-US" sz="950" dirty="0"/>
          </a:p>
        </p:txBody>
      </p:sp>
      <p:sp>
        <p:nvSpPr>
          <p:cNvPr id="9202" name="Text RendCol2"/>
          <p:cNvSpPr/>
          <p:nvPr/>
        </p:nvSpPr>
        <p:spPr>
          <a:xfrm>
            <a:off x="7350000" y="3557016"/>
            <a:ext cx="4198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Distribuciones ligadas al desempeño de los proyectos (frecuentemente en el extranjero), sin monto garantizado.</a:t>
            </a:r>
            <a:endParaRPr lang="en-US" sz="950" dirty="0"/>
          </a:p>
        </p:txBody>
      </p:sp>
      <p:sp>
        <p:nvSpPr>
          <p:cNvPr id="9203" name="Text RendCol3"/>
          <p:cNvSpPr/>
          <p:nvPr/>
        </p:nvSpPr>
        <p:spPr>
          <a:xfrm>
            <a:off x="7350000" y="4215384"/>
            <a:ext cx="4198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único al vencimiento: el capital prestado más el interés pactado.</a:t>
            </a:r>
            <a:endParaRPr lang="en-US" sz="950" dirty="0"/>
          </a:p>
        </p:txBody>
      </p:sp>
      <p:sp>
        <p:nvSpPr>
          <p:cNvPr id="9204" name="Text RendCol4"/>
          <p:cNvSpPr/>
          <p:nvPr/>
        </p:nvSpPr>
        <p:spPr>
          <a:xfrm>
            <a:off x="7350000" y="4873752"/>
            <a:ext cx="4198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Interés que el banco acredita sobre el saldo, de forma periódica o al final del plazo.</a:t>
            </a:r>
            <a:endParaRPr lang="en-US" sz="950" dirty="0"/>
          </a:p>
        </p:txBody>
      </p:sp>
      <p:sp>
        <p:nvSpPr>
          <p:cNvPr id="9205" name="Text RendCol5"/>
          <p:cNvSpPr/>
          <p:nvPr/>
        </p:nvSpPr>
        <p:spPr>
          <a:xfrm>
            <a:off x="7350000" y="5532120"/>
            <a:ext cx="4198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Mensualidades: cada pago incluye una parte de capital y una de interés.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2023852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 FINANCIERO · 3 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NO es un activo financiero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Aunque tenga valor económico.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08792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383280" y="17830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ACTIVO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98080" y="1783080"/>
            <a:ext cx="3867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NO ES ACTIVO FINANCIERO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240280"/>
            <a:ext cx="10908792" cy="658368"/>
          </a:xfrm>
          <a:prstGeom prst="rect">
            <a:avLst/>
          </a:prstGeom>
          <a:solidFill>
            <a:srgbClr val="EEF3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822960" y="23774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1" name="Image 0" descr="/tmp/work/deck/icons/landmark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132" y="2469612"/>
            <a:ext cx="199705" cy="19970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16736" y="2240280"/>
            <a:ext cx="1929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casa donde vives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383280" y="2240280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Tangible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498080" y="2240280"/>
            <a:ext cx="3685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valor depende de sus propiedades físicas, no de un derecho contractual de cobro.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40080" y="2898648"/>
            <a:ext cx="10908792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822960" y="30358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7" name="Image 1" descr="/tmp/work/deck/icons/moneybill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132" y="3127980"/>
            <a:ext cx="199705" cy="199705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316736" y="2898648"/>
            <a:ext cx="1929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coche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3383280" y="2898648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Tangible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7498080" y="2898648"/>
            <a:ext cx="3685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bien de uso; nadie te debe un pago futuro por tenerlo.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640080" y="3557016"/>
            <a:ext cx="10908792" cy="658368"/>
          </a:xfrm>
          <a:prstGeom prst="rect">
            <a:avLst/>
          </a:prstGeom>
          <a:solidFill>
            <a:srgbClr val="EEF3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Shape 18"/>
          <p:cNvSpPr/>
          <p:nvPr/>
        </p:nvSpPr>
        <p:spPr>
          <a:xfrm>
            <a:off x="822960" y="369417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3" name="Image 2" descr="/tmp/work/deck/icons/handholding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132" y="3786348"/>
            <a:ext cx="199705" cy="199705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316736" y="3557016"/>
            <a:ext cx="1929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Maquinaria de una fábrica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3383280" y="3557016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Tangible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7498080" y="3557016"/>
            <a:ext cx="3685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 productivo, no un derecho financiero.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640080" y="4215384"/>
            <a:ext cx="10908792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Shape 23"/>
          <p:cNvSpPr/>
          <p:nvPr/>
        </p:nvSpPr>
        <p:spPr>
          <a:xfrm>
            <a:off x="822960" y="435254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9" name="Image 3" descr="/tmp/work/deck/icons/university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132" y="4444716"/>
            <a:ext cx="199705" cy="199705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316736" y="4215384"/>
            <a:ext cx="1929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Oro físico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3383280" y="4215384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Tangible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7498080" y="4215384"/>
            <a:ext cx="3685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valor es por sus propiedades físicas, aunque se negocie en mercados.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640080" y="4873752"/>
            <a:ext cx="10908792" cy="658368"/>
          </a:xfrm>
          <a:prstGeom prst="rect">
            <a:avLst/>
          </a:prstGeom>
          <a:solidFill>
            <a:srgbClr val="EEF3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Shape 28"/>
          <p:cNvSpPr/>
          <p:nvPr/>
        </p:nvSpPr>
        <p:spPr>
          <a:xfrm>
            <a:off x="822960" y="501091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5" name="Image 4" descr="/tmp/work/deck/icons/piggy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5132" y="5103084"/>
            <a:ext cx="199705" cy="199705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316736" y="4873752"/>
            <a:ext cx="1929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boleto de avión ya usado</a:t>
            </a:r>
            <a:endParaRPr lang="en-US" sz="1050" dirty="0"/>
          </a:p>
        </p:txBody>
      </p:sp>
      <p:sp>
        <p:nvSpPr>
          <p:cNvPr id="37" name="Text 30"/>
          <p:cNvSpPr/>
          <p:nvPr/>
        </p:nvSpPr>
        <p:spPr>
          <a:xfrm>
            <a:off x="3383280" y="4873752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aplica</a:t>
            </a:r>
            <a:endParaRPr lang="en-US" sz="950" dirty="0"/>
          </a:p>
        </p:txBody>
      </p:sp>
      <p:sp>
        <p:nvSpPr>
          <p:cNvPr id="38" name="Text 31"/>
          <p:cNvSpPr/>
          <p:nvPr/>
        </p:nvSpPr>
        <p:spPr>
          <a:xfrm>
            <a:off x="7498080" y="4873752"/>
            <a:ext cx="3685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no genera ningún beneficio económico futuro.</a:t>
            </a:r>
            <a:endParaRPr lang="en-US" sz="950" dirty="0"/>
          </a:p>
        </p:txBody>
      </p:sp>
      <p:sp>
        <p:nvSpPr>
          <p:cNvPr id="39" name="Shape 32"/>
          <p:cNvSpPr/>
          <p:nvPr/>
        </p:nvSpPr>
        <p:spPr>
          <a:xfrm>
            <a:off x="640080" y="5532120"/>
            <a:ext cx="10908792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Shape 33"/>
          <p:cNvSpPr/>
          <p:nvPr/>
        </p:nvSpPr>
        <p:spPr>
          <a:xfrm>
            <a:off x="822960" y="56692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1" name="Image 5" descr="/tmp/work/deck/icons/shield_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5132" y="5761452"/>
            <a:ext cx="199705" cy="199705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1316736" y="5532120"/>
            <a:ext cx="1929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patente o marca registrada</a:t>
            </a:r>
            <a:endParaRPr lang="en-US" sz="1050" dirty="0"/>
          </a:p>
        </p:txBody>
      </p:sp>
      <p:sp>
        <p:nvSpPr>
          <p:cNvPr id="43" name="Text 35"/>
          <p:cNvSpPr/>
          <p:nvPr/>
        </p:nvSpPr>
        <p:spPr>
          <a:xfrm>
            <a:off x="3383280" y="5532120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Intangible, no financiero</a:t>
            </a:r>
            <a:endParaRPr lang="en-US" sz="950" dirty="0"/>
          </a:p>
        </p:txBody>
      </p:sp>
      <p:sp>
        <p:nvSpPr>
          <p:cNvPr id="44" name="Text 36"/>
          <p:cNvSpPr/>
          <p:nvPr/>
        </p:nvSpPr>
        <p:spPr>
          <a:xfrm>
            <a:off x="7498080" y="5532120"/>
            <a:ext cx="3685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derecho a beneficios futuros, pero no es cobro sobre un tercero.</a:t>
            </a:r>
            <a:endParaRPr lang="en-US" sz="950" dirty="0"/>
          </a:p>
        </p:txBody>
      </p:sp>
      <p:sp>
        <p:nvSpPr>
          <p:cNvPr id="45" name="Shape 37"/>
          <p:cNvSpPr/>
          <p:nvPr/>
        </p:nvSpPr>
        <p:spPr>
          <a:xfrm>
            <a:off x="640080" y="1783080"/>
            <a:ext cx="10908792" cy="4407408"/>
          </a:xfrm>
          <a:prstGeom prst="rect">
            <a:avLst/>
          </a:prstGeom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38"/>
          <p:cNvSpPr/>
          <p:nvPr/>
        </p:nvSpPr>
        <p:spPr>
          <a:xfrm>
            <a:off x="640080" y="6400800"/>
            <a:ext cx="9418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Fabozzi, F. J. y Peterson Drake, P. (2009). Finance, Cap. 4, Wiley.</a:t>
            </a:r>
            <a:endParaRPr lang="en-US" sz="950" dirty="0"/>
          </a:p>
        </p:txBody>
      </p:sp>
      <p:sp>
        <p:nvSpPr>
          <p:cNvPr id="47" name="Text 39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7581754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· ACTIVO FINANCIERO</a:t>
            </a:r>
            <a:endParaRPr lang="en-US" sz="1300" dirty="0"/>
          </a:p>
        </p:txBody>
      </p:sp>
      <p:sp>
        <p:nvSpPr>
          <p:cNvPr id="18" name="TextBox 17"/>
          <p:cNvSpPr txBox="1"/>
          <p:nvPr/>
        </p:nvSpPr>
        <p:spPr>
          <a:xfrm>
            <a:off x="822960" y="975358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350" b="0" i="0">
                <a:solidFill>
                  <a:srgbClr val="1E2761"/>
                </a:solidFill>
                <a:latin typeface="Calibri"/>
              </a:rPr>
              <a:t>Un activo puede ser tangible (vale por sus propiedades físicas) o intangible (vale por un derecho legal sobre beneficios futuros).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1935478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350" b="0" i="0">
                <a:solidFill>
                  <a:srgbClr val="1E2761"/>
                </a:solidFill>
                <a:latin typeface="Calibri"/>
              </a:rPr>
              <a:t>Un activo financiero es un activo intangible cuyo beneficio futuro es un derecho sobre efectivo futuro; si se negocia en mercados organizados se le llama valor.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2895598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350" b="0" i="0">
                <a:solidFill>
                  <a:srgbClr val="1E2761"/>
                </a:solidFill>
                <a:latin typeface="Calibri"/>
              </a:rPr>
              <a:t>Todo activo financiero vincula, como mínimo, a un emisor (se compromete a pagar, unidad deficitaria) y un inversionista (tiene derecho a cobrar, unidad superavitaria).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855718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350" b="0" i="0">
                <a:solidFill>
                  <a:srgbClr val="1E2761"/>
                </a:solidFill>
                <a:latin typeface="Calibri"/>
              </a:rPr>
              <a:t>Los mercados financieros existen para suavizar el consumo, diversificar el riesgo idiosincrático, hacer más eficiente la asignación del capital y transferir el riesgo transferible.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DOCENTE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771632" y="457200"/>
            <a:ext cx="640080" cy="640080"/>
          </a:xfrm>
          <a:prstGeom prst="ellipse">
            <a:avLst/>
          </a:prstGeom>
          <a:solidFill>
            <a:srgbClr val="EEF3F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" name="Image 0" descr="/tmp/work/deck/icons/bookopen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1652" y="61722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Fuentes y referencias recomendadas</a:t>
            </a:r>
            <a:endParaRPr lang="en-US" sz="3200" dirty="0"/>
          </a:p>
        </p:txBody>
      </p:sp>
      <p:sp>
        <p:nvSpPr>
          <p:cNvPr id="36" name="Text 27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7" name="TextBox 36"/>
          <p:cNvSpPr txBox="1"/>
          <p:nvPr/>
        </p:nvSpPr>
        <p:spPr>
          <a:xfrm>
            <a:off x="746757" y="2994660"/>
            <a:ext cx="9443987" cy="512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 dirty="0">
                <a:solidFill>
                  <a:srgbClr val="1E2761"/>
                </a:solidFill>
                <a:latin typeface="Calibri"/>
              </a:rPr>
              <a:t>Linton, O. (2019). Financial Econometrics: Models and Methods. Cambridge University Press.</a:t>
            </a:r>
          </a:p>
          <a:p>
            <a:pPr>
              <a:spcAft>
                <a:spcPts val="400"/>
              </a:spcAft>
            </a:pPr>
            <a:r>
              <a:rPr sz="1100" b="0" i="0" dirty="0">
                <a:solidFill>
                  <a:srgbClr val="5B6482"/>
                </a:solidFill>
                <a:latin typeface="Calibri"/>
              </a:rPr>
              <a:t>Cap. 1 §1.1: </a:t>
            </a:r>
            <a:r>
              <a:rPr sz="1100" b="0" i="0" dirty="0" err="1">
                <a:solidFill>
                  <a:srgbClr val="5B6482"/>
                </a:solidFill>
                <a:latin typeface="Calibri"/>
              </a:rPr>
              <a:t>por</a:t>
            </a:r>
            <a:r>
              <a:rPr sz="1100" b="0" i="0" dirty="0">
                <a:solidFill>
                  <a:srgbClr val="5B6482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5B6482"/>
                </a:solidFill>
                <a:latin typeface="Calibri"/>
              </a:rPr>
              <a:t>qué</a:t>
            </a:r>
            <a:r>
              <a:rPr sz="1100" b="0" i="0" dirty="0">
                <a:solidFill>
                  <a:srgbClr val="5B6482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5B6482"/>
                </a:solidFill>
                <a:latin typeface="Calibri"/>
              </a:rPr>
              <a:t>existen</a:t>
            </a:r>
            <a:r>
              <a:rPr sz="1100" b="0" i="0" dirty="0">
                <a:solidFill>
                  <a:srgbClr val="5B6482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5B6482"/>
                </a:solidFill>
                <a:latin typeface="Calibri"/>
              </a:rPr>
              <a:t>los</a:t>
            </a:r>
            <a:r>
              <a:rPr sz="1100" b="0" i="0" dirty="0">
                <a:solidFill>
                  <a:srgbClr val="5B6482"/>
                </a:solidFill>
                <a:latin typeface="Calibri"/>
              </a:rPr>
              <a:t> mercados </a:t>
            </a:r>
            <a:r>
              <a:rPr sz="1100" b="0" i="0" dirty="0" err="1">
                <a:solidFill>
                  <a:srgbClr val="5B6482"/>
                </a:solidFill>
                <a:latin typeface="Calibri"/>
              </a:rPr>
              <a:t>financieros</a:t>
            </a:r>
            <a:r>
              <a:rPr sz="1100" b="0" i="0" dirty="0">
                <a:solidFill>
                  <a:srgbClr val="5B6482"/>
                </a:solidFill>
                <a:latin typeface="Calibri"/>
              </a:rPr>
              <a:t>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6758" y="2269396"/>
            <a:ext cx="9443987" cy="512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 dirty="0">
                <a:solidFill>
                  <a:srgbClr val="1E2761"/>
                </a:solidFill>
                <a:latin typeface="Calibri"/>
              </a:rPr>
              <a:t>Fabozzi, F. J. y Peterson Drake, P. (2009). Finance. Wiley.</a:t>
            </a:r>
          </a:p>
          <a:p>
            <a:pPr>
              <a:spcAft>
                <a:spcPts val="400"/>
              </a:spcAft>
            </a:pPr>
            <a:r>
              <a:rPr sz="1100" b="0" i="0" dirty="0">
                <a:solidFill>
                  <a:srgbClr val="5B6482"/>
                </a:solidFill>
                <a:latin typeface="Calibri"/>
              </a:rPr>
              <a:t>Cap. 4, "The Financial System": </a:t>
            </a:r>
            <a:r>
              <a:rPr sz="1100" b="0" i="0" dirty="0" err="1">
                <a:solidFill>
                  <a:srgbClr val="5B6482"/>
                </a:solidFill>
                <a:latin typeface="Calibri"/>
              </a:rPr>
              <a:t>qué</a:t>
            </a:r>
            <a:r>
              <a:rPr sz="1100" b="0" i="0" dirty="0">
                <a:solidFill>
                  <a:srgbClr val="5B6482"/>
                </a:solidFill>
                <a:latin typeface="Calibri"/>
              </a:rPr>
              <a:t> es un </a:t>
            </a:r>
            <a:r>
              <a:rPr sz="1100" b="0" i="0" dirty="0" err="1">
                <a:solidFill>
                  <a:srgbClr val="5B6482"/>
                </a:solidFill>
                <a:latin typeface="Calibri"/>
              </a:rPr>
              <a:t>activo</a:t>
            </a:r>
            <a:r>
              <a:rPr sz="1100" b="0" i="0" dirty="0">
                <a:solidFill>
                  <a:srgbClr val="5B6482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5B6482"/>
                </a:solidFill>
                <a:latin typeface="Calibri"/>
              </a:rPr>
              <a:t>financiero</a:t>
            </a:r>
            <a:r>
              <a:rPr sz="1100" b="0" i="0" dirty="0">
                <a:solidFill>
                  <a:srgbClr val="5B6482"/>
                </a:solidFill>
                <a:latin typeface="Calibri"/>
              </a:rPr>
              <a:t> y </a:t>
            </a:r>
            <a:r>
              <a:rPr sz="1100" b="0" i="0" dirty="0" err="1">
                <a:solidFill>
                  <a:srgbClr val="5B6482"/>
                </a:solidFill>
                <a:latin typeface="Calibri"/>
              </a:rPr>
              <a:t>funciones</a:t>
            </a:r>
            <a:r>
              <a:rPr sz="1100" b="0" i="0" dirty="0">
                <a:solidFill>
                  <a:srgbClr val="5B6482"/>
                </a:solidFill>
                <a:latin typeface="Calibri"/>
              </a:rPr>
              <a:t> del mercado.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1335</Words>
  <Application>Microsoft Office PowerPoint</Application>
  <PresentationFormat>Widescreen</PresentationFormat>
  <Paragraphs>144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Luis Lozano</cp:lastModifiedBy>
  <cp:revision>7</cp:revision>
  <dcterms:created xsi:type="dcterms:W3CDTF">2026-08-13T01:37:27Z</dcterms:created>
  <dcterms:modified xsi:type="dcterms:W3CDTF">2026-08-25T19:47:26Z</dcterms:modified>
</cp:coreProperties>
</file>