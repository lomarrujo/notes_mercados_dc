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6-1.png"/><Relationship Id="rId3" Type="http://schemas.openxmlformats.org/officeDocument/2006/relationships/image" Target="../media/image-16-4.png"/><Relationship Id="rId4" Type="http://schemas.openxmlformats.org/officeDocument/2006/relationships/image" Target="../media/image-16-5.png"/><Relationship Id="rId5" Type="http://schemas.openxmlformats.org/officeDocument/2006/relationships/image" Target="../media/image-16-6.png"/><Relationship Id="rId6" Type="http://schemas.openxmlformats.org/officeDocument/2006/relationships/image" Target="../media/image-16-7.png"/><Relationship Id="rId7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7-1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del Sistema Financiero Mexicano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de Economía Monetaria — G. Mántey de Anguiano (UNAM, 2024)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ullsey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entienda 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flujo básico del dinero</a:t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 una economía y cómo está organizado 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que lo vigila.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987552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783080"/>
            <a:ext cx="777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691640" y="2020824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/tmp/work/deck/icons/exchang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535" y="2143719"/>
            <a:ext cx="266273" cy="26627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23160" y="19019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y mercados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2423160" y="2240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financieros, agentes, mercado de dinero y de capitales, y canales de crédito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948672" y="208483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948672" y="20848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5–11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" y="2953512"/>
            <a:ext cx="10908792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77240" y="2953512"/>
            <a:ext cx="777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1691640" y="319125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5" name="Image 1" descr="/tmp/work/deck/icons/sitema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535" y="3314151"/>
            <a:ext cx="266273" cy="26627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423160" y="307238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Sistema Financiero Mexicano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2423160" y="341071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Reguladores, supervisores y organismos de apoyo y protección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48672" y="325526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9948672" y="325526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12–13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" y="4123944"/>
            <a:ext cx="10908792" cy="987552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777240" y="4123944"/>
            <a:ext cx="777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3000" dirty="0"/>
          </a:p>
        </p:txBody>
      </p:sp>
      <p:sp>
        <p:nvSpPr>
          <p:cNvPr id="22" name="Shape 18"/>
          <p:cNvSpPr/>
          <p:nvPr/>
        </p:nvSpPr>
        <p:spPr>
          <a:xfrm>
            <a:off x="1691640" y="43616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2" descr="/tmp/work/deck/icons/use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535" y="4484583"/>
            <a:ext cx="266273" cy="26627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23160" y="4242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práctico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2423160" y="458114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institucional y análisis de casos reales aplicando los conceptos vistos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9948672" y="4425696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9948672" y="442569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15–16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40080" y="5294376"/>
            <a:ext cx="10908792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777240" y="5294376"/>
            <a:ext cx="777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1691640" y="553212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1" name="Image 3" descr="/tmp/work/deck/icons/bookope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4535" y="5655015"/>
            <a:ext cx="266273" cy="266273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2423160" y="54132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y referencias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2423160" y="575157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 del curso y portales oficiales de consulta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9948672" y="5596128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9948672" y="55961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17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Y MERCADOS · 8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coins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activo financiero?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hablar de mercados, hay que definir qué es lo que en ellos se intercambia.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932688" y="22402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9" name="Image 1" descr="/tmp/work/deck/icons/landmar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751" y="237634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645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CON VALOR ECONÓMICO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932688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recurso del que se espera obtener beneficios económicos futuros.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932688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143000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Tangible: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valor depende de sus propiedades físicas (inmuebles, maquinaria, equipo).</a:t>
            </a:r>
            <a:endParaRPr lang="en-US" sz="1030" dirty="0"/>
          </a:p>
        </p:txBody>
      </p:sp>
      <p:sp>
        <p:nvSpPr>
          <p:cNvPr id="15" name="Shape 11"/>
          <p:cNvSpPr/>
          <p:nvPr/>
        </p:nvSpPr>
        <p:spPr>
          <a:xfrm>
            <a:off x="932688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143000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derecho legal sobre beneficios futuros, sin relación con una forma física.</a:t>
            </a:r>
            <a:endParaRPr lang="en-US" sz="1030" dirty="0"/>
          </a:p>
        </p:txBody>
      </p:sp>
      <p:sp>
        <p:nvSpPr>
          <p:cNvPr id="17" name="Shape 13"/>
          <p:cNvSpPr/>
          <p:nvPr/>
        </p:nvSpPr>
        <p:spPr>
          <a:xfrm>
            <a:off x="6611112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6903720" y="224028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9" name="Image 2" descr="/tmp/work/deck/icons/exchang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783" y="237634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16952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 financiero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7616952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· INSTRUMENTO FINANCIERO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903720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cuyo beneficio futuro es un derecho sobre efectivo futuro. Si se negocia en mercados organizados, se le llama valor (security).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6903720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7114032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compromete a realizar los pagos futuros.</a:t>
            </a:r>
            <a:endParaRPr lang="en-US" sz="1030" dirty="0"/>
          </a:p>
        </p:txBody>
      </p:sp>
      <p:sp>
        <p:nvSpPr>
          <p:cNvPr id="25" name="Shape 20"/>
          <p:cNvSpPr/>
          <p:nvPr/>
        </p:nvSpPr>
        <p:spPr>
          <a:xfrm>
            <a:off x="6903720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7114032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posee el instrumento y tiene derecho a recibir esos pagos.</a:t>
            </a:r>
            <a:endParaRPr lang="en-US" sz="1030" dirty="0"/>
          </a:p>
        </p:txBody>
      </p:sp>
      <p:sp>
        <p:nvSpPr>
          <p:cNvPr id="27" name="Shape 22"/>
          <p:cNvSpPr/>
          <p:nvPr/>
        </p:nvSpPr>
        <p:spPr>
          <a:xfrm>
            <a:off x="640080" y="5212080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777240" y="531266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9" name="Image 3" descr="/tmp/work/deck/icons/balanc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33" y="5396057"/>
            <a:ext cx="180685" cy="18068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5212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instrumento financiero involucra, como mínimo, dos partes: el emisor (unidad deficitaria) y el inversionista (unidad superavitaria).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Fabozzi, F. J. y Peterson Drake, P. (2009). Finance: Capital Markets, Financial Management, and Investment Management, Cap. 4, Wiley.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Y MERCADOS · 12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exchang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financiera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canaliza recursos de quienes ahorran hacia quienes los necesitan.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05840" y="228600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9" name="Image 1" descr="/tmp/work/deck/icons/pigg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70" y="2435230"/>
            <a:ext cx="323332" cy="3233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superavitarias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0584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Ahorradores e inversionistas: agentes que generan excedentes de recursos y buscan colocarlos con seguridad y liquidez.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9204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61772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(dinero)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892040" y="344728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1772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cambio de un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45236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818120" y="2286000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8" name="Image 2" descr="/tmp/work/deck/icons/handhold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350" y="2435230"/>
            <a:ext cx="323332" cy="3233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18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deficitarias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81812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gobierno y personas que necesitan financiamiento para operar, invertir o consumir.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tiene por objeto canalizar recursos de las unidades superavitarias de la economía a las unidades deficitarias.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Mántey de Anguiano (2024), Lección 2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Y MERCADOS · 11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caminos para el crédito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intermediación bancaria y el mercado bursátil canalizan el ahorro de formas distintas.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584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/tmp/work/deck/icons/university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070" y="261811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bancaria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INDIRECTO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412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3444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depósitos y emite deudas propias (indirectas): pagarés, certificados de depósito.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2412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3444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asume el riesgo y presta directamente a empresas, personas y gobierno.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2412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3444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persona ahorra en el banco y este otorga un crédito a una empresa.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62940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1" descr="/tmp/work/deck/icons/chartlin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630" y="2618110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0664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bursátil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740664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DIRECTO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64768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685800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y gobierno emiten deudas propias (directas): bonos, papel comercial, acciones.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64768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85800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asume el riesgo directamente frente al emisor del título.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4768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68580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empresa coloca certificados de deuda en la bolsa de valores.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2, UNAM.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ookopen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41248" y="1847088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8" name="Image 1" descr="/tmp/work/deck/icons/bookope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2" y="1978762"/>
            <a:ext cx="285293" cy="28529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Mántey de Anguiano, G. (2024). Lecciones de Economía Monetaria. UNAM.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55448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2: estructura y funcionamiento del mercado financiero.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199632" y="169164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0" y="1847088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3" name="Image 2" descr="/tmp/work/deck/icons/bookope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1978762"/>
            <a:ext cx="285293" cy="28529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14032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Fabozzi, F. J. y Peterson Drake, P. (2009). Finance. Wiley.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7114032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Cap. 4, "The Financial System": qué es un activo financiero y funciones del mercado.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40080" y="288036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914400" y="3172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3" descr="/tmp/work/deck/icons/coin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3293669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0632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Banxico Educa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554480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Infografías y explicaciones sobre "¿Qué es el Sistema Financiero?", ideales para la clase teórica.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199632" y="288036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6473952" y="3172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4" descr="/tmp/work/deck/icons/landmar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3" y="3293669"/>
            <a:ext cx="261518" cy="26151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30632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del Sistema Financiero Mexicano (SHCP)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114032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oficial de la estructura de autoridades e intermediarios regulados.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40080" y="4462272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914400" y="4754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8" name="Image 5" descr="/tmp/work/deck/icons/chartline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1" y="4875581"/>
            <a:ext cx="261518" cy="26151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554480" y="464515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CNBV — Sectores Supervisados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1554480" y="508406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gráficos descargables, útiles para la sesión práctica de mapeo.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199632" y="4462272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2" name="Shape 24"/>
          <p:cNvSpPr/>
          <p:nvPr/>
        </p:nvSpPr>
        <p:spPr>
          <a:xfrm>
            <a:off x="6473952" y="4754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3" name="Image 6" descr="/tmp/work/deck/icons/balance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4653" y="4875581"/>
            <a:ext cx="261518" cy="26151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14032" y="464515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Condusef — Educación Financiera</a:t>
            </a:r>
            <a:endParaRPr lang="en-US" sz="1250" dirty="0"/>
          </a:p>
        </p:txBody>
      </p:sp>
      <p:sp>
        <p:nvSpPr>
          <p:cNvPr id="35" name="Text 26"/>
          <p:cNvSpPr/>
          <p:nvPr/>
        </p:nvSpPr>
        <p:spPr>
          <a:xfrm>
            <a:off x="7114032" y="508406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gráfico y casos reales de protección al usuario financiero.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UNIDAD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6" name="Image 0" descr="/tmp/work/deck/icons/checkcircl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050085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202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activo financiero es un derecho sobre flujos futuros que vincula a un emisor (unidad deficitaria) con un inversionista (unidad superavitaria); es deuda directa, deuda indirecta o participación de capital.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2960" y="2953512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9" name="Image 1" descr="/tmp/work/deck/icons/check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5" y="3037637"/>
            <a:ext cx="252374" cy="2523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907792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de dinero (corto plazo, liquidez) y el mercado de capitales (largo plazo, inversión productiva) canalizan el ahorro; los derivados son un tercer segmento, definido por el instrumento y no por el plazo.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22960" y="3941064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12" name="Image 2" descr="/tmp/work/deck/icons/check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4025189"/>
            <a:ext cx="252374" cy="2523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895344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Financiero Mexicano combina jerarquía —SHCP y sus supervisores sectorizados (CNBV, CNSF, Consar)— con autonomía coordinada: Banxico, vía el CESF.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15" name="Image 3" descr="/tmp/work/deck/icons/checkcircle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5" y="5012741"/>
            <a:ext cx="252374" cy="2523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4882896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y Condusef cierran el círculo —protegen el ahorro bancario y defienden al usuario financiero— y se relacionan funcionalmente con los supervisores (p. ej., IPAB garantiza los depósitos que regula la CNBV).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22960" y="61722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profundizaremos en la contabilidad del sistema bancario y la creación de dinero.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 Financiero e Intermediación Financiera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Linton (2019), Fabozzi y Peterson Drake (2009), Mántey de Anguiano (2024)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ullsey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distinga un activo financiero de otros tipos de activo, y al emisor del inversionista en una transacción dada.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¿Por qué existen los mercados financieros?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¿Qué es un activo financiero?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Intermediación financiera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48386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Dos caminos para el crédito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48386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05079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El ciclo de captación-colocación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40507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61772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El ciclo del crédito directo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6177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18464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Fuentes y referencias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518464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6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coin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existen los mercados financieros?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propósito de un mercado financiero es canalizar recursos de quienes ahorran hacia quienes los necesitan.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Linton, O. (2019). Financial Econometrics: Models and Methods, Cap. 1 "Introduction and Background", §1.1, p. 1, Cambridge University Press.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Box 32"/>
          <p:cNvSpPr txBox="1"/>
          <p:nvPr/>
        </p:nvSpPr>
        <p:spPr>
          <a:xfrm>
            <a:off x="640080" y="2011680"/>
            <a:ext cx="1090879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Suavizar el consumo: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las personas prefieren mantener su consumo relativamente estable en el tiempo y ante eventos inesperados.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Diversificar el riesgo individual: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juntar los ahorros de muchas personas permite financiar proyectos grandes que nadie podría costear solo.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Eficiencia y crecimiento económico: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hay ganancia para la economía cuando quienes tienen proyectos productivos piden prestado a quienes ahorran.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Transferencia de riesgo: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los mercados permiten que quien no quiere un riesgo se lo transfiera a alguien dispuesto a tomarlo.</a:t>
            </a:r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activos financieros no son la riqueza real de una economía: son títulos sobre el ingreso que generan los activos reales.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Linton (2019), Cap. 1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8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coin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activo financiero?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hablar de mercados, hay que definir qué es lo que en ellos se intercambia.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932688" y="22402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9" name="Image 1" descr="/tmp/work/deck/icons/landmar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51" y="237634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645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CON VALOR ECONÓMICO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932688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recurso del que se espera obtener beneficios económicos futuros.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932688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143000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Tangible: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valor depende de sus propiedades físicas (inmuebles, maquinaria, equipo).</a:t>
            </a:r>
            <a:endParaRPr lang="en-US" sz="1030" dirty="0"/>
          </a:p>
        </p:txBody>
      </p:sp>
      <p:sp>
        <p:nvSpPr>
          <p:cNvPr id="15" name="Shape 11"/>
          <p:cNvSpPr/>
          <p:nvPr/>
        </p:nvSpPr>
        <p:spPr>
          <a:xfrm>
            <a:off x="932688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143000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derecho legal sobre beneficios futuros, sin relación con una forma física.</a:t>
            </a:r>
            <a:endParaRPr lang="en-US" sz="1030" dirty="0"/>
          </a:p>
        </p:txBody>
      </p:sp>
      <p:sp>
        <p:nvSpPr>
          <p:cNvPr id="17" name="Shape 13"/>
          <p:cNvSpPr/>
          <p:nvPr/>
        </p:nvSpPr>
        <p:spPr>
          <a:xfrm>
            <a:off x="6611112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6903720" y="224028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9" name="Image 2" descr="/tmp/work/deck/icons/exchang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9783" y="237634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16952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 financiero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7616952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· INSTRUMENTO FINANCIERO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903720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cuyo beneficio futuro es un derecho sobre efectivo futuro. Si se negocia en mercados organizados, se le llama valor (security).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6903720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7114032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compromete a realizar los pagos futuros.</a:t>
            </a:r>
            <a:endParaRPr lang="en-US" sz="1030" dirty="0"/>
          </a:p>
        </p:txBody>
      </p:sp>
      <p:sp>
        <p:nvSpPr>
          <p:cNvPr id="25" name="Shape 20"/>
          <p:cNvSpPr/>
          <p:nvPr/>
        </p:nvSpPr>
        <p:spPr>
          <a:xfrm>
            <a:off x="6903720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7114032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Inversionista: </a:t>
            </a:r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posee el instrumento y tiene derecho a recibir esos pagos.</a:t>
            </a:r>
            <a:endParaRPr lang="en-US" sz="1030" dirty="0"/>
          </a:p>
        </p:txBody>
      </p:sp>
      <p:sp>
        <p:nvSpPr>
          <p:cNvPr id="27" name="Shape 22"/>
          <p:cNvSpPr/>
          <p:nvPr/>
        </p:nvSpPr>
        <p:spPr>
          <a:xfrm>
            <a:off x="640080" y="5212080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777240" y="531266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9" name="Image 3" descr="/tmp/work/deck/icons/balanc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633" y="5396057"/>
            <a:ext cx="180685" cy="18068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5212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instrumento financiero involucra, como mínimo, dos partes: el emisor (unidad deficitaria) y el inversionista (unidad superavitaria).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Fabozzi, F. J. y Peterson Drake, P. (2009). Finance: Capital Markets, Financial Management, and Investment Management, Cap. 4, Wiley.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12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exchang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financiera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canaliza recursos de quienes ahorran hacia quienes los necesitan.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05840" y="228600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9" name="Image 1" descr="/tmp/work/deck/icons/pigg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070" y="2435230"/>
            <a:ext cx="323332" cy="3233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superavitarias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0584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Ahorradores e inversionistas: agentes que generan excedentes de recursos y buscan colocarlos con seguridad y liquidez.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9204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61772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(dinero)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892040" y="344728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1772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cambio de un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45236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818120" y="2286000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8" name="Image 2" descr="/tmp/work/deck/icons/handholding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7350" y="2435230"/>
            <a:ext cx="323332" cy="3233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18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deficitarias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81812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gobierno y personas que necesitan financiamiento para operar, invertir o consumir.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tiene por objeto canalizar recursos de las unidades superavitarias de la economía a las unidades deficitarias.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Mántey de Anguiano (2024), Lección 2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11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caminos para el crédito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intermediación bancaria y el mercado bursátil canalizan el ahorro de formas distintas.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584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/tmp/work/deck/icons/university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70" y="261811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bancaria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INDIRECTO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412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3444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depósitos y emite deudas propias (indirectas): pagarés, certificados de depósito.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2412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3444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asume el riesgo y presta directamente a empresas, personas y gobierno.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2412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3444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persona ahorra en el banco y este otorga un crédito a una empresa.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62940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1" descr="/tmp/work/deck/icons/chartlin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630" y="2618110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0664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bursátil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740664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DIRECTO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64768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685800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y gobierno emiten deudas propias (directas): bonos, papel comercial, acciones.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64768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85800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asume el riesgo directamente frente al emisor del título.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4768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68580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empresa coloca certificados de deuda en la bolsa de valores.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2, UNAM.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10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captación-colocación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es como el banco conecta al ahorrador con el deudor, paso a paso.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recursos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recursos del ahorrador —depósitos, pagarés, certificados— y se compromete a devolverlos con un rendimiento: la tasa pasiva.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del crédito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presta esos recursos a empresas, personas o gobierno cobrando una tasa activa, mayor a la pasiva, y asume el riesgo de crédito.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del crédito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deudor devuelve al banco el capital más los intereses pactados conforme transcurre el plazo del crédito.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822960" y="54543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" y="54543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600200" y="537667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ciclo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600200" y="567842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paga al ahorrador su depósito con rendimiento; la diferencia entre tasa activa y pasiva es su margen financiero (spread).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margen entre tasa activa y pasiva (spread) es la utilidad del banco por intermediar. 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7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crédito directo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directo también tiene su propio ciclo, en espejo del de captación-colocación.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 o el gobierno coloca el instrumento directamente con inversionistas, a cambio de sus recursos.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que lo compró puede revenderlo a otro inversionista antes de su vencimiento, en el mercado secundario.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Liquidación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vencimiento, el emisor paga directamente al tenedor final registrado en ese momento.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ookope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0080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Linton, O. (2019). Financial Econometrics: Models and Methods. Cambridge University Press.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Cap. 1 §1.1: por qué existen los mercados financieros.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Fabozzi, F. J. y Peterson Drake, P. (2009). Finance. Wiley.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Cap. 4, "The Financial System": qué es un activo financiero y funciones del mercado.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288036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Mántey de Anguiano, G. (2024). Lecciones de Economía Monetaria. UNAM.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Lección 2: intermediación financiera y los ciclos de crédito indirecto y directo.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ACTIVO FINANCIERO E INTERMEDIACIÓN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187451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Un activo financiero es un derecho sobre flujos futuros que vincula a un emisor (unidad deficitaria) con un inversionista (unidad superavitaria).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3463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indirecto (intermediación bancaria) sigue el ciclo captación → colocación → recuperación → cierre; el banco asume el riesgo y su utilidad es el margen financiero (spread).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5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directo (mercado bursátil) sigue el ciclo emisión → negociación → liquidación; aquí el inversionista asume el riesgo directamente frente al emisor.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Ambos caminos resuelven el mismo problema — conectar a quien ahorra con quien necesita financiamiento — pero difieren en quién asume el riesgo de crédito.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2026-08-13T01:37:27Z</dcterms:created>
  <dcterms:modified xsi:type="dcterms:W3CDTF">2026-08-13T01:37:27Z</dcterms:modified>
</cp:coreProperties>
</file>