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0000" y="-1400000"/>
            <a:ext cx="4200000" cy="420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00000" y="4300000"/>
            <a:ext cx="3200000" cy="32000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500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MERCADOS DE DEUDA Y CAPITALES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0000"/>
            <a:ext cx="9200000" cy="6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E2761"/>
                </a:solidFill>
                <a:latin typeface="Cambria"/>
              </a:rPr>
              <a:t>Activo Financiero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90000"/>
            <a:ext cx="9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482"/>
                </a:solidFill>
                <a:latin typeface="Calibri"/>
              </a:rPr>
              <a:t>Mercados de Deuda y Capitales, Licenciatura en Comercio y Finanzas Internacionales, Universidad Autónoma de Zacatecas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Objetivo de la unidad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0881360" cy="1262000"/>
          </a:xfrm>
          <a:prstGeom prst="roundRect">
            <a:avLst>
              <a:gd name="adj" fmla="val 4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43200"/>
            <a:ext cx="10058400" cy="8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27314D"/>
                </a:solidFill>
                <a:latin typeface="Cambria"/>
              </a:rPr>
              <a:t>Que el estudiante distinga un activo financiero de otros tipos de activo, y al emisor del inversionista en una transacción dada.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Tabla de 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00000"/>
            <a:ext cx="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mbria"/>
              </a:rPr>
              <a:t>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0080" y="1900000"/>
            <a:ext cx="8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¿Por qué existen los mercados financieros?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0080" y="2230000"/>
            <a:ext cx="8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482"/>
                </a:solidFill>
                <a:latin typeface="Calibri"/>
              </a:rPr>
              <a:t>Suavizar el consumo, diversificar riesgo [idiosincrático], eficiencia del capital, transferir riesgo [transferible]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51920" y="190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82"/>
                </a:solidFill>
                <a:latin typeface="Calibri"/>
              </a:rPr>
              <a:t>PÁG.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20000"/>
            <a:ext cx="7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mbria"/>
              </a:rPr>
              <a:t>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0080" y="2520000"/>
            <a:ext cx="8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mbria"/>
              </a:rPr>
              <a:t>¿Qué es un activo financiero?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0080" y="2850000"/>
            <a:ext cx="8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B6482"/>
                </a:solidFill>
                <a:latin typeface="Calibri"/>
              </a:rPr>
              <a:t>Activo tangible/intangible, activo financiero, emisor, inversionista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51920" y="2520000"/>
            <a:ext cx="12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482"/>
                </a:solidFill>
                <a:latin typeface="Calibri"/>
              </a:rPr>
              <a:t>PÁG.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¿Por qué existen los mercados financieros?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53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5B6482"/>
                </a:solidFill>
                <a:latin typeface="Calibri"/>
              </a:rPr>
              <a:t>El propósito de un mercado financiero es canalizar recursos de quienes ahorran hacia quienes los necesitan para invertir o consumir.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03744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80" y="2203744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Suavizar el consumo: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las personas prefieren mantener su consumo relativamente estable en el tiempo (ahorrar en los años buenos, usar esos ahorros en los años malos) y ante eventos inesperados, en vez de que su consumo dependa directamente de cuánto ganan en cada momento.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656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80" y="2697656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Diversificar el riesgo [idiosincrático] individual: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juntar los ahorros de muchas personas permite financiar proyectos productivos grandes y de largo plazo que ningún ahorrador podría costear (ni cuyo riesgo [idiosincrático] podría asumir) por sí solo.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91568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80" y="3191568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Eficiencia y crecimiento económico: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hay ganancia para toda la economía cuando quienes tienen proyectos productivos (típicamente empresas y gobierno) piden prestado a quienes ahorran pero no tienen dónde invertir directamente (típicamente los hogares).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480"/>
            <a:ext cx="26000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80" y="3685480"/>
            <a:ext cx="10651840" cy="493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Transferencia de riesgo [transferible]: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los mercados también permiten que quien no quiere asumir un riesgo [transferible] se cubra o se asegure, transfiriéndoselo a alguien dispuesto a tomarlo a cambio de una prima; por eso no son necesariamente un juego de suma cero.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69392"/>
            <a:ext cx="10911840" cy="772656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269392"/>
            <a:ext cx="45720" cy="77265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80" y="4409392"/>
            <a:ext cx="10551840" cy="45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Los activos financieros no son la riqueza real de una economía: son títulos sobre el ingreso que generan los activos reales (tierra, maquinaria, tecnología, conocimiento). Por eso qué tan bien o mal asigna el capital el sistema financiero, no solo cuánto se ahorra, contribuye al crecimiento de un país.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281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5B6482"/>
                </a:solidFill>
                <a:latin typeface="Calibri"/>
              </a:rPr>
              <a:t>Activo</a:t>
            </a:r>
            <a:r>
              <a:rPr sz="1550" b="0" i="0">
                <a:solidFill>
                  <a:srgbClr val="5B6482"/>
                </a:solidFill>
                <a:latin typeface="Calibri"/>
              </a:rPr>
              <a:t>, recurso con valor económico: cualquier recurso del que se espera obtener beneficios económicos futuros.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51776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80" y="1951776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Tangible: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su valor depende de sus propiedades físicas (inmuebles, maquinaria, equipo).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26232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80" y="2226232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Intangible: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es un derecho legal sobre beneficios futuros, sin relación con una forma física.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90688"/>
            <a:ext cx="10911840" cy="485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7314D"/>
                </a:solidFill>
                <a:latin typeface="Calibri"/>
              </a:rPr>
              <a:t>Activo financiero</a:t>
            </a:r>
            <a:r>
              <a:rPr sz="1400" b="0" i="0">
                <a:solidFill>
                  <a:srgbClr val="27314D"/>
                </a:solidFill>
                <a:latin typeface="Calibri"/>
              </a:rPr>
              <a:t>: activo intangible cuyo beneficio futuro es un derecho sobre efectivo futuro. Si se negocia en mercados organizados, se le llama </a:t>
            </a:r>
            <a:r>
              <a:rPr sz="1400" b="1" i="0">
                <a:solidFill>
                  <a:srgbClr val="27314D"/>
                </a:solidFill>
                <a:latin typeface="Calibri"/>
              </a:rPr>
              <a:t>valor</a:t>
            </a:r>
            <a:r>
              <a:rPr sz="1400" b="0" i="0">
                <a:solidFill>
                  <a:srgbClr val="27314D"/>
                </a:solidFill>
                <a:latin typeface="Calibri"/>
              </a:rPr>
              <a:t> (</a:t>
            </a:r>
            <a:r>
              <a:rPr sz="1400" b="0" i="1">
                <a:solidFill>
                  <a:srgbClr val="27314D"/>
                </a:solidFill>
                <a:latin typeface="Calibri"/>
              </a:rPr>
              <a:t>security</a:t>
            </a:r>
            <a:r>
              <a:rPr sz="1400" b="0" i="0">
                <a:solidFill>
                  <a:srgbClr val="27314D"/>
                </a:solidFill>
                <a:latin typeface="Calibri"/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65856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80" y="3165856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Emisor: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se compromete a realizar los pagos futuros.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40312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80" y="3440312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7314D"/>
                </a:solidFill>
                <a:latin typeface="Calibri"/>
              </a:rPr>
              <a:t>Inversionista: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 posee el instrumento y tiene derecho a recibir esos pagos.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04768"/>
            <a:ext cx="10911840" cy="561328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04768"/>
            <a:ext cx="45720" cy="5613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80" y="3944768"/>
            <a:ext cx="10551840" cy="24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Todo instrumento financiero involucra, como mínimo, dos partes: el emisor (unidad deficitaria) y el inversionista (unidad superavitaria).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257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7314D"/>
                </a:solidFill>
                <a:latin typeface="Calibri"/>
              </a:rPr>
              <a:t>Ejemplos de activos financieros.</a:t>
            </a:r>
            <a:r>
              <a:rPr sz="1400" b="0" i="0">
                <a:solidFill>
                  <a:srgbClr val="27314D"/>
                </a:solidFill>
                <a:latin typeface="Calibri"/>
              </a:rPr>
              <a:t> En cada uno, el emisor es quien promete el pago futuro y el inversionista es quien lo compra esperando recibirlo: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39808"/>
          <a:ext cx="10911840" cy="43477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16202"/>
                <a:gridCol w="1745034"/>
                <a:gridCol w="978561"/>
                <a:gridCol w="5772043"/>
              </a:tblGrid>
              <a:tr h="3191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Activo financiero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Emisor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Inversionista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¿Cómo llega el rendimiento?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CETE (Certificado de la Tesorería)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Gobierno federal (SHCP)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A descuento: se compra por debajo de su valor nominal y se cobra el nominal completo al vencimiento; no paga cupones.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Bono gubernamental (Bono M, UDIBONO)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Gobierno federal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Cupones periódicos (interés) durante la vida del bono, más el valor nominal al vencimiento.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Bono corporativo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La empresa que lo coloca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Igual que el bono gubernamental: cupones periódicos más el principal al vencimiento.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Papel comercial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La empresa que lo emite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A descuento, igual que el CETE: la ganancia es la diferencia entre precio de compra y valor nominal, sin cupones.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Certificado bursátil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Empresa o gobierno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Normalmente cupones periódicos más el principal al vencimiento, según se pacte en la emisión.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Acción común o preferente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La empresa que cotiza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accionista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Dividendos (si la empresa reparte utilidades) más la plusvalía si se vende a un precio mayor al de compra.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FIBRA (certificado del fideicomiso)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fideicomiso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Dueño del certificado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Distribuciones periódicas obligatorias (renta de los inmuebles) más la plusvalía del certificado.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CKD (Certificado de Capital de Desarrollo)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fideicomiso que agrupa los proyectos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Dueño del certificado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Distribuciones cuando los proyectos generan flujo o se venden, más la plusvalía del certificado; sin monto ni fecha garantizados.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39808"/>
          <a:ext cx="10911840" cy="264424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7050"/>
                <a:gridCol w="1752869"/>
                <a:gridCol w="978910"/>
                <a:gridCol w="5753011"/>
              </a:tblGrid>
              <a:tr h="31916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Activo financiero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Emisor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Inversionista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¿Cómo llega el rendimiento?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CERPI (Certificado de Proyectos de Inversión)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fideicomiso que agrupa los proyectos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Dueño del certificado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Igual que el CKD: distribuciones ligadas al desempeño de los proyectos (frecuentemente en el extranjero), sin monto garantizado.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Certificado bursátil a tasa variable (indexado a TIIE)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Empresa o gobierno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Comprador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Cupones periódicos, pero el monto cambia cada periodo según la tasa de referencia (p. ej. TIIE) vigente en ese momento.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31078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Pagaré entre particulares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Quien firma el pagaré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Prestamista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Pago único al vencimiento: el capital prestado más el interés pactado.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Cuenta de ahorro / depósito a plazo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banco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ahorrador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Interés que el banco acredita sobre el saldo, de forma periódica o al final del plazo.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035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Crédito hipotecario (visto desde el banco)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Quien pide el préstamo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El banco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7314D"/>
                          </a:solidFill>
                          <a:latin typeface="Calibri"/>
                        </a:rPr>
                        <a:t>Mensualidades: cada pago incluye una parte de capital y una de interés.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10911840" cy="257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7314D"/>
                </a:solidFill>
                <a:latin typeface="Calibri"/>
              </a:rPr>
              <a:t>Lo que NO es un activo financiero</a:t>
            </a:r>
            <a:r>
              <a:rPr sz="1400" b="0" i="0">
                <a:solidFill>
                  <a:srgbClr val="27314D"/>
                </a:solidFill>
                <a:latin typeface="Calibri"/>
              </a:rPr>
              <a:t>, aunque tenga valor económico: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87392"/>
          <a:ext cx="10911840" cy="27203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33262"/>
                <a:gridCol w="1694385"/>
                <a:gridCol w="7184193"/>
              </a:tblGrid>
              <a:tr h="335932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Tipo de activo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es un activo financiero</a:t>
                      </a:r>
                    </a:p>
                  </a:txBody>
                  <a:tcPr marL="54864" marR="54864" marT="27432" marB="27432" anchor="ctr">
                    <a:solidFill>
                      <a:srgbClr val="1E2761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La casa donde vives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Tangible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Su valor depende de sus propiedades físicas, no de un derecho contractual de cobro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Un coche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Tangible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Es un bien de uso; nadie te debe un pago futuro por tenerlo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Maquinaria de una fábrica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Tangible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Bien productivo, no un derecho financiero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755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Oro físico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Tangible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Su valor es por sus propiedades físicas, aunque se negocie en mercados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Un boleto de avión ya usado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No aplica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Ya no genera ningún beneficio económico futuro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71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Una patente o marca registrada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Intangible, no financiero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7314D"/>
                          </a:solidFill>
                          <a:latin typeface="Calibri"/>
                        </a:rPr>
                        <a:t>Da derecho a beneficios futuros, pero no es un derecho de cobro sobre un tercero; es propiedad intelectual</a:t>
                      </a:r>
                    </a:p>
                  </a:txBody>
                  <a:tcPr marL="54864" marR="54864" marT="27432" marB="27432" anchor="ctr">
                    <a:solidFill>
                      <a:srgbClr val="F2F4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¿Qué es un activo financiero?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9808"/>
            <a:ext cx="10911840" cy="1687968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39808"/>
            <a:ext cx="45720" cy="168796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80" y="1679808"/>
            <a:ext cx="10551840" cy="663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Los instrumentos de deuda (CETES, bonos, papel comercial, certificados bursátiles) y los de capital (acciones, FIBRAS) se estudian a fondo en las unidades 2 y 3. Aquí solo importa reconocer que </a:t>
            </a:r>
            <a:r>
              <a:rPr sz="1300" b="1" i="0">
                <a:solidFill>
                  <a:srgbClr val="1E2761"/>
                </a:solidFill>
                <a:latin typeface="Calibri"/>
              </a:rPr>
              <a:t>todos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 son activos financieros: un derecho intangible sobre efectivo futuro, con un emisor y un inversionista identificables.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80" y="2383792"/>
            <a:ext cx="10551840" cy="663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La lista de ejemplos no es cerrada: la innovación financiera crea instrumentos nuevos todo el tiempo (fintech, criptoactivos, títulos tokenizados). La prueba para clasificarlos no cambia: si es un derecho intangible sobre efectivo futuro con un emisor y un inversionista identificables, es un activo financiero, sin importar qué tan nuevo sea.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Cierre · Activo Financiero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2980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Un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activo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, en el sentido amplio, puede ser tangible (vale por sus propiedades físicas) o intangible (vale por un derecho legal sobre beneficios futuros).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3844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Un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activo financiero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 es un activo intangible cuyo beneficio futuro es un derecho sobre efectivo futuro; si se negocia en mercados organizados se le llama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valor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708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Todo activo financiero vincula, como mínimo, a un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emisor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 (se compromete a pagar, unidad deficitaria) y un </a:t>
            </a:r>
            <a:r>
              <a:rPr sz="1600" b="1" i="0">
                <a:solidFill>
                  <a:srgbClr val="1E2761"/>
                </a:solidFill>
                <a:latin typeface="Calibri"/>
              </a:rPr>
              <a:t>inversionista</a:t>
            </a:r>
            <a:r>
              <a:rPr sz="1600" b="0" i="0">
                <a:solidFill>
                  <a:srgbClr val="1E2761"/>
                </a:solidFill>
                <a:latin typeface="Calibri"/>
              </a:rPr>
              <a:t> (tiene derecho a cobrar, unidad superavitaria).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55728"/>
            <a:ext cx="10332720" cy="60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E2761"/>
                </a:solidFill>
                <a:latin typeface="Calibri"/>
              </a:rPr>
              <a:t>Los mercados financieros existen para suavizar el consumo, diversificar el riesgo idiosincrático, hacer más eficiente la asignación del capital y transferir el riesgo transferible entre quienes no lo quieren asumir y quienes sí.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C9A227"/>
                </a:solidFill>
                <a:latin typeface="Calibri"/>
              </a:rPr>
              <a:t>PREPARACIÓN DOCENTE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1184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Fuentes y referencias recomendadas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328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A6ADC7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9808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80" y="1539808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Linton, O. (2019). </a:t>
            </a:r>
            <a:r>
              <a:rPr sz="1350" b="0" i="1">
                <a:solidFill>
                  <a:srgbClr val="27314D"/>
                </a:solidFill>
                <a:latin typeface="Calibri"/>
              </a:rPr>
              <a:t>Financial Econometrics: Models and Methods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. Cambridge University Press. Cap. 1 §1.1: por qué existen los mercados financieros.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14264"/>
            <a:ext cx="26000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C9A227"/>
                </a:solidFill>
                <a:latin typeface="Calibr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80" y="1814264"/>
            <a:ext cx="10651840" cy="274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27314D"/>
                </a:solidFill>
                <a:latin typeface="Calibri"/>
              </a:rPr>
              <a:t>Fabozzi, F. J. y Peterson Drake, P. (2009). </a:t>
            </a:r>
            <a:r>
              <a:rPr sz="1350" b="0" i="1">
                <a:solidFill>
                  <a:srgbClr val="27314D"/>
                </a:solidFill>
                <a:latin typeface="Calibri"/>
              </a:rPr>
              <a:t>Finance</a:t>
            </a:r>
            <a:r>
              <a:rPr sz="1350" b="0" i="0">
                <a:solidFill>
                  <a:srgbClr val="27314D"/>
                </a:solidFill>
                <a:latin typeface="Calibri"/>
              </a:rPr>
              <a:t>. Wiley. Cap. 4, "The Financial System": qué es un activo financiero y funciones del mercado.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