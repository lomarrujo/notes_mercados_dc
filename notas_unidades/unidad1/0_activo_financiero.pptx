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74" r:id="rId2"/>
    <p:sldId id="275" r:id="rId3"/>
    <p:sldId id="276" r:id="rId4"/>
    <p:sldId id="278" r:id="rId5"/>
    <p:sldId id="277" r:id="rId6"/>
    <p:sldId id="279" r:id="rId7"/>
    <p:sldId id="280" r:id="rId8"/>
    <p:sldId id="281" r:id="rId9"/>
    <p:sldId id="282" r:id="rId10"/>
    <p:sldId id="284" r:id="rId11"/>
    <p:sldId id="283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33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47019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5029200" cy="5029200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22960" y="2423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MERCADOS DE DEUDA Y CAPITALES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926080"/>
            <a:ext cx="9692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Activo Financiero e Intermediación Financiera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4462272"/>
            <a:ext cx="941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9BA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Licenciatura en Comercio y Finanzas Internacionales · Universidad Autónoma de Zacatecas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6263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8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Linton (2019), Fabozzi y Peterson Drake (2009), Mántey de Anguiano (2024)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 FINANCIERO · PANORAMA GENERAL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771632" y="457200"/>
            <a:ext cx="640080" cy="64008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" name="Image 0" descr="/tmp/work/deck/icons/bullseye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1652" y="6172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de la unidad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640080" y="2743200"/>
            <a:ext cx="10881360" cy="2377440"/>
          </a:xfrm>
          <a:prstGeom prst="roundRect">
            <a:avLst>
              <a:gd name="adj" fmla="val 3077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188720" y="2743200"/>
            <a:ext cx="10058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2731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el estudiante distinga un activo financiero de otros tipos de activo, y al emisor del inversionista en una transacción dada.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 FINANCIERO · PANORAMA GENERAL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Tabla de contenido</a:t>
            </a:r>
            <a:endParaRPr lang="en-US" sz="3200" dirty="0"/>
          </a:p>
        </p:txBody>
      </p:sp>
      <p:sp>
        <p:nvSpPr>
          <p:cNvPr id="36" name="Text 30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37" name="TextBox 36"/>
          <p:cNvSpPr txBox="1"/>
          <p:nvPr/>
        </p:nvSpPr>
        <p:spPr>
          <a:xfrm>
            <a:off x="777240" y="1783080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9A227"/>
                </a:solidFill>
                <a:latin typeface="Calibri"/>
              </a:rPr>
              <a:t>I.   </a:t>
            </a:r>
            <a:r>
              <a:rPr sz="1500" b="1" i="0">
                <a:solidFill>
                  <a:srgbClr val="1E2761"/>
                </a:solidFill>
                <a:latin typeface="Calibri"/>
              </a:rPr>
              <a:t>¿Por qué existen los mercados financieros?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9720" y="178308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6ADC7"/>
                </a:solidFill>
                <a:latin typeface="Calibri"/>
              </a:rPr>
              <a:t>PÁG. 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2350008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9A227"/>
                </a:solidFill>
                <a:latin typeface="Calibri"/>
              </a:rPr>
              <a:t>II.   </a:t>
            </a:r>
            <a:r>
              <a:rPr sz="1500" b="1" i="0">
                <a:solidFill>
                  <a:srgbClr val="1E2761"/>
                </a:solidFill>
                <a:latin typeface="Calibri"/>
              </a:rPr>
              <a:t>¿Qué es un activo financiero?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89720" y="2350008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6ADC7"/>
                </a:solidFill>
                <a:latin typeface="Calibri"/>
              </a:rPr>
              <a:t>PÁG. 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2916936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9A227"/>
                </a:solidFill>
                <a:latin typeface="Calibri"/>
              </a:rPr>
              <a:t>III.   </a:t>
            </a:r>
            <a:r>
              <a:rPr sz="1500" b="1" i="0">
                <a:solidFill>
                  <a:srgbClr val="1E2761"/>
                </a:solidFill>
                <a:latin typeface="Calibri"/>
              </a:rPr>
              <a:t>Intermediación financiera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9720" y="2916936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6ADC7"/>
                </a:solidFill>
                <a:latin typeface="Calibri"/>
              </a:rPr>
              <a:t>PÁG. 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3483864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9A227"/>
                </a:solidFill>
                <a:latin typeface="Calibri"/>
              </a:rPr>
              <a:t>IV.   </a:t>
            </a:r>
            <a:r>
              <a:rPr sz="1500" b="1" i="0">
                <a:solidFill>
                  <a:srgbClr val="1E2761"/>
                </a:solidFill>
                <a:latin typeface="Calibri"/>
              </a:rPr>
              <a:t>Dos caminos para el crédito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9720" y="3483864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6ADC7"/>
                </a:solidFill>
                <a:latin typeface="Calibri"/>
              </a:rPr>
              <a:t>PÁG. 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405079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9A227"/>
                </a:solidFill>
                <a:latin typeface="Calibri"/>
              </a:rPr>
              <a:t>V.   </a:t>
            </a:r>
            <a:r>
              <a:rPr sz="1500" b="1" i="0">
                <a:solidFill>
                  <a:srgbClr val="1E2761"/>
                </a:solidFill>
                <a:latin typeface="Calibri"/>
              </a:rPr>
              <a:t>El ciclo de captación-colocación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89720" y="405079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6ADC7"/>
                </a:solidFill>
                <a:latin typeface="Calibri"/>
              </a:rPr>
              <a:t>PÁG. 08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" y="4617720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9A227"/>
                </a:solidFill>
                <a:latin typeface="Calibri"/>
              </a:rPr>
              <a:t>VI.   </a:t>
            </a:r>
            <a:r>
              <a:rPr sz="1500" b="1" i="0">
                <a:solidFill>
                  <a:srgbClr val="1E2761"/>
                </a:solidFill>
                <a:latin typeface="Calibri"/>
              </a:rPr>
              <a:t>El ciclo del crédito directo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89720" y="461772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6ADC7"/>
                </a:solidFill>
                <a:latin typeface="Calibri"/>
              </a:rPr>
              <a:t>PÁG. 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5184648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9A227"/>
                </a:solidFill>
                <a:latin typeface="Calibri"/>
              </a:rPr>
              <a:t>VII.   </a:t>
            </a:r>
            <a:r>
              <a:rPr sz="1500" b="1" i="0">
                <a:solidFill>
                  <a:srgbClr val="1E2761"/>
                </a:solidFill>
                <a:latin typeface="Calibri"/>
              </a:rPr>
              <a:t>Fuentes y referencias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89720" y="5184648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6ADC7"/>
                </a:solidFill>
                <a:latin typeface="Calibri"/>
              </a:rPr>
              <a:t>PÁG.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 FINANCIERO E INTERMEDIACIÓN · 8 MIN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771632" y="457200"/>
            <a:ext cx="640080" cy="64008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" name="Image 0" descr="/tmp/work/deck/icons/coins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1652" y="6172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es un activo financiero?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640080" y="148132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hablar de mercados, hay que definir qué es lo que en ellos se intercambia.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1965960"/>
            <a:ext cx="4937760" cy="3063240"/>
          </a:xfrm>
          <a:prstGeom prst="roundRect">
            <a:avLst>
              <a:gd name="adj" fmla="val 2985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5"/>
          <p:cNvSpPr/>
          <p:nvPr/>
        </p:nvSpPr>
        <p:spPr>
          <a:xfrm>
            <a:off x="932688" y="22402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1" descr="/tmp/work/deck/icons/landmark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751" y="2376343"/>
            <a:ext cx="294803" cy="29480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45920" y="22677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Activo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1645920" y="25786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 CON VALOR ECONÓMICO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932688" y="2953512"/>
            <a:ext cx="4352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recurso del que se espera obtener beneficios económicos futuros.</a:t>
            </a:r>
            <a:endParaRPr lang="en-US" sz="1080" dirty="0"/>
          </a:p>
        </p:txBody>
      </p:sp>
      <p:sp>
        <p:nvSpPr>
          <p:cNvPr id="13" name="Shape 9"/>
          <p:cNvSpPr/>
          <p:nvPr/>
        </p:nvSpPr>
        <p:spPr>
          <a:xfrm>
            <a:off x="932688" y="3730752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0"/>
          <p:cNvSpPr/>
          <p:nvPr/>
        </p:nvSpPr>
        <p:spPr>
          <a:xfrm>
            <a:off x="1143000" y="3593592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Tangible: </a:t>
            </a:r>
            <a:r>
              <a:rPr lang="en-US" sz="103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valor depende de sus propiedades físicas (inmuebles, maquinaria, equipo).</a:t>
            </a:r>
            <a:endParaRPr lang="en-US" sz="1030" dirty="0"/>
          </a:p>
        </p:txBody>
      </p:sp>
      <p:sp>
        <p:nvSpPr>
          <p:cNvPr id="15" name="Shape 11"/>
          <p:cNvSpPr/>
          <p:nvPr/>
        </p:nvSpPr>
        <p:spPr>
          <a:xfrm>
            <a:off x="932688" y="4407408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2"/>
          <p:cNvSpPr/>
          <p:nvPr/>
        </p:nvSpPr>
        <p:spPr>
          <a:xfrm>
            <a:off x="1143000" y="4270248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3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Intangible: </a:t>
            </a:r>
            <a:r>
              <a:rPr lang="en-US" sz="103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derecho legal sobre beneficios futuros, sin relación con una forma física.</a:t>
            </a:r>
            <a:endParaRPr lang="en-US" sz="1030" dirty="0"/>
          </a:p>
        </p:txBody>
      </p:sp>
      <p:sp>
        <p:nvSpPr>
          <p:cNvPr id="17" name="Shape 13"/>
          <p:cNvSpPr/>
          <p:nvPr/>
        </p:nvSpPr>
        <p:spPr>
          <a:xfrm>
            <a:off x="6611112" y="1965960"/>
            <a:ext cx="4937760" cy="3063240"/>
          </a:xfrm>
          <a:prstGeom prst="roundRect">
            <a:avLst>
              <a:gd name="adj" fmla="val 298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4"/>
          <p:cNvSpPr/>
          <p:nvPr/>
        </p:nvSpPr>
        <p:spPr>
          <a:xfrm>
            <a:off x="6903720" y="2240280"/>
            <a:ext cx="566928" cy="56692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2" descr="/tmp/work/deck/icons/exchange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9783" y="2376343"/>
            <a:ext cx="294803" cy="29480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616952" y="22677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Activo financiero</a:t>
            </a:r>
            <a:endParaRPr lang="en-US" sz="1650" dirty="0"/>
          </a:p>
        </p:txBody>
      </p:sp>
      <p:sp>
        <p:nvSpPr>
          <p:cNvPr id="21" name="Text 16"/>
          <p:cNvSpPr/>
          <p:nvPr/>
        </p:nvSpPr>
        <p:spPr>
          <a:xfrm>
            <a:off x="7616952" y="25786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 INTANGIBLE · INSTRUMENTO FINANCIERO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6903720" y="2953512"/>
            <a:ext cx="4352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 intangible cuyo beneficio futuro es un derecho sobre efectivo futuro. Si se negocia en mercados organizados, se le llama valor (security).</a:t>
            </a:r>
            <a:endParaRPr lang="en-US" sz="1080" dirty="0"/>
          </a:p>
        </p:txBody>
      </p:sp>
      <p:sp>
        <p:nvSpPr>
          <p:cNvPr id="23" name="Shape 18"/>
          <p:cNvSpPr/>
          <p:nvPr/>
        </p:nvSpPr>
        <p:spPr>
          <a:xfrm>
            <a:off x="6903720" y="3730752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19"/>
          <p:cNvSpPr/>
          <p:nvPr/>
        </p:nvSpPr>
        <p:spPr>
          <a:xfrm>
            <a:off x="7114032" y="3593592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3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Emisor: </a:t>
            </a:r>
            <a:r>
              <a:rPr lang="en-US" sz="10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compromete a realizar los pagos futuros.</a:t>
            </a:r>
            <a:endParaRPr lang="en-US" sz="1030" dirty="0"/>
          </a:p>
        </p:txBody>
      </p:sp>
      <p:sp>
        <p:nvSpPr>
          <p:cNvPr id="25" name="Shape 20"/>
          <p:cNvSpPr/>
          <p:nvPr/>
        </p:nvSpPr>
        <p:spPr>
          <a:xfrm>
            <a:off x="6903720" y="4407408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1"/>
          <p:cNvSpPr/>
          <p:nvPr/>
        </p:nvSpPr>
        <p:spPr>
          <a:xfrm>
            <a:off x="7114032" y="4270248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3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Inversionista: </a:t>
            </a:r>
            <a:r>
              <a:rPr lang="en-US" sz="10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posee el instrumento y tiene derecho a recibir esos pagos.</a:t>
            </a:r>
            <a:endParaRPr lang="en-US" sz="1030" dirty="0"/>
          </a:p>
        </p:txBody>
      </p:sp>
      <p:sp>
        <p:nvSpPr>
          <p:cNvPr id="27" name="Shape 22"/>
          <p:cNvSpPr/>
          <p:nvPr/>
        </p:nvSpPr>
        <p:spPr>
          <a:xfrm>
            <a:off x="640080" y="5212080"/>
            <a:ext cx="10908792" cy="548640"/>
          </a:xfrm>
          <a:prstGeom prst="roundRect">
            <a:avLst>
              <a:gd name="adj" fmla="val 13333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Shape 23"/>
          <p:cNvSpPr/>
          <p:nvPr/>
        </p:nvSpPr>
        <p:spPr>
          <a:xfrm>
            <a:off x="777240" y="5312664"/>
            <a:ext cx="347472" cy="34747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9" name="Image 3" descr="/tmp/work/deck/icons/balanc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0633" y="5396057"/>
            <a:ext cx="180685" cy="180685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280160" y="5212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instrumento financiero involucra, como mínimo, dos partes: el emisor (unidad deficitaria) y el inversionista (unidad superavitaria).</a:t>
            </a:r>
            <a:endParaRPr lang="en-US" sz="1080" dirty="0"/>
          </a:p>
        </p:txBody>
      </p:sp>
      <p:sp>
        <p:nvSpPr>
          <p:cNvPr id="31" name="Text 25"/>
          <p:cNvSpPr/>
          <p:nvPr/>
        </p:nvSpPr>
        <p:spPr>
          <a:xfrm>
            <a:off x="640080" y="640080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Fabozzi, F. J. y Peterson Drake, P. (2009). Finance: Capital Markets, Financial Management, and Investment Management, Cap. 4, Wiley.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 FINANCIERO E INTERMEDIACIÓN · 6 MIN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771632" y="457200"/>
            <a:ext cx="640080" cy="64008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" name="Image 0" descr="/tmp/work/deck/icons/coins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1652" y="6172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existen los mercados financieros?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640080" y="148132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propósito de un mercado financiero es canalizar recursos de quienes ahorran hacia quienes los necesitan.</a:t>
            </a:r>
            <a:endParaRPr lang="en-US" sz="1400" dirty="0"/>
          </a:p>
        </p:txBody>
      </p:sp>
      <p:sp>
        <p:nvSpPr>
          <p:cNvPr id="31" name="Text 25"/>
          <p:cNvSpPr/>
          <p:nvPr/>
        </p:nvSpPr>
        <p:spPr>
          <a:xfrm>
            <a:off x="640080" y="640080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Linton, O. (2019). Financial Econometrics: Models and Methods, Cap. 1 "Introduction and Background", §1.1, p. 1, Cambridge University Press.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33" name="TextBox 32"/>
          <p:cNvSpPr txBox="1"/>
          <p:nvPr/>
        </p:nvSpPr>
        <p:spPr>
          <a:xfrm>
            <a:off x="640080" y="2011680"/>
            <a:ext cx="10908792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50" b="1" i="0">
                <a:solidFill>
                  <a:srgbClr val="1E2761"/>
                </a:solidFill>
                <a:latin typeface="Calibri"/>
              </a:rPr>
              <a:t>Suavizar el consumo: </a:t>
            </a:r>
            <a:r>
              <a:rPr sz="1350" b="0" i="0">
                <a:solidFill>
                  <a:srgbClr val="5B6482"/>
                </a:solidFill>
                <a:latin typeface="Calibri"/>
              </a:rPr>
              <a:t>las personas prefieren mantener su consumo relativamente estable en el tiempo y ante eventos inesperados.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50" b="1" i="0">
                <a:solidFill>
                  <a:srgbClr val="1E2761"/>
                </a:solidFill>
                <a:latin typeface="Calibri"/>
              </a:rPr>
              <a:t>Diversificar el riesgo individual: </a:t>
            </a:r>
            <a:r>
              <a:rPr sz="1350" b="0" i="0">
                <a:solidFill>
                  <a:srgbClr val="5B6482"/>
                </a:solidFill>
                <a:latin typeface="Calibri"/>
              </a:rPr>
              <a:t>juntar los ahorros de muchas personas permite financiar proyectos grandes que nadie podría costear solo.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50" b="1" i="0">
                <a:solidFill>
                  <a:srgbClr val="1E2761"/>
                </a:solidFill>
                <a:latin typeface="Calibri"/>
              </a:rPr>
              <a:t>Eficiencia y crecimiento económico: </a:t>
            </a:r>
            <a:r>
              <a:rPr sz="1350" b="0" i="0">
                <a:solidFill>
                  <a:srgbClr val="5B6482"/>
                </a:solidFill>
                <a:latin typeface="Calibri"/>
              </a:rPr>
              <a:t>hay ganancia para la economía cuando quienes tienen proyectos productivos piden prestado a quienes ahorran.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50" b="1" i="0">
                <a:solidFill>
                  <a:srgbClr val="1E2761"/>
                </a:solidFill>
                <a:latin typeface="Calibri"/>
              </a:rPr>
              <a:t>Transferencia de riesgo: </a:t>
            </a:r>
            <a:r>
              <a:rPr sz="1350" b="0" i="0">
                <a:solidFill>
                  <a:srgbClr val="5B6482"/>
                </a:solidFill>
                <a:latin typeface="Calibri"/>
              </a:rPr>
              <a:t>los mercados permiten que quien no quiere un riesgo se lo transfiera a alguien dispuesto a tomarlo.</a:t>
            </a:r>
          </a:p>
        </p:txBody>
      </p:sp>
      <p:sp>
        <p:nvSpPr>
          <p:cNvPr id="21" name="Shape 16"/>
          <p:cNvSpPr/>
          <p:nvPr/>
        </p:nvSpPr>
        <p:spPr>
          <a:xfrm>
            <a:off x="640080" y="5120640"/>
            <a:ext cx="10908792" cy="91440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17"/>
          <p:cNvSpPr/>
          <p:nvPr/>
        </p:nvSpPr>
        <p:spPr>
          <a:xfrm>
            <a:off x="777240" y="5010912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4600" dirty="0"/>
          </a:p>
        </p:txBody>
      </p:sp>
      <p:sp>
        <p:nvSpPr>
          <p:cNvPr id="23" name="Text 18"/>
          <p:cNvSpPr/>
          <p:nvPr/>
        </p:nvSpPr>
        <p:spPr>
          <a:xfrm>
            <a:off x="1325880" y="521208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activos financieros no son la riqueza real de una economía: son títulos sobre el ingreso que generan los activos reales.</a:t>
            </a:r>
            <a:r>
              <a:rPr lang="en-US" sz="1200" b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Linton (2019), Cap. 1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 FINANCIERO E INTERMEDIACIÓN · 12 MIN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771632" y="457200"/>
            <a:ext cx="640080" cy="64008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" name="Image 0" descr="/tmp/work/deck/icons/exchange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1652" y="6172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Intermediación financiera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640080" y="148132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 financiero canaliza recursos de quienes ahorran hacia quienes los necesitan.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1965960"/>
            <a:ext cx="4114800" cy="2926080"/>
          </a:xfrm>
          <a:prstGeom prst="roundRect">
            <a:avLst>
              <a:gd name="adj" fmla="val 3125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5"/>
          <p:cNvSpPr/>
          <p:nvPr/>
        </p:nvSpPr>
        <p:spPr>
          <a:xfrm>
            <a:off x="1005840" y="2286000"/>
            <a:ext cx="621792" cy="62179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1" descr="/tmp/work/deck/icons/piggy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5070" y="2435230"/>
            <a:ext cx="323332" cy="3233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05840" y="30632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Unidades superavitarias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005840" y="3538728"/>
            <a:ext cx="3383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Ahorradores e inversionistas: agentes que generan excedentes de recursos y buscan colocarlos con seguridad y liquidez.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4892040" y="2350008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3" name="Text 9"/>
          <p:cNvSpPr/>
          <p:nvPr/>
        </p:nvSpPr>
        <p:spPr>
          <a:xfrm>
            <a:off x="4617720" y="2880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</a:t>
            </a:r>
            <a:endParaRPr lang="en-US" sz="9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(dinero)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892040" y="3447288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4617720" y="3977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cambio de un</a:t>
            </a:r>
            <a:endParaRPr lang="en-US" sz="9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 financiero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7452360" y="1965960"/>
            <a:ext cx="4114800" cy="2926080"/>
          </a:xfrm>
          <a:prstGeom prst="roundRect">
            <a:avLst>
              <a:gd name="adj" fmla="val 312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7818120" y="2286000"/>
            <a:ext cx="621792" cy="621792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8" name="Image 2" descr="/tmp/work/deck/icons/handholding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7350" y="2435230"/>
            <a:ext cx="323332" cy="32333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818120" y="30632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Unidades deficitarias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7818120" y="3538728"/>
            <a:ext cx="3383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Empresas, gobierno y personas que necesitan financiamiento para operar, invertir o consumir.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640080" y="5120640"/>
            <a:ext cx="10908792" cy="91440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17"/>
          <p:cNvSpPr/>
          <p:nvPr/>
        </p:nvSpPr>
        <p:spPr>
          <a:xfrm>
            <a:off x="777240" y="5010912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4600" dirty="0"/>
          </a:p>
        </p:txBody>
      </p:sp>
      <p:sp>
        <p:nvSpPr>
          <p:cNvPr id="23" name="Text 18"/>
          <p:cNvSpPr/>
          <p:nvPr/>
        </p:nvSpPr>
        <p:spPr>
          <a:xfrm>
            <a:off x="1325880" y="521208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 financiero tiene por objeto canalizar recursos de las unidades superavitarias de la economía a las unidades deficitarias.</a:t>
            </a:r>
            <a:r>
              <a:rPr lang="en-US" sz="1200" b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Mántey de Anguiano (2024), Lección 2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 FINANCIERO E INTERMEDIACIÓN · 11 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caminos para el crédito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intermediación bancaria y el mercado bursátil canalizan el ahorro de formas distintas.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257800" cy="370332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5875">
            <a:solidFill>
              <a:srgbClr val="E1E7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05840" y="2468880"/>
            <a:ext cx="621792" cy="62179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7" name="Image 0" descr="/tmp/work/deck/icons/university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070" y="2618110"/>
            <a:ext cx="323332" cy="3233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83080" y="248716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Intermediación bancaria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783080" y="2816352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INDIRECTO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024128" y="3465576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234440" y="332841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banco capta depósitos y emite deudas propias (indirectas): pagarés, certificados de depósito.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24128" y="421538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1234440" y="4078224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banco asume el riesgo y presta directamente a empresas, personas y gobierno.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024128" y="4965192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1234440" y="4828032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una persona ahorra en el banco y este otorga un crédito a una empresa.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63640" y="2103120"/>
            <a:ext cx="5257800" cy="370332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5875">
            <a:solidFill>
              <a:srgbClr val="E1E7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6629400" y="2468880"/>
            <a:ext cx="621792" cy="62179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8" name="Image 1" descr="/tmp/work/deck/icons/chartlin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8630" y="2618110"/>
            <a:ext cx="323332" cy="32333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406640" y="248716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Mercado bursátil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7406640" y="2816352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DIRECTO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6647688" y="3465576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18"/>
          <p:cNvSpPr/>
          <p:nvPr/>
        </p:nvSpPr>
        <p:spPr>
          <a:xfrm>
            <a:off x="6858000" y="332841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 y gobierno emiten deudas propias (directas): bonos, papel comercial, acciones.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647688" y="421538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0"/>
          <p:cNvSpPr/>
          <p:nvPr/>
        </p:nvSpPr>
        <p:spPr>
          <a:xfrm>
            <a:off x="6858000" y="4078224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inversionista asume el riesgo directamente frente al emisor del título.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6647688" y="4965192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2"/>
          <p:cNvSpPr/>
          <p:nvPr/>
        </p:nvSpPr>
        <p:spPr>
          <a:xfrm>
            <a:off x="6858000" y="4828032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una empresa coloca certificados de deuda en la bolsa de valores.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40080" y="640080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Mántey de Anguiano, G. (2024). Lecciones de Economía Monetaria, Lección 2, UNAM.</a:t>
            </a:r>
            <a:endParaRPr lang="en-US" sz="950" dirty="0"/>
          </a:p>
        </p:txBody>
      </p:sp>
      <p:sp>
        <p:nvSpPr>
          <p:cNvPr id="28" name="Text 24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 FINANCIERO E INTERMEDIACIÓN · 10 MIN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ciclo de captación-colocación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640080" y="148132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es como el banco conecta al ahorrador con el deudor, paso a paso.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1965960"/>
            <a:ext cx="10908792" cy="960120"/>
          </a:xfrm>
          <a:prstGeom prst="roundRect">
            <a:avLst>
              <a:gd name="adj" fmla="val 8571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5"/>
          <p:cNvSpPr/>
          <p:nvPr/>
        </p:nvSpPr>
        <p:spPr>
          <a:xfrm>
            <a:off x="822960" y="216255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822960" y="21625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00200" y="2084832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recursos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1600200" y="2386584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banco capta recursos del ahorrador —depósitos, pagarés, certificados— y se compromete a devolverlos con un rendimiento: la tasa pasiva.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40080" y="3063240"/>
            <a:ext cx="10908792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1E7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0"/>
          <p:cNvSpPr/>
          <p:nvPr/>
        </p:nvSpPr>
        <p:spPr>
          <a:xfrm>
            <a:off x="822960" y="325983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822960" y="32598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600200" y="3182112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Colocación del crédito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1600200" y="3483864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banco presta esos recursos a empresas, personas o gobierno cobrando una tasa activa, mayor a la pasiva, y asume el riesgo de crédito.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40080" y="4160520"/>
            <a:ext cx="10908792" cy="960120"/>
          </a:xfrm>
          <a:prstGeom prst="roundRect">
            <a:avLst>
              <a:gd name="adj" fmla="val 8571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5"/>
          <p:cNvSpPr/>
          <p:nvPr/>
        </p:nvSpPr>
        <p:spPr>
          <a:xfrm>
            <a:off x="822960" y="435711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822960" y="43571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600200" y="4279392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Recuperación del crédito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1600200" y="4581144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deudor devuelve al banco el capital más los intereses pactados conforme transcurre el plazo del crédito.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40080" y="5257800"/>
            <a:ext cx="10908792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1E7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0"/>
          <p:cNvSpPr/>
          <p:nvPr/>
        </p:nvSpPr>
        <p:spPr>
          <a:xfrm>
            <a:off x="822960" y="545439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822960" y="54543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1600200" y="5376672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del ciclo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1600200" y="5678424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banco paga al ahorrador su depósito con rendimiento; la diferencia entre tasa activa y pasiva es su margen financiero (spread).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640080" y="640080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margen entre tasa activa y pasiva (spread) es la utilidad del banco por intermediar. Fuente: Mántey de Anguiano, G. (2024), Lección 2, UNAM.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 FINANCIERO E INTERMEDIACIÓN · 7 MIN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ciclo del crédito directo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640080" y="148132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camino directo también tiene su propio ciclo, en espejo del de captación-colocación.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1965960"/>
            <a:ext cx="10908792" cy="960120"/>
          </a:xfrm>
          <a:prstGeom prst="roundRect">
            <a:avLst>
              <a:gd name="adj" fmla="val 8571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5"/>
          <p:cNvSpPr/>
          <p:nvPr/>
        </p:nvSpPr>
        <p:spPr>
          <a:xfrm>
            <a:off x="822960" y="216255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822960" y="21625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00200" y="2084832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Emisión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1600200" y="2386584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empresa o el gobierno coloca el instrumento directamente con inversionistas, a cambio de sus recursos.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40080" y="3063240"/>
            <a:ext cx="10908792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1E7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0"/>
          <p:cNvSpPr/>
          <p:nvPr/>
        </p:nvSpPr>
        <p:spPr>
          <a:xfrm>
            <a:off x="822960" y="325983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822960" y="32598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600200" y="3182112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Negociación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1600200" y="3483864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inversionista que lo compró puede revenderlo a otro inversionista antes de su vencimiento, en el mercado secundario.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40080" y="4160520"/>
            <a:ext cx="10908792" cy="960120"/>
          </a:xfrm>
          <a:prstGeom prst="roundRect">
            <a:avLst>
              <a:gd name="adj" fmla="val 8571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5"/>
          <p:cNvSpPr/>
          <p:nvPr/>
        </p:nvSpPr>
        <p:spPr>
          <a:xfrm>
            <a:off x="822960" y="435711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822960" y="43571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600200" y="4279392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Liquidación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1600200" y="4581144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vencimiento, el emisor paga directamente al tenedor final registrado en ese momento.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640080" y="640080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Mántey de Anguiano, G. (2024), Lección 2, UNAM.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389120"/>
            <a:ext cx="5029200" cy="5029200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640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· ACTIVO FINANCIERO E INTERMEDIACIÓN</a:t>
            </a:r>
            <a:endParaRPr lang="en-US" sz="1300" dirty="0"/>
          </a:p>
        </p:txBody>
      </p:sp>
      <p:sp>
        <p:nvSpPr>
          <p:cNvPr id="18" name="TextBox 17"/>
          <p:cNvSpPr txBox="1"/>
          <p:nvPr/>
        </p:nvSpPr>
        <p:spPr>
          <a:xfrm>
            <a:off x="822960" y="975358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350" b="0" i="0">
                <a:solidFill>
                  <a:srgbClr val="1E2761"/>
                </a:solidFill>
                <a:latin typeface="Calibri"/>
              </a:rPr>
              <a:t>Un activo financiero es un derecho sobre flujos futuros que vincula a un emisor (unidad deficitaria) con un inversionista (unidad superavitaria).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1935478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350" b="0" i="0">
                <a:solidFill>
                  <a:srgbClr val="1E2761"/>
                </a:solidFill>
                <a:latin typeface="Calibri"/>
              </a:rPr>
              <a:t>El crédito indirecto (intermediación bancaria) sigue el ciclo captación → colocación → recuperación → cierre; el banco asume el riesgo y su utilidad es el margen financiero (spread).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2895598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350" b="0" i="0">
                <a:solidFill>
                  <a:srgbClr val="1E2761"/>
                </a:solidFill>
                <a:latin typeface="Calibri"/>
              </a:rPr>
              <a:t>El crédito directo (mercado bursátil) sigue el ciclo emisión → negociación → liquidación; aquí el inversionista asume el riesgo directamente frente al emisor.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855718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350" b="0" i="0">
                <a:solidFill>
                  <a:srgbClr val="1E2761"/>
                </a:solidFill>
                <a:latin typeface="Calibri"/>
              </a:rPr>
              <a:t>Ambos caminos resuelven el mismo problema — conectar a quien ahorra con quien necesita financiamiento — pero difieren en quién asume el riesgo de crédito.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 DOCENTE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771632" y="457200"/>
            <a:ext cx="640080" cy="64008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" name="Image 0" descr="/tmp/work/deck/icons/bookopen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1652" y="6172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Fuentes y referencias recomendadas</a:t>
            </a:r>
            <a:endParaRPr lang="en-US" sz="3200" dirty="0"/>
          </a:p>
        </p:txBody>
      </p:sp>
      <p:sp>
        <p:nvSpPr>
          <p:cNvPr id="36" name="Text 27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7" name="TextBox 36"/>
          <p:cNvSpPr txBox="1"/>
          <p:nvPr/>
        </p:nvSpPr>
        <p:spPr>
          <a:xfrm>
            <a:off x="746757" y="2994660"/>
            <a:ext cx="9443987" cy="5129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 dirty="0">
                <a:solidFill>
                  <a:srgbClr val="1E2761"/>
                </a:solidFill>
                <a:latin typeface="Calibri"/>
              </a:rPr>
              <a:t>Linton, O. (2019). Financial Econometrics: Models and Methods. Cambridge University Press.</a:t>
            </a:r>
          </a:p>
          <a:p>
            <a:pPr>
              <a:spcAft>
                <a:spcPts val="400"/>
              </a:spcAft>
            </a:pPr>
            <a:r>
              <a:rPr sz="1100" b="0" i="0" dirty="0">
                <a:solidFill>
                  <a:srgbClr val="5B6482"/>
                </a:solidFill>
                <a:latin typeface="Calibri"/>
              </a:rPr>
              <a:t>Cap. 1 §1.1: </a:t>
            </a:r>
            <a:r>
              <a:rPr sz="1100" b="0" i="0" dirty="0" err="1">
                <a:solidFill>
                  <a:srgbClr val="5B6482"/>
                </a:solidFill>
                <a:latin typeface="Calibri"/>
              </a:rPr>
              <a:t>por</a:t>
            </a:r>
            <a:r>
              <a:rPr sz="1100" b="0" i="0" dirty="0">
                <a:solidFill>
                  <a:srgbClr val="5B6482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5B6482"/>
                </a:solidFill>
                <a:latin typeface="Calibri"/>
              </a:rPr>
              <a:t>qué</a:t>
            </a:r>
            <a:r>
              <a:rPr sz="1100" b="0" i="0" dirty="0">
                <a:solidFill>
                  <a:srgbClr val="5B6482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5B6482"/>
                </a:solidFill>
                <a:latin typeface="Calibri"/>
              </a:rPr>
              <a:t>existen</a:t>
            </a:r>
            <a:r>
              <a:rPr sz="1100" b="0" i="0" dirty="0">
                <a:solidFill>
                  <a:srgbClr val="5B6482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5B6482"/>
                </a:solidFill>
                <a:latin typeface="Calibri"/>
              </a:rPr>
              <a:t>los</a:t>
            </a:r>
            <a:r>
              <a:rPr sz="1100" b="0" i="0" dirty="0">
                <a:solidFill>
                  <a:srgbClr val="5B6482"/>
                </a:solidFill>
                <a:latin typeface="Calibri"/>
              </a:rPr>
              <a:t> mercados </a:t>
            </a:r>
            <a:r>
              <a:rPr sz="1100" b="0" i="0" dirty="0" err="1">
                <a:solidFill>
                  <a:srgbClr val="5B6482"/>
                </a:solidFill>
                <a:latin typeface="Calibri"/>
              </a:rPr>
              <a:t>financieros</a:t>
            </a:r>
            <a:r>
              <a:rPr sz="1100" b="0" i="0" dirty="0">
                <a:solidFill>
                  <a:srgbClr val="5B6482"/>
                </a:solidFill>
                <a:latin typeface="Calibri"/>
              </a:rPr>
              <a:t>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6758" y="2269396"/>
            <a:ext cx="9443987" cy="5129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 dirty="0">
                <a:solidFill>
                  <a:srgbClr val="1E2761"/>
                </a:solidFill>
                <a:latin typeface="Calibri"/>
              </a:rPr>
              <a:t>Fabozzi, F. J. y Peterson Drake, P. (2009). Finance. Wiley.</a:t>
            </a:r>
          </a:p>
          <a:p>
            <a:pPr>
              <a:spcAft>
                <a:spcPts val="400"/>
              </a:spcAft>
            </a:pPr>
            <a:r>
              <a:rPr sz="1100" b="0" i="0" dirty="0">
                <a:solidFill>
                  <a:srgbClr val="5B6482"/>
                </a:solidFill>
                <a:latin typeface="Calibri"/>
              </a:rPr>
              <a:t>Cap. 4, "The Financial System": </a:t>
            </a:r>
            <a:r>
              <a:rPr sz="1100" b="0" i="0" dirty="0" err="1">
                <a:solidFill>
                  <a:srgbClr val="5B6482"/>
                </a:solidFill>
                <a:latin typeface="Calibri"/>
              </a:rPr>
              <a:t>qué</a:t>
            </a:r>
            <a:r>
              <a:rPr sz="1100" b="0" i="0" dirty="0">
                <a:solidFill>
                  <a:srgbClr val="5B6482"/>
                </a:solidFill>
                <a:latin typeface="Calibri"/>
              </a:rPr>
              <a:t> es un </a:t>
            </a:r>
            <a:r>
              <a:rPr sz="1100" b="0" i="0" dirty="0" err="1">
                <a:solidFill>
                  <a:srgbClr val="5B6482"/>
                </a:solidFill>
                <a:latin typeface="Calibri"/>
              </a:rPr>
              <a:t>activo</a:t>
            </a:r>
            <a:r>
              <a:rPr sz="1100" b="0" i="0" dirty="0">
                <a:solidFill>
                  <a:srgbClr val="5B6482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5B6482"/>
                </a:solidFill>
                <a:latin typeface="Calibri"/>
              </a:rPr>
              <a:t>financiero</a:t>
            </a:r>
            <a:r>
              <a:rPr sz="1100" b="0" i="0" dirty="0">
                <a:solidFill>
                  <a:srgbClr val="5B6482"/>
                </a:solidFill>
                <a:latin typeface="Calibri"/>
              </a:rPr>
              <a:t> y </a:t>
            </a:r>
            <a:r>
              <a:rPr sz="1100" b="0" i="0" dirty="0" err="1">
                <a:solidFill>
                  <a:srgbClr val="5B6482"/>
                </a:solidFill>
                <a:latin typeface="Calibri"/>
              </a:rPr>
              <a:t>funciones</a:t>
            </a:r>
            <a:r>
              <a:rPr sz="1100" b="0" i="0" dirty="0">
                <a:solidFill>
                  <a:srgbClr val="5B6482"/>
                </a:solidFill>
                <a:latin typeface="Calibri"/>
              </a:rPr>
              <a:t> del mercado.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6759" y="1527048"/>
            <a:ext cx="9443987" cy="5129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 dirty="0" err="1">
                <a:solidFill>
                  <a:srgbClr val="1E2761"/>
                </a:solidFill>
                <a:latin typeface="Calibri"/>
              </a:rPr>
              <a:t>Mántey</a:t>
            </a:r>
            <a:r>
              <a:rPr sz="1300" b="1" i="0" dirty="0">
                <a:solidFill>
                  <a:srgbClr val="1E2761"/>
                </a:solidFill>
                <a:latin typeface="Calibri"/>
              </a:rPr>
              <a:t> de Anguiano, G. (2024). </a:t>
            </a:r>
            <a:r>
              <a:rPr sz="1300" b="1" i="0" dirty="0" err="1">
                <a:solidFill>
                  <a:srgbClr val="1E2761"/>
                </a:solidFill>
                <a:latin typeface="Calibri"/>
              </a:rPr>
              <a:t>Lecciones</a:t>
            </a:r>
            <a:r>
              <a:rPr sz="1300" b="1" i="0" dirty="0">
                <a:solidFill>
                  <a:srgbClr val="1E2761"/>
                </a:solidFill>
                <a:latin typeface="Calibri"/>
              </a:rPr>
              <a:t> de Economía </a:t>
            </a:r>
            <a:r>
              <a:rPr sz="1300" b="1" i="0" dirty="0" err="1">
                <a:solidFill>
                  <a:srgbClr val="1E2761"/>
                </a:solidFill>
                <a:latin typeface="Calibri"/>
              </a:rPr>
              <a:t>Monetaria</a:t>
            </a:r>
            <a:r>
              <a:rPr sz="1300" b="1" i="0" dirty="0">
                <a:solidFill>
                  <a:srgbClr val="1E2761"/>
                </a:solidFill>
                <a:latin typeface="Calibri"/>
              </a:rPr>
              <a:t>. UNAM.</a:t>
            </a:r>
          </a:p>
          <a:p>
            <a:pPr>
              <a:spcAft>
                <a:spcPts val="400"/>
              </a:spcAft>
            </a:pPr>
            <a:r>
              <a:rPr sz="1100" b="0" i="0" dirty="0" err="1">
                <a:solidFill>
                  <a:srgbClr val="5B6482"/>
                </a:solidFill>
                <a:latin typeface="Calibri"/>
              </a:rPr>
              <a:t>Lección</a:t>
            </a:r>
            <a:r>
              <a:rPr sz="1100" b="0" i="0" dirty="0">
                <a:solidFill>
                  <a:srgbClr val="5B6482"/>
                </a:solidFill>
                <a:latin typeface="Calibri"/>
              </a:rPr>
              <a:t> 2: </a:t>
            </a:r>
            <a:r>
              <a:rPr sz="1100" b="0" i="0" dirty="0" err="1">
                <a:solidFill>
                  <a:srgbClr val="5B6482"/>
                </a:solidFill>
                <a:latin typeface="Calibri"/>
              </a:rPr>
              <a:t>intermediación</a:t>
            </a:r>
            <a:r>
              <a:rPr sz="1100" b="0" i="0" dirty="0">
                <a:solidFill>
                  <a:srgbClr val="5B6482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5B6482"/>
                </a:solidFill>
                <a:latin typeface="Calibri"/>
              </a:rPr>
              <a:t>financiera</a:t>
            </a:r>
            <a:r>
              <a:rPr sz="1100" b="0" i="0" dirty="0">
                <a:solidFill>
                  <a:srgbClr val="5B6482"/>
                </a:solidFill>
                <a:latin typeface="Calibri"/>
              </a:rPr>
              <a:t> y </a:t>
            </a:r>
            <a:r>
              <a:rPr sz="1100" b="0" i="0" dirty="0" err="1">
                <a:solidFill>
                  <a:srgbClr val="5B6482"/>
                </a:solidFill>
                <a:latin typeface="Calibri"/>
              </a:rPr>
              <a:t>los</a:t>
            </a:r>
            <a:r>
              <a:rPr sz="1100" b="0" i="0" dirty="0">
                <a:solidFill>
                  <a:srgbClr val="5B6482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5B6482"/>
                </a:solidFill>
                <a:latin typeface="Calibri"/>
              </a:rPr>
              <a:t>ciclos</a:t>
            </a:r>
            <a:r>
              <a:rPr sz="1100" b="0" i="0" dirty="0">
                <a:solidFill>
                  <a:srgbClr val="5B6482"/>
                </a:solidFill>
                <a:latin typeface="Calibri"/>
              </a:rPr>
              <a:t> de </a:t>
            </a:r>
            <a:r>
              <a:rPr sz="1100" b="0" i="0" dirty="0" err="1">
                <a:solidFill>
                  <a:srgbClr val="5B6482"/>
                </a:solidFill>
                <a:latin typeface="Calibri"/>
              </a:rPr>
              <a:t>crédito</a:t>
            </a:r>
            <a:r>
              <a:rPr sz="1100" b="0" i="0" dirty="0">
                <a:solidFill>
                  <a:srgbClr val="5B6482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5B6482"/>
                </a:solidFill>
                <a:latin typeface="Calibri"/>
              </a:rPr>
              <a:t>indirecto</a:t>
            </a:r>
            <a:r>
              <a:rPr sz="1100" b="0" i="0" dirty="0">
                <a:solidFill>
                  <a:srgbClr val="5B6482"/>
                </a:solidFill>
                <a:latin typeface="Calibri"/>
              </a:rPr>
              <a:t> y </a:t>
            </a:r>
            <a:r>
              <a:rPr sz="1100" b="0" i="0" dirty="0" err="1">
                <a:solidFill>
                  <a:srgbClr val="5B6482"/>
                </a:solidFill>
                <a:latin typeface="Calibri"/>
              </a:rPr>
              <a:t>directo</a:t>
            </a:r>
            <a:r>
              <a:rPr sz="1100" b="0" i="0" dirty="0">
                <a:solidFill>
                  <a:srgbClr val="5B6482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1290</Words>
  <Application>Microsoft Office PowerPoint</Application>
  <PresentationFormat>Widescreen</PresentationFormat>
  <Paragraphs>137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Luis Lozano</cp:lastModifiedBy>
  <cp:revision>6</cp:revision>
  <dcterms:created xsi:type="dcterms:W3CDTF">2026-08-13T01:37:27Z</dcterms:created>
  <dcterms:modified xsi:type="dcterms:W3CDTF">2026-08-21T01:02:03Z</dcterms:modified>
</cp:coreProperties>
</file>