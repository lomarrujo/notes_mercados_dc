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74" r:id="rId2"/>
    <p:sldId id="275" r:id="rId3"/>
    <p:sldId id="276" r:id="rId4"/>
    <p:sldId id="279" r:id="rId5"/>
    <p:sldId id="280" r:id="rId6"/>
    <p:sldId id="281" r:id="rId7"/>
    <p:sldId id="282" r:id="rId8"/>
    <p:sldId id="278" r:id="rId9"/>
    <p:sldId id="285" r:id="rId10"/>
    <p:sldId id="284" r:id="rId11"/>
    <p:sldId id="283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7" d="100"/>
          <a:sy n="157" d="100"/>
        </p:scale>
        <p:origin x="1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4701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3353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8953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5029200" cy="502920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822960" y="2423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MERCADOS DE DEUDA Y CAPITALES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926080"/>
            <a:ext cx="9692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 err="1">
                <a:solidFill>
                  <a:srgbClr val="141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Intermediación</a:t>
            </a:r>
            <a:r>
              <a:rPr lang="en-US" sz="4000" b="1" dirty="0">
                <a:solidFill>
                  <a:srgbClr val="141B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Financiera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462272"/>
            <a:ext cx="941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9BA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Licenciatura en Comercio y Finanzas Internacionales · Universidad Autónoma de Zacatecas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6263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8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Mántey de Anguiano (2024), Mishkin y Eakins (2014)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INTERMEDIACIÓN FINANCIERA · PANORAMA GENERAL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771632" y="457200"/>
            <a:ext cx="640080" cy="64008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" name="Image 0" descr="/tmp/work/deck/icons/bullseye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1652" y="6172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de la unidad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640080" y="2743200"/>
            <a:ext cx="10881360" cy="2377440"/>
          </a:xfrm>
          <a:prstGeom prst="roundRect">
            <a:avLst>
              <a:gd name="adj" fmla="val 3077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188720" y="274320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2731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el estudiante explique la intermediación financiera y clasifique un activo financiero según su plazo, en mercado de dinero o de capitales.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INTERMEDIACIÓN FINANCIERA · PANORAMA GENERAL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Tabla de contenido</a:t>
            </a:r>
            <a:endParaRPr lang="en-US" sz="3200" dirty="0"/>
          </a:p>
        </p:txBody>
      </p:sp>
      <p:sp>
        <p:nvSpPr>
          <p:cNvPr id="36" name="Text 30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37" name="TextBox 36"/>
          <p:cNvSpPr txBox="1"/>
          <p:nvPr/>
        </p:nvSpPr>
        <p:spPr>
          <a:xfrm>
            <a:off x="777240" y="1783080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I.   Intermediación financiera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9720" y="178308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2350008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II.   Dos caminos para el crédito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89720" y="2350008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2916936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III.   El ciclo de captación-colocación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9720" y="2916936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3483864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IV.   El ciclo del crédito directo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9720" y="3483864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405079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V.   Mercado de dinero y mercado de capitales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89720" y="405079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" y="4617720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VI.   Agentes económicos y su acceso a los mercados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89720" y="461772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5184648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C9A227"/>
                </a:solidFill>
                <a:latin typeface="Calibri"/>
              </a:rPr>
              <a:t>VII.   Fuentes y referencias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89720" y="5184648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A6ADC7"/>
                </a:solidFill>
                <a:latin typeface="Calibri"/>
              </a:rPr>
              <a:t>PÁG.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INTERMEDIACIÓN FINANCIERA · 12 MIN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771632" y="457200"/>
            <a:ext cx="640080" cy="64008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" name="Image 0" descr="/tmp/work/deck/icons/exchange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1652" y="6172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Intermediación financiera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640080" y="148132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financiero canaliza recursos de quienes ahorran hacia quienes los necesitan.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1965960"/>
            <a:ext cx="4114800" cy="2926080"/>
          </a:xfrm>
          <a:prstGeom prst="roundRect">
            <a:avLst>
              <a:gd name="adj" fmla="val 3125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1005840" y="2286000"/>
            <a:ext cx="621792" cy="62179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1" descr="/tmp/work/deck/icons/piggy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5070" y="2435230"/>
            <a:ext cx="323332" cy="3233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05840" y="30632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Unidades superavitarias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005840" y="3538728"/>
            <a:ext cx="3383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Ahorradores e inversionistas: agentes que generan excedentes de recursos y buscan colocarlos con seguridad y liquidez.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4892040" y="2350008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4617720" y="2880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</a:t>
            </a:r>
            <a:endParaRPr lang="en-US" sz="9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(dinero)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892040" y="3447288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4617720" y="3977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cambio de un</a:t>
            </a:r>
            <a:endParaRPr lang="en-US" sz="9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financiero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7452360" y="1965960"/>
            <a:ext cx="4114800" cy="2926080"/>
          </a:xfrm>
          <a:prstGeom prst="roundRect">
            <a:avLst>
              <a:gd name="adj" fmla="val 312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7818120" y="2286000"/>
            <a:ext cx="621792" cy="621792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8" name="Image 2" descr="/tmp/work/deck/icons/handholding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7350" y="2435230"/>
            <a:ext cx="323332" cy="32333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818120" y="30632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Unidades deficitarias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7818120" y="3538728"/>
            <a:ext cx="3383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Empresas, gobierno y personas que necesitan financiamiento para operar, invertir o consumir.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640080" y="5120640"/>
            <a:ext cx="10908792" cy="91440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17"/>
          <p:cNvSpPr/>
          <p:nvPr/>
        </p:nvSpPr>
        <p:spPr>
          <a:xfrm>
            <a:off x="777240" y="5010912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4600" dirty="0"/>
          </a:p>
        </p:txBody>
      </p:sp>
      <p:sp>
        <p:nvSpPr>
          <p:cNvPr id="23" name="Text 18"/>
          <p:cNvSpPr/>
          <p:nvPr/>
        </p:nvSpPr>
        <p:spPr>
          <a:xfrm>
            <a:off x="1325880" y="521208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financiero tiene por objeto canalizar recursos de las unidades superavitarias de la economía a las unidades deficitarias.</a:t>
            </a:r>
            <a:r>
              <a:rPr lang="en-US" sz="1200" b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Mántey de Anguiano (2024), Lección 2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INTERMEDIACIÓN FINANCIERA · 11 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caminos para el crédito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intermediación bancaria y el mercado bursátil canalizan el ahorro de formas distintas.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257800" cy="370332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5875">
            <a:solidFill>
              <a:srgbClr val="E1E7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05840" y="2468880"/>
            <a:ext cx="621792" cy="62179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7" name="Image 0" descr="/tmp/work/deck/icons/university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070" y="2618110"/>
            <a:ext cx="323332" cy="3233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83080" y="248716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Intermediación bancaria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783080" y="2816352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INDIRECTO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024128" y="3465576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234440" y="332841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banco capta depósitos y emite deudas propias (indirectas): pagarés, certificados de depósito.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24128" y="421538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1234440" y="4078224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banco asume el riesgo y presta directamente a empresas, personas y gobierno.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024128" y="4965192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1234440" y="4828032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una persona ahorra en el banco y este otorga un crédito a una empresa.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63640" y="2103120"/>
            <a:ext cx="5257800" cy="370332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5875">
            <a:solidFill>
              <a:srgbClr val="E1E7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6629400" y="2468880"/>
            <a:ext cx="621792" cy="62179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8" name="Image 1" descr="/tmp/work/deck/icons/chartlin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8630" y="2618110"/>
            <a:ext cx="323332" cy="3233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406640" y="248716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Mercado bursátil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7406640" y="2816352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DIRECTO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6647688" y="3465576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18"/>
          <p:cNvSpPr/>
          <p:nvPr/>
        </p:nvSpPr>
        <p:spPr>
          <a:xfrm>
            <a:off x="6858000" y="332841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 y gobierno emiten deudas propias (directas): bonos, papel comercial, acciones.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647688" y="421538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6858000" y="4078224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inversionista asume el riesgo directamente frente al emisor del título.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6647688" y="4965192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2"/>
          <p:cNvSpPr/>
          <p:nvPr/>
        </p:nvSpPr>
        <p:spPr>
          <a:xfrm>
            <a:off x="6858000" y="4828032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una empresa coloca certificados de deuda en la bolsa de valores.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40080" y="64008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Mántey de Anguiano, G. (2024). Lecciones de Economía Monetaria, Lección 2, UNAM.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INTERMEDIACIÓN FINANCIERA · 10 MIN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ciclo de captación-colocación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640080" y="148132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es como el banco conecta al ahorrador con el deudor, paso a paso.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1965960"/>
            <a:ext cx="10908792" cy="960120"/>
          </a:xfrm>
          <a:prstGeom prst="roundRect">
            <a:avLst>
              <a:gd name="adj" fmla="val 8571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822960" y="216255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822960" y="21625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00200" y="2084832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recursos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1600200" y="2386584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banco capta recursos del ahorrador —depósitos, pagarés, certificados— y se compromete a devolverlos con un rendimiento: la tasa pasiva.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40080" y="3063240"/>
            <a:ext cx="10908792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1E7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822960" y="325983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822960" y="32598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600200" y="3182112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Colocación del crédito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1600200" y="3483864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banco presta esos recursos a empresas, personas o gobierno cobrando una tasa activa, mayor a la pasiva, y asume el riesgo de crédito.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0080" y="4160520"/>
            <a:ext cx="10908792" cy="960120"/>
          </a:xfrm>
          <a:prstGeom prst="roundRect">
            <a:avLst>
              <a:gd name="adj" fmla="val 8571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5"/>
          <p:cNvSpPr/>
          <p:nvPr/>
        </p:nvSpPr>
        <p:spPr>
          <a:xfrm>
            <a:off x="822960" y="435711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822960" y="43571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600200" y="4279392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Recuperación del crédito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1600200" y="4581144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deudor devuelve al banco el capital más los intereses pactados conforme transcurre el plazo del crédito.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40080" y="5257800"/>
            <a:ext cx="10908792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1E7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0"/>
          <p:cNvSpPr/>
          <p:nvPr/>
        </p:nvSpPr>
        <p:spPr>
          <a:xfrm>
            <a:off x="822960" y="545439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822960" y="54543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1600200" y="5376672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del ciclo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1600200" y="5678424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banco paga al ahorrador su depósito con rendimiento; la diferencia entre tasa activa y pasiva es su margen financiero (spread).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640080" y="64008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margen entre tasa activa y pasiva (spread) es la utilidad del banco por intermediar. Fuente: Mántey de Anguiano, G. (2024), Lección 2, UNAM.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INTERMEDIACIÓN FINANCIERA · 7 MIN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ciclo del crédito directo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640080" y="148132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camino directo también tiene su propio ciclo, en espejo del de captación-colocación.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1965960"/>
            <a:ext cx="10908792" cy="960120"/>
          </a:xfrm>
          <a:prstGeom prst="roundRect">
            <a:avLst>
              <a:gd name="adj" fmla="val 8571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822960" y="216255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822960" y="21625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00200" y="2084832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Emisión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1600200" y="2386584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empresa o el gobierno coloca el instrumento directamente con inversionistas, a cambio de sus recursos.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40080" y="3063240"/>
            <a:ext cx="10908792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1E7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822960" y="325983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822960" y="32598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600200" y="3182112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Negociación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1600200" y="3483864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inversionista que lo compró puede revenderlo a otro inversionista antes de su vencimiento, en el mercado secundario.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40080" y="4160520"/>
            <a:ext cx="10908792" cy="960120"/>
          </a:xfrm>
          <a:prstGeom prst="roundRect">
            <a:avLst>
              <a:gd name="adj" fmla="val 8571"/>
            </a:avLst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5"/>
          <p:cNvSpPr/>
          <p:nvPr/>
        </p:nvSpPr>
        <p:spPr>
          <a:xfrm>
            <a:off x="822960" y="435711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822960" y="43571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600200" y="4279392"/>
            <a:ext cx="9326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Liquidación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1600200" y="4581144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vencimiento, el emisor paga directamente al tenedor final registrado en ese momento.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640080" y="64008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Mántey de Anguiano, G. (2024), Lección 2, UNAM.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INTERMEDIACIÓN FINANCIERA · 12 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Mercado de dinero y mercado de capitales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financiero se divide, por convención, según el plazo de los recursos que canaliza.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25780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5875">
            <a:solidFill>
              <a:srgbClr val="E1E7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05840" y="225856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7" name="Image 0" descr="/tmp/work/deck/icons/coins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903" y="2394631"/>
            <a:ext cx="294803" cy="294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2276856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Mercado de dinero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1691640" y="2596896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CORTO PLAZO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024128" y="311810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234440" y="2980944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Función: </a:t>
            </a:r>
            <a:r>
              <a:rPr lang="en-US" sz="108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liquidez de corto plazo a la economía y servir de canal a la política monetaria.</a:t>
            </a:r>
            <a:endParaRPr lang="en-US" sz="1080" dirty="0"/>
          </a:p>
        </p:txBody>
      </p:sp>
      <p:sp>
        <p:nvSpPr>
          <p:cNvPr id="12" name="Shape 9"/>
          <p:cNvSpPr/>
          <p:nvPr/>
        </p:nvSpPr>
        <p:spPr>
          <a:xfrm>
            <a:off x="1024128" y="3813048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1234440" y="3675888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Instituciones monetarias (bancos comerciales) emiten pasivos usables como medios de pago.</a:t>
            </a:r>
            <a:endParaRPr lang="en-US" sz="1080" dirty="0"/>
          </a:p>
        </p:txBody>
      </p:sp>
      <p:sp>
        <p:nvSpPr>
          <p:cNvPr id="14" name="Shape 11"/>
          <p:cNvSpPr/>
          <p:nvPr/>
        </p:nvSpPr>
        <p:spPr>
          <a:xfrm>
            <a:off x="1024128" y="4507992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1234440" y="4370832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depósitos a la vista, CETES y papel comercial a corto plazo.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6263640" y="1965960"/>
            <a:ext cx="525780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5875">
            <a:solidFill>
              <a:srgbClr val="E1E7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6629400" y="225856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8" name="Image 1" descr="/tmp/work/deck/icons/chartlin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5463" y="2394631"/>
            <a:ext cx="294803" cy="294803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315200" y="2276856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Mercado de capitales</a:t>
            </a:r>
            <a:endParaRPr lang="en-US" sz="1650" dirty="0"/>
          </a:p>
        </p:txBody>
      </p:sp>
      <p:sp>
        <p:nvSpPr>
          <p:cNvPr id="20" name="Text 16"/>
          <p:cNvSpPr/>
          <p:nvPr/>
        </p:nvSpPr>
        <p:spPr>
          <a:xfrm>
            <a:off x="7315200" y="2596896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LARGO PLAZO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6647688" y="3118104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18"/>
          <p:cNvSpPr/>
          <p:nvPr/>
        </p:nvSpPr>
        <p:spPr>
          <a:xfrm>
            <a:off x="6858000" y="2980944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Función: </a:t>
            </a:r>
            <a:r>
              <a:rPr lang="en-US" sz="108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financiar la inversión productiva de largo plazo y diversificar el riesgo entre ahorradores e inversionistas.</a:t>
            </a:r>
            <a:endParaRPr lang="en-US" sz="1080" dirty="0"/>
          </a:p>
        </p:txBody>
      </p:sp>
      <p:sp>
        <p:nvSpPr>
          <p:cNvPr id="23" name="Shape 19"/>
          <p:cNvSpPr/>
          <p:nvPr/>
        </p:nvSpPr>
        <p:spPr>
          <a:xfrm>
            <a:off x="6647688" y="3813048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6858000" y="3675888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Instituciones no monetarias (banca de inversión, aseguradoras, bolsa) emiten bonos y acciones.</a:t>
            </a:r>
            <a:endParaRPr lang="en-US" sz="1080" dirty="0"/>
          </a:p>
        </p:txBody>
      </p:sp>
      <p:sp>
        <p:nvSpPr>
          <p:cNvPr id="25" name="Shape 21"/>
          <p:cNvSpPr/>
          <p:nvPr/>
        </p:nvSpPr>
        <p:spPr>
          <a:xfrm>
            <a:off x="6647688" y="4507992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2"/>
          <p:cNvSpPr/>
          <p:nvPr/>
        </p:nvSpPr>
        <p:spPr>
          <a:xfrm>
            <a:off x="6858000" y="4370832"/>
            <a:ext cx="4297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bonos hipotecarios y acciones ordinarias.</a:t>
            </a:r>
            <a:endParaRPr lang="en-US" sz="1080" dirty="0"/>
          </a:p>
        </p:txBody>
      </p:sp>
      <p:sp>
        <p:nvSpPr>
          <p:cNvPr id="34" name="Text 28"/>
          <p:cNvSpPr/>
          <p:nvPr/>
        </p:nvSpPr>
        <p:spPr>
          <a:xfrm>
            <a:off x="640080" y="64008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Mántey de Anguiano, G. (2024), Lección 2 §4, UNAM; Mishkin, F. S. y Eakins, S. G. (2014), Cap. 11, Pearson.</a:t>
            </a:r>
            <a:endParaRPr lang="en-US" sz="950" dirty="0"/>
          </a:p>
        </p:txBody>
      </p:sp>
      <p:sp>
        <p:nvSpPr>
          <p:cNvPr id="35" name="Text 29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36" name="TextBox 35"/>
          <p:cNvSpPr txBox="1"/>
          <p:nvPr/>
        </p:nvSpPr>
        <p:spPr>
          <a:xfrm>
            <a:off x="640080" y="5303520"/>
            <a:ext cx="109087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 b="1" i="0">
                <a:solidFill>
                  <a:srgbClr val="1E2761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5B6482"/>
                </a:solidFill>
                <a:latin typeface="Calibri"/>
              </a:rPr>
              <a:t>En México, los bancos múltiples integran ambas funciones desde principios de la década de 1970.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 b="1" i="0">
                <a:solidFill>
                  <a:srgbClr val="1E2761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5B6482"/>
                </a:solidFill>
                <a:latin typeface="Calibri"/>
              </a:rPr>
              <a:t>Los mercados de derivados (futuros, opciones, swaps) son un tercer segmento, definido por el instrumento y no por el plazo.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 b="1" i="0">
                <a:solidFill>
                  <a:srgbClr val="1E2761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5B6482"/>
                </a:solidFill>
                <a:latin typeface="Calibri"/>
              </a:rPr>
              <a:t>Es, sobre todo, un mercado mayorista — CETES es la excepción accesible al público, vía Cetesdirecto.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100" b="1" i="0">
                <a:solidFill>
                  <a:srgbClr val="1E2761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5B6482"/>
                </a:solidFill>
                <a:latin typeface="Calibri"/>
              </a:rPr>
              <a:t>Banxico lo usa como canal de política monetaria; ahí se mueve la TIIE, la tasa de referencia de corto plazo.</a:t>
            </a:r>
          </a:p>
        </p:txBody>
      </p:sp>
    </p:spTree>
    <p:extLst>
      <p:ext uri="{BB962C8B-B14F-4D97-AF65-F5344CB8AC3E}">
        <p14:creationId xmlns:p14="http://schemas.microsoft.com/office/powerpoint/2010/main" val="6735545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INTERMEDIACIÓN FINANCIERA · 12 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Agentes económicos y su acceso a los mercados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agente participa en el mercado de dinero y en el de capitales de forma distinta.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08792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7830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ECONÓMICO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383280" y="17830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DE DINERO (corto plazo)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98080" y="1783080"/>
            <a:ext cx="3867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DE CAPITALES (largo plazo)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240280"/>
            <a:ext cx="10908792" cy="658368"/>
          </a:xfrm>
          <a:prstGeom prst="rect">
            <a:avLst/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822960" y="237744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0" descr="/tmp/work/deck/icons/landmark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132" y="2469612"/>
            <a:ext cx="199705" cy="199705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316736" y="2240280"/>
            <a:ext cx="1929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383280" y="2240280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CETES y otros instrumentos de deuda de corto plazo.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498080" y="2240280"/>
            <a:ext cx="3685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Bonos M y Udibonos: deuda de largo plazo.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40080" y="2898648"/>
            <a:ext cx="10908792" cy="65836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3"/>
          <p:cNvSpPr/>
          <p:nvPr/>
        </p:nvSpPr>
        <p:spPr>
          <a:xfrm>
            <a:off x="822960" y="303580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1" descr="/tmp/work/deck/icons/moneybill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132" y="3127980"/>
            <a:ext cx="199705" cy="199705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316736" y="2898648"/>
            <a:ext cx="1929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empresas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383280" y="2898648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Papel comercial para financiar capital de trabajo.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7498080" y="2898648"/>
            <a:ext cx="3685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Emisión de obligaciones y colocación de acciones en bolsa.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640080" y="3557016"/>
            <a:ext cx="10908792" cy="658368"/>
          </a:xfrm>
          <a:prstGeom prst="rect">
            <a:avLst/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18"/>
          <p:cNvSpPr/>
          <p:nvPr/>
        </p:nvSpPr>
        <p:spPr>
          <a:xfrm>
            <a:off x="822960" y="369417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3" name="Image 2" descr="/tmp/work/deck/icons/handholding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132" y="3786348"/>
            <a:ext cx="199705" cy="199705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316736" y="3557016"/>
            <a:ext cx="1929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PyMEs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3383280" y="3557016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bancario de corto plazo, factoraje y crédito de proveedores.</a:t>
            </a:r>
            <a:endParaRPr lang="en-US" sz="950" dirty="0"/>
          </a:p>
        </p:txBody>
      </p:sp>
      <p:sp>
        <p:nvSpPr>
          <p:cNvPr id="26" name="Text 21"/>
          <p:cNvSpPr/>
          <p:nvPr/>
        </p:nvSpPr>
        <p:spPr>
          <a:xfrm>
            <a:off x="7498080" y="3557016"/>
            <a:ext cx="3685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muy limitado; recurren a banca de desarrollo (NAFIN) en vez de la bolsa pública.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40080" y="4215384"/>
            <a:ext cx="10908792" cy="65836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Shape 23"/>
          <p:cNvSpPr/>
          <p:nvPr/>
        </p:nvSpPr>
        <p:spPr>
          <a:xfrm>
            <a:off x="822960" y="435254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9" name="Image 3" descr="/tmp/work/deck/icons/university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5132" y="4444716"/>
            <a:ext cx="199705" cy="199705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316736" y="4215384"/>
            <a:ext cx="1929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Bancos e intermediarios</a:t>
            </a:r>
            <a:endParaRPr lang="en-US" sz="1050" dirty="0"/>
          </a:p>
        </p:txBody>
      </p:sp>
      <p:sp>
        <p:nvSpPr>
          <p:cNvPr id="31" name="Text 25"/>
          <p:cNvSpPr/>
          <p:nvPr/>
        </p:nvSpPr>
        <p:spPr>
          <a:xfrm>
            <a:off x="3383280" y="4215384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depósitos; actúan como creadores de mercado.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7498080" y="4215384"/>
            <a:ext cx="3685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Colocación y garantía de emisiones (banca de inversión).</a:t>
            </a:r>
            <a:endParaRPr lang="en-US" sz="950" dirty="0"/>
          </a:p>
        </p:txBody>
      </p:sp>
      <p:sp>
        <p:nvSpPr>
          <p:cNvPr id="33" name="Shape 27"/>
          <p:cNvSpPr/>
          <p:nvPr/>
        </p:nvSpPr>
        <p:spPr>
          <a:xfrm>
            <a:off x="640080" y="4873752"/>
            <a:ext cx="10908792" cy="658368"/>
          </a:xfrm>
          <a:prstGeom prst="rect">
            <a:avLst/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Shape 28"/>
          <p:cNvSpPr/>
          <p:nvPr/>
        </p:nvSpPr>
        <p:spPr>
          <a:xfrm>
            <a:off x="822960" y="5010912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5" name="Image 4" descr="/tmp/work/deck/icons/piggy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5132" y="5103084"/>
            <a:ext cx="199705" cy="199705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1316736" y="4873752"/>
            <a:ext cx="1929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físicas</a:t>
            </a:r>
            <a:endParaRPr lang="en-US" sz="1050" dirty="0"/>
          </a:p>
        </p:txBody>
      </p:sp>
      <p:sp>
        <p:nvSpPr>
          <p:cNvPr id="37" name="Text 30"/>
          <p:cNvSpPr/>
          <p:nvPr/>
        </p:nvSpPr>
        <p:spPr>
          <a:xfrm>
            <a:off x="3383280" y="4873752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Cuentas de ahorro y depósitos a la vista o a plazo.</a:t>
            </a:r>
            <a:endParaRPr lang="en-US" sz="950" dirty="0"/>
          </a:p>
        </p:txBody>
      </p:sp>
      <p:sp>
        <p:nvSpPr>
          <p:cNvPr id="38" name="Text 31"/>
          <p:cNvSpPr/>
          <p:nvPr/>
        </p:nvSpPr>
        <p:spPr>
          <a:xfrm>
            <a:off x="7498080" y="4873752"/>
            <a:ext cx="3685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indirecto vía fondos de inversión, Afores o casas de bolsa.</a:t>
            </a:r>
            <a:endParaRPr lang="en-US" sz="950" dirty="0"/>
          </a:p>
        </p:txBody>
      </p:sp>
      <p:sp>
        <p:nvSpPr>
          <p:cNvPr id="39" name="Shape 32"/>
          <p:cNvSpPr/>
          <p:nvPr/>
        </p:nvSpPr>
        <p:spPr>
          <a:xfrm>
            <a:off x="640080" y="5532120"/>
            <a:ext cx="10908792" cy="65836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Shape 33"/>
          <p:cNvSpPr/>
          <p:nvPr/>
        </p:nvSpPr>
        <p:spPr>
          <a:xfrm>
            <a:off x="822960" y="56692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1" name="Image 5" descr="/tmp/work/deck/icons/shield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5132" y="5761452"/>
            <a:ext cx="199705" cy="199705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1316736" y="5532120"/>
            <a:ext cx="1929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 institucionales</a:t>
            </a:r>
            <a:endParaRPr lang="en-US" sz="1050" dirty="0"/>
          </a:p>
        </p:txBody>
      </p:sp>
      <p:sp>
        <p:nvSpPr>
          <p:cNvPr id="43" name="Text 35"/>
          <p:cNvSpPr/>
          <p:nvPr/>
        </p:nvSpPr>
        <p:spPr>
          <a:xfrm>
            <a:off x="3383280" y="5532120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Instrumentos líquidos de tesorería de corto plazo.</a:t>
            </a:r>
            <a:endParaRPr lang="en-US" sz="950" dirty="0"/>
          </a:p>
        </p:txBody>
      </p:sp>
      <p:sp>
        <p:nvSpPr>
          <p:cNvPr id="44" name="Text 36"/>
          <p:cNvSpPr/>
          <p:nvPr/>
        </p:nvSpPr>
        <p:spPr>
          <a:xfrm>
            <a:off x="7498080" y="5532120"/>
            <a:ext cx="3685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950" dirty="0">
                <a:solidFill>
                  <a:srgbClr val="273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fuente de demanda de largo plazo: bonos y acciones.</a:t>
            </a:r>
            <a:endParaRPr lang="en-US" sz="950" dirty="0"/>
          </a:p>
        </p:txBody>
      </p:sp>
      <p:sp>
        <p:nvSpPr>
          <p:cNvPr id="45" name="Shape 37"/>
          <p:cNvSpPr/>
          <p:nvPr/>
        </p:nvSpPr>
        <p:spPr>
          <a:xfrm>
            <a:off x="640080" y="1783080"/>
            <a:ext cx="10908792" cy="4407408"/>
          </a:xfrm>
          <a:prstGeom prst="rect">
            <a:avLst/>
          </a:prstGeom>
          <a:ln w="12700">
            <a:solidFill>
              <a:srgbClr val="E1E7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38"/>
          <p:cNvSpPr/>
          <p:nvPr/>
        </p:nvSpPr>
        <p:spPr>
          <a:xfrm>
            <a:off x="640080" y="6400800"/>
            <a:ext cx="9418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propia a partir de Mántey de Anguiano (2024), Lección 2, y la organización del mercado de valores mexicano.</a:t>
            </a:r>
            <a:endParaRPr lang="en-US" sz="950" dirty="0"/>
          </a:p>
        </p:txBody>
      </p:sp>
      <p:sp>
        <p:nvSpPr>
          <p:cNvPr id="47" name="Text 39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9388036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389120"/>
            <a:ext cx="5029200" cy="5029200"/>
          </a:xfrm>
          <a:prstGeom prst="ellipse">
            <a:avLst/>
          </a:prstGeom>
          <a:solidFill>
            <a:srgbClr val="141B4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640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· INTERMEDIACIÓN FINANCIERA</a:t>
            </a:r>
            <a:endParaRPr lang="en-US" sz="1300" dirty="0"/>
          </a:p>
        </p:txBody>
      </p:sp>
      <p:sp>
        <p:nvSpPr>
          <p:cNvPr id="18" name="TextBox 17"/>
          <p:cNvSpPr txBox="1"/>
          <p:nvPr/>
        </p:nvSpPr>
        <p:spPr>
          <a:xfrm>
            <a:off x="822960" y="975358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350" b="0" i="0">
                <a:solidFill>
                  <a:srgbClr val="1E2761"/>
                </a:solidFill>
                <a:latin typeface="Calibri"/>
              </a:rPr>
              <a:t>El mercado de dinero (corto plazo, liquidez) y el mercado de capitales (largo plazo, inversión productiva) canalizan el ahorro según el plazo; los derivados son un tercer segmento.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1935478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350" b="0" i="0">
                <a:solidFill>
                  <a:srgbClr val="1E2761"/>
                </a:solidFill>
                <a:latin typeface="Calibri"/>
              </a:rPr>
              <a:t>El crédito indirecto (intermediación bancaria) sigue el ciclo captación → colocación → recuperación → cierre; el banco asume el riesgo y su utilidad es el margen financiero (spread).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2895598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350" b="0" i="0">
                <a:solidFill>
                  <a:srgbClr val="1E2761"/>
                </a:solidFill>
                <a:latin typeface="Calibri"/>
              </a:rPr>
              <a:t>El crédito directo (mercado bursátil) sigue el ciclo emisión → negociación → liquidación; aquí el inversionista asume el riesgo directamente frente al emisor.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855718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350" b="0" i="0">
                <a:solidFill>
                  <a:srgbClr val="1E2761"/>
                </a:solidFill>
                <a:latin typeface="Calibri"/>
              </a:rPr>
              <a:t>Cada agente económico accede de forma distinta a ambos mercados, y plazo y tipo de emisor son clasificaciones independientes entre sí.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 DOCENTE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771632" y="457200"/>
            <a:ext cx="640080" cy="640080"/>
          </a:xfrm>
          <a:prstGeom prst="ellipse">
            <a:avLst/>
          </a:prstGeom>
          <a:solidFill>
            <a:srgbClr val="EEF3F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" name="Image 0" descr="/tmp/work/deck/icons/bookopen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1652" y="6172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74980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Fuentes y referencias recomendadas</a:t>
            </a:r>
            <a:endParaRPr lang="en-US" sz="3200" dirty="0"/>
          </a:p>
        </p:txBody>
      </p:sp>
      <p:sp>
        <p:nvSpPr>
          <p:cNvPr id="36" name="Text 27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6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7" name="TextBox 36"/>
          <p:cNvSpPr txBox="1"/>
          <p:nvPr/>
        </p:nvSpPr>
        <p:spPr>
          <a:xfrm>
            <a:off x="746757" y="2994660"/>
            <a:ext cx="9443987" cy="5129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 dirty="0">
                <a:solidFill>
                  <a:srgbClr val="1E2761"/>
                </a:solidFill>
                <a:latin typeface="Calibri"/>
              </a:rPr>
              <a:t>Mántey de Anguiano, G. (2024). Lecciones de Economía Monetaria. UNAM.</a:t>
            </a:r>
          </a:p>
          <a:p>
            <a:pPr>
              <a:spcAft>
                <a:spcPts val="400"/>
              </a:spcAft>
            </a:pPr>
            <a:r>
              <a:rPr sz="1100" b="0" i="0" dirty="0">
                <a:solidFill>
                  <a:srgbClr val="5B6482"/>
                </a:solidFill>
                <a:latin typeface="Calibri"/>
              </a:rPr>
              <a:t>Lección 2: intermediación financiera, ciclos de crédito directo/indirecto y clasificación de mercado de dinero/capitales.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6758" y="2269396"/>
            <a:ext cx="9443987" cy="5129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 dirty="0">
                <a:solidFill>
                  <a:srgbClr val="1E2761"/>
                </a:solidFill>
                <a:latin typeface="Calibri"/>
              </a:rPr>
              <a:t>Mishkin, F. S. y Eakins, S. G. (2014). Financial Markets and Institutions (8ª ed.). Pearson.</a:t>
            </a:r>
          </a:p>
          <a:p>
            <a:pPr>
              <a:spcAft>
                <a:spcPts val="400"/>
              </a:spcAft>
            </a:pPr>
            <a:r>
              <a:rPr sz="1100" b="0" i="0" dirty="0">
                <a:solidFill>
                  <a:srgbClr val="5B6482"/>
                </a:solidFill>
                <a:latin typeface="Calibri"/>
              </a:rPr>
              <a:t>Cap. 11, "The Money Markets".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1352</Words>
  <Application>Microsoft Office PowerPoint</Application>
  <PresentationFormat>Widescreen</PresentationFormat>
  <Paragraphs>153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Luis Lozano</cp:lastModifiedBy>
  <cp:revision>8</cp:revision>
  <dcterms:created xsi:type="dcterms:W3CDTF">2026-08-13T01:37:27Z</dcterms:created>
  <dcterms:modified xsi:type="dcterms:W3CDTF">2026-08-25T19:51:09Z</dcterms:modified>
</cp:coreProperties>
</file>