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9600000" y="-1400000"/>
            <a:ext cx="4200000" cy="4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00000" y="4300000"/>
            <a:ext cx="3200000" cy="320000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50000"/>
            <a:ext cx="10911840" cy="320040"/>
          </a:xfrm>
          <a:prstGeom prst="rect">
            <a:avLst/>
          </a:prstGeom>
          <a:noFill/>
        </p:spPr>
        <p:txBody>
          <a:bodyPr wrap="square" lIns="0" rIns="0" tIns="0" bIns="0">
            <a:spAutoFit/>
          </a:bodyPr>
          <a:lstStyle/>
          <a:p>
            <a:pPr algn="l"/>
            <a:r>
              <a:rPr sz="1300" b="1" i="0">
                <a:solidFill>
                  <a:srgbClr val="C9A227"/>
                </a:solidFill>
                <a:latin typeface="Calibri"/>
              </a:rPr>
              <a:t>MERCADOS DE DEUDA Y CAPITALES</a:t>
            </a:r>
          </a:p>
        </p:txBody>
      </p:sp>
      <p:sp>
        <p:nvSpPr>
          <p:cNvPr id="5" name="TextBox 4"/>
          <p:cNvSpPr txBox="1"/>
          <p:nvPr/>
        </p:nvSpPr>
        <p:spPr>
          <a:xfrm>
            <a:off x="640080" y="2050000"/>
            <a:ext cx="9200000" cy="620000"/>
          </a:xfrm>
          <a:prstGeom prst="rect">
            <a:avLst/>
          </a:prstGeom>
          <a:noFill/>
        </p:spPr>
        <p:txBody>
          <a:bodyPr wrap="square" lIns="0" rIns="0" tIns="0" bIns="0">
            <a:spAutoFit/>
          </a:bodyPr>
          <a:lstStyle/>
          <a:p>
            <a:pPr algn="l"/>
            <a:r>
              <a:rPr sz="4000" b="1" i="0">
                <a:solidFill>
                  <a:srgbClr val="1E2761"/>
                </a:solidFill>
                <a:latin typeface="Cambria"/>
              </a:rPr>
              <a:t>Intermediación Financiera</a:t>
            </a:r>
          </a:p>
        </p:txBody>
      </p:sp>
      <p:sp>
        <p:nvSpPr>
          <p:cNvPr id="6" name="TextBox 5"/>
          <p:cNvSpPr txBox="1"/>
          <p:nvPr/>
        </p:nvSpPr>
        <p:spPr>
          <a:xfrm>
            <a:off x="640080" y="2790000"/>
            <a:ext cx="9200000" cy="400000"/>
          </a:xfrm>
          <a:prstGeom prst="rect">
            <a:avLst/>
          </a:prstGeom>
          <a:noFill/>
        </p:spPr>
        <p:txBody>
          <a:bodyPr wrap="square" lIns="0" rIns="0" tIns="0" bIns="0">
            <a:spAutoFit/>
          </a:bodyPr>
          <a:lstStyle/>
          <a:p>
            <a:pPr algn="l"/>
            <a:r>
              <a:rPr sz="1300" b="0" i="1">
                <a:solidFill>
                  <a:srgbClr val="5B6482"/>
                </a:solidFill>
                <a:latin typeface="Calibri"/>
              </a:rPr>
              <a:t>Mercados de Deuda y Capitales, Licenciatura en Comercio y Finanzas Internacionales, Universidad Autónoma de Zacatecas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Objetivo de la unidad</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02</a:t>
            </a:r>
          </a:p>
        </p:txBody>
      </p:sp>
      <p:sp>
        <p:nvSpPr>
          <p:cNvPr id="5" name="Rounded Rectangle 4"/>
          <p:cNvSpPr/>
          <p:nvPr/>
        </p:nvSpPr>
        <p:spPr>
          <a:xfrm>
            <a:off x="640080" y="2743200"/>
            <a:ext cx="10881360" cy="1200000"/>
          </a:xfrm>
          <a:prstGeom prst="roundRect">
            <a:avLst>
              <a:gd name="adj" fmla="val 4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943200"/>
            <a:ext cx="10058400" cy="800000"/>
          </a:xfrm>
          <a:prstGeom prst="rect">
            <a:avLst/>
          </a:prstGeom>
          <a:noFill/>
        </p:spPr>
        <p:txBody>
          <a:bodyPr wrap="square" lIns="0" rIns="0" tIns="0" bIns="0" anchor="ctr">
            <a:spAutoFit/>
          </a:bodyPr>
          <a:lstStyle/>
          <a:p>
            <a:pPr algn="l"/>
            <a:r>
              <a:rPr sz="2000" b="0" i="0">
                <a:solidFill>
                  <a:srgbClr val="27314D"/>
                </a:solidFill>
                <a:latin typeface="Cambria"/>
              </a:rPr>
              <a:t>Que el estudiante explique la intermediación financiera.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Tabla de contenido</a:t>
            </a:r>
          </a:p>
        </p:txBody>
      </p:sp>
      <p:sp>
        <p:nvSpPr>
          <p:cNvPr id="3" name="TextBox 2"/>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03</a:t>
            </a:r>
          </a:p>
        </p:txBody>
      </p:sp>
      <p:sp>
        <p:nvSpPr>
          <p:cNvPr id="4" name="TextBox 3"/>
          <p:cNvSpPr txBox="1"/>
          <p:nvPr/>
        </p:nvSpPr>
        <p:spPr>
          <a:xfrm>
            <a:off x="640080" y="1900000"/>
            <a:ext cx="700000" cy="400000"/>
          </a:xfrm>
          <a:prstGeom prst="rect">
            <a:avLst/>
          </a:prstGeom>
          <a:noFill/>
        </p:spPr>
        <p:txBody>
          <a:bodyPr wrap="square" lIns="0" rIns="0" tIns="0" bIns="0">
            <a:spAutoFit/>
          </a:bodyPr>
          <a:lstStyle/>
          <a:p>
            <a:pPr algn="l"/>
            <a:r>
              <a:rPr sz="1500" b="1" i="0">
                <a:solidFill>
                  <a:srgbClr val="C9A227"/>
                </a:solidFill>
                <a:latin typeface="Cambria"/>
              </a:rPr>
              <a:t>I.</a:t>
            </a:r>
          </a:p>
        </p:txBody>
      </p:sp>
      <p:sp>
        <p:nvSpPr>
          <p:cNvPr id="5" name="TextBox 4"/>
          <p:cNvSpPr txBox="1"/>
          <p:nvPr/>
        </p:nvSpPr>
        <p:spPr>
          <a:xfrm>
            <a:off x="1390080" y="1900000"/>
            <a:ext cx="8600000" cy="400000"/>
          </a:xfrm>
          <a:prstGeom prst="rect">
            <a:avLst/>
          </a:prstGeom>
          <a:noFill/>
        </p:spPr>
        <p:txBody>
          <a:bodyPr wrap="square" lIns="0" rIns="0" tIns="0" bIns="0">
            <a:spAutoFit/>
          </a:bodyPr>
          <a:lstStyle/>
          <a:p>
            <a:pPr algn="l"/>
            <a:r>
              <a:rPr sz="1500" b="1" i="0">
                <a:solidFill>
                  <a:srgbClr val="1E2761"/>
                </a:solidFill>
                <a:latin typeface="Cambria"/>
              </a:rPr>
              <a:t>Intermediación financiera</a:t>
            </a:r>
          </a:p>
        </p:txBody>
      </p:sp>
      <p:sp>
        <p:nvSpPr>
          <p:cNvPr id="6" name="TextBox 5"/>
          <p:cNvSpPr txBox="1"/>
          <p:nvPr/>
        </p:nvSpPr>
        <p:spPr>
          <a:xfrm>
            <a:off x="1390080" y="2230000"/>
            <a:ext cx="8600000" cy="300000"/>
          </a:xfrm>
          <a:prstGeom prst="rect">
            <a:avLst/>
          </a:prstGeom>
          <a:noFill/>
        </p:spPr>
        <p:txBody>
          <a:bodyPr wrap="square" lIns="0" rIns="0" tIns="0" bIns="0">
            <a:spAutoFit/>
          </a:bodyPr>
          <a:lstStyle/>
          <a:p>
            <a:pPr algn="l"/>
            <a:r>
              <a:rPr sz="1050" b="0" i="0">
                <a:solidFill>
                  <a:srgbClr val="5B6482"/>
                </a:solidFill>
                <a:latin typeface="Calibri"/>
              </a:rPr>
              <a:t>Unidades superavitarias/deficitarias, por qué existen los intermediarios</a:t>
            </a:r>
          </a:p>
        </p:txBody>
      </p:sp>
      <p:sp>
        <p:nvSpPr>
          <p:cNvPr id="7" name="TextBox 6"/>
          <p:cNvSpPr txBox="1"/>
          <p:nvPr/>
        </p:nvSpPr>
        <p:spPr>
          <a:xfrm>
            <a:off x="10351920" y="1900000"/>
            <a:ext cx="1200000" cy="400000"/>
          </a:xfrm>
          <a:prstGeom prst="rect">
            <a:avLst/>
          </a:prstGeom>
          <a:noFill/>
        </p:spPr>
        <p:txBody>
          <a:bodyPr wrap="square" lIns="0" rIns="0" tIns="0" bIns="0">
            <a:spAutoFit/>
          </a:bodyPr>
          <a:lstStyle/>
          <a:p>
            <a:pPr algn="r"/>
            <a:r>
              <a:rPr sz="1100" b="0" i="0">
                <a:solidFill>
                  <a:srgbClr val="5B6482"/>
                </a:solidFill>
                <a:latin typeface="Calibri"/>
              </a:rPr>
              <a:t>PÁG. 04</a:t>
            </a:r>
          </a:p>
        </p:txBody>
      </p:sp>
      <p:sp>
        <p:nvSpPr>
          <p:cNvPr id="8" name="TextBox 7"/>
          <p:cNvSpPr txBox="1"/>
          <p:nvPr/>
        </p:nvSpPr>
        <p:spPr>
          <a:xfrm>
            <a:off x="640080" y="2520000"/>
            <a:ext cx="700000" cy="400000"/>
          </a:xfrm>
          <a:prstGeom prst="rect">
            <a:avLst/>
          </a:prstGeom>
          <a:noFill/>
        </p:spPr>
        <p:txBody>
          <a:bodyPr wrap="square" lIns="0" rIns="0" tIns="0" bIns="0">
            <a:spAutoFit/>
          </a:bodyPr>
          <a:lstStyle/>
          <a:p>
            <a:pPr algn="l"/>
            <a:r>
              <a:rPr sz="1500" b="1" i="0">
                <a:solidFill>
                  <a:srgbClr val="C9A227"/>
                </a:solidFill>
                <a:latin typeface="Cambria"/>
              </a:rPr>
              <a:t>II.</a:t>
            </a:r>
          </a:p>
        </p:txBody>
      </p:sp>
      <p:sp>
        <p:nvSpPr>
          <p:cNvPr id="9" name="TextBox 8"/>
          <p:cNvSpPr txBox="1"/>
          <p:nvPr/>
        </p:nvSpPr>
        <p:spPr>
          <a:xfrm>
            <a:off x="1390080" y="2520000"/>
            <a:ext cx="8600000" cy="400000"/>
          </a:xfrm>
          <a:prstGeom prst="rect">
            <a:avLst/>
          </a:prstGeom>
          <a:noFill/>
        </p:spPr>
        <p:txBody>
          <a:bodyPr wrap="square" lIns="0" rIns="0" tIns="0" bIns="0">
            <a:spAutoFit/>
          </a:bodyPr>
          <a:lstStyle/>
          <a:p>
            <a:pPr algn="l"/>
            <a:r>
              <a:rPr sz="1500" b="1" i="0">
                <a:solidFill>
                  <a:srgbClr val="1E2761"/>
                </a:solidFill>
                <a:latin typeface="Cambria"/>
              </a:rPr>
              <a:t>Dos caminos para el crédito</a:t>
            </a:r>
          </a:p>
        </p:txBody>
      </p:sp>
      <p:sp>
        <p:nvSpPr>
          <p:cNvPr id="10" name="TextBox 9"/>
          <p:cNvSpPr txBox="1"/>
          <p:nvPr/>
        </p:nvSpPr>
        <p:spPr>
          <a:xfrm>
            <a:off x="1390080" y="2850000"/>
            <a:ext cx="8600000" cy="300000"/>
          </a:xfrm>
          <a:prstGeom prst="rect">
            <a:avLst/>
          </a:prstGeom>
          <a:noFill/>
        </p:spPr>
        <p:txBody>
          <a:bodyPr wrap="square" lIns="0" rIns="0" tIns="0" bIns="0">
            <a:spAutoFit/>
          </a:bodyPr>
          <a:lstStyle/>
          <a:p>
            <a:pPr algn="l"/>
            <a:r>
              <a:rPr sz="1050" b="0" i="0">
                <a:solidFill>
                  <a:srgbClr val="5B6482"/>
                </a:solidFill>
                <a:latin typeface="Calibri"/>
              </a:rPr>
              <a:t>Intermediación bancaria (crédito indirecto) vs. mercado bursátil (crédito directo)</a:t>
            </a:r>
          </a:p>
        </p:txBody>
      </p:sp>
      <p:sp>
        <p:nvSpPr>
          <p:cNvPr id="11" name="TextBox 10"/>
          <p:cNvSpPr txBox="1"/>
          <p:nvPr/>
        </p:nvSpPr>
        <p:spPr>
          <a:xfrm>
            <a:off x="10351920" y="2520000"/>
            <a:ext cx="1200000" cy="400000"/>
          </a:xfrm>
          <a:prstGeom prst="rect">
            <a:avLst/>
          </a:prstGeom>
          <a:noFill/>
        </p:spPr>
        <p:txBody>
          <a:bodyPr wrap="square" lIns="0" rIns="0" tIns="0" bIns="0">
            <a:spAutoFit/>
          </a:bodyPr>
          <a:lstStyle/>
          <a:p>
            <a:pPr algn="r"/>
            <a:r>
              <a:rPr sz="1100" b="0" i="0">
                <a:solidFill>
                  <a:srgbClr val="5B6482"/>
                </a:solidFill>
                <a:latin typeface="Calibri"/>
              </a:rPr>
              <a:t>PÁG. 05</a:t>
            </a:r>
          </a:p>
        </p:txBody>
      </p:sp>
      <p:sp>
        <p:nvSpPr>
          <p:cNvPr id="12" name="TextBox 11"/>
          <p:cNvSpPr txBox="1"/>
          <p:nvPr/>
        </p:nvSpPr>
        <p:spPr>
          <a:xfrm>
            <a:off x="640080" y="3140000"/>
            <a:ext cx="700000" cy="400000"/>
          </a:xfrm>
          <a:prstGeom prst="rect">
            <a:avLst/>
          </a:prstGeom>
          <a:noFill/>
        </p:spPr>
        <p:txBody>
          <a:bodyPr wrap="square" lIns="0" rIns="0" tIns="0" bIns="0">
            <a:spAutoFit/>
          </a:bodyPr>
          <a:lstStyle/>
          <a:p>
            <a:pPr algn="l"/>
            <a:r>
              <a:rPr sz="1500" b="1" i="0">
                <a:solidFill>
                  <a:srgbClr val="C9A227"/>
                </a:solidFill>
                <a:latin typeface="Cambria"/>
              </a:rPr>
              <a:t>III.</a:t>
            </a:r>
          </a:p>
        </p:txBody>
      </p:sp>
      <p:sp>
        <p:nvSpPr>
          <p:cNvPr id="13" name="TextBox 12"/>
          <p:cNvSpPr txBox="1"/>
          <p:nvPr/>
        </p:nvSpPr>
        <p:spPr>
          <a:xfrm>
            <a:off x="1390080" y="3140000"/>
            <a:ext cx="8600000" cy="400000"/>
          </a:xfrm>
          <a:prstGeom prst="rect">
            <a:avLst/>
          </a:prstGeom>
          <a:noFill/>
        </p:spPr>
        <p:txBody>
          <a:bodyPr wrap="square" lIns="0" rIns="0" tIns="0" bIns="0">
            <a:spAutoFit/>
          </a:bodyPr>
          <a:lstStyle/>
          <a:p>
            <a:pPr algn="l"/>
            <a:r>
              <a:rPr sz="1500" b="1" i="0">
                <a:solidFill>
                  <a:srgbClr val="1E2761"/>
                </a:solidFill>
                <a:latin typeface="Cambria"/>
              </a:rPr>
              <a:t>El ciclo de captación-colocación</a:t>
            </a:r>
          </a:p>
        </p:txBody>
      </p:sp>
      <p:sp>
        <p:nvSpPr>
          <p:cNvPr id="14" name="TextBox 13"/>
          <p:cNvSpPr txBox="1"/>
          <p:nvPr/>
        </p:nvSpPr>
        <p:spPr>
          <a:xfrm>
            <a:off x="1390080" y="3470000"/>
            <a:ext cx="8600000" cy="300000"/>
          </a:xfrm>
          <a:prstGeom prst="rect">
            <a:avLst/>
          </a:prstGeom>
          <a:noFill/>
        </p:spPr>
        <p:txBody>
          <a:bodyPr wrap="square" lIns="0" rIns="0" tIns="0" bIns="0">
            <a:spAutoFit/>
          </a:bodyPr>
          <a:lstStyle/>
          <a:p>
            <a:pPr algn="l"/>
            <a:r>
              <a:rPr sz="1050" b="0" i="0">
                <a:solidFill>
                  <a:srgbClr val="5B6482"/>
                </a:solidFill>
                <a:latin typeface="Calibri"/>
              </a:rPr>
              <a:t>Captación, colocación, recuperación y cierre del ciclo; margen financiero (spread)</a:t>
            </a:r>
          </a:p>
        </p:txBody>
      </p:sp>
      <p:sp>
        <p:nvSpPr>
          <p:cNvPr id="15" name="TextBox 14"/>
          <p:cNvSpPr txBox="1"/>
          <p:nvPr/>
        </p:nvSpPr>
        <p:spPr>
          <a:xfrm>
            <a:off x="10351920" y="3140000"/>
            <a:ext cx="1200000" cy="400000"/>
          </a:xfrm>
          <a:prstGeom prst="rect">
            <a:avLst/>
          </a:prstGeom>
          <a:noFill/>
        </p:spPr>
        <p:txBody>
          <a:bodyPr wrap="square" lIns="0" rIns="0" tIns="0" bIns="0">
            <a:spAutoFit/>
          </a:bodyPr>
          <a:lstStyle/>
          <a:p>
            <a:pPr algn="r"/>
            <a:r>
              <a:rPr sz="1100" b="0" i="0">
                <a:solidFill>
                  <a:srgbClr val="5B6482"/>
                </a:solidFill>
                <a:latin typeface="Calibri"/>
              </a:rPr>
              <a:t>PÁG. 08</a:t>
            </a:r>
          </a:p>
        </p:txBody>
      </p:sp>
      <p:sp>
        <p:nvSpPr>
          <p:cNvPr id="16" name="TextBox 15"/>
          <p:cNvSpPr txBox="1"/>
          <p:nvPr/>
        </p:nvSpPr>
        <p:spPr>
          <a:xfrm>
            <a:off x="640080" y="3760000"/>
            <a:ext cx="700000" cy="400000"/>
          </a:xfrm>
          <a:prstGeom prst="rect">
            <a:avLst/>
          </a:prstGeom>
          <a:noFill/>
        </p:spPr>
        <p:txBody>
          <a:bodyPr wrap="square" lIns="0" rIns="0" tIns="0" bIns="0">
            <a:spAutoFit/>
          </a:bodyPr>
          <a:lstStyle/>
          <a:p>
            <a:pPr algn="l"/>
            <a:r>
              <a:rPr sz="1500" b="1" i="0">
                <a:solidFill>
                  <a:srgbClr val="C9A227"/>
                </a:solidFill>
                <a:latin typeface="Cambria"/>
              </a:rPr>
              <a:t>IV.</a:t>
            </a:r>
          </a:p>
        </p:txBody>
      </p:sp>
      <p:sp>
        <p:nvSpPr>
          <p:cNvPr id="17" name="TextBox 16"/>
          <p:cNvSpPr txBox="1"/>
          <p:nvPr/>
        </p:nvSpPr>
        <p:spPr>
          <a:xfrm>
            <a:off x="1390080" y="3760000"/>
            <a:ext cx="8600000" cy="400000"/>
          </a:xfrm>
          <a:prstGeom prst="rect">
            <a:avLst/>
          </a:prstGeom>
          <a:noFill/>
        </p:spPr>
        <p:txBody>
          <a:bodyPr wrap="square" lIns="0" rIns="0" tIns="0" bIns="0">
            <a:spAutoFit/>
          </a:bodyPr>
          <a:lstStyle/>
          <a:p>
            <a:pPr algn="l"/>
            <a:r>
              <a:rPr sz="1500" b="1" i="0">
                <a:solidFill>
                  <a:srgbClr val="1E2761"/>
                </a:solidFill>
                <a:latin typeface="Cambria"/>
              </a:rPr>
              <a:t>El ciclo del crédito directo</a:t>
            </a:r>
          </a:p>
        </p:txBody>
      </p:sp>
      <p:sp>
        <p:nvSpPr>
          <p:cNvPr id="18" name="TextBox 17"/>
          <p:cNvSpPr txBox="1"/>
          <p:nvPr/>
        </p:nvSpPr>
        <p:spPr>
          <a:xfrm>
            <a:off x="1390080" y="4090000"/>
            <a:ext cx="8600000" cy="300000"/>
          </a:xfrm>
          <a:prstGeom prst="rect">
            <a:avLst/>
          </a:prstGeom>
          <a:noFill/>
        </p:spPr>
        <p:txBody>
          <a:bodyPr wrap="square" lIns="0" rIns="0" tIns="0" bIns="0">
            <a:spAutoFit/>
          </a:bodyPr>
          <a:lstStyle/>
          <a:p>
            <a:pPr algn="l"/>
            <a:r>
              <a:rPr sz="1050" b="0" i="0">
                <a:solidFill>
                  <a:srgbClr val="5B6482"/>
                </a:solidFill>
                <a:latin typeface="Calibri"/>
              </a:rPr>
              <a:t>Emisión, negociación y liquidación de un instrumento en el mercado bursátil</a:t>
            </a:r>
          </a:p>
        </p:txBody>
      </p:sp>
      <p:sp>
        <p:nvSpPr>
          <p:cNvPr id="19" name="TextBox 18"/>
          <p:cNvSpPr txBox="1"/>
          <p:nvPr/>
        </p:nvSpPr>
        <p:spPr>
          <a:xfrm>
            <a:off x="10351920" y="3760000"/>
            <a:ext cx="1200000" cy="400000"/>
          </a:xfrm>
          <a:prstGeom prst="rect">
            <a:avLst/>
          </a:prstGeom>
          <a:noFill/>
        </p:spPr>
        <p:txBody>
          <a:bodyPr wrap="square" lIns="0" rIns="0" tIns="0" bIns="0">
            <a:spAutoFit/>
          </a:bodyPr>
          <a:lstStyle/>
          <a:p>
            <a:pPr algn="r"/>
            <a:r>
              <a:rPr sz="1100" b="0" i="0">
                <a:solidFill>
                  <a:srgbClr val="5B6482"/>
                </a:solidFill>
                <a:latin typeface="Calibri"/>
              </a:rPr>
              <a:t>PÁG.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Intermediación financiera</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04</a:t>
            </a:r>
          </a:p>
        </p:txBody>
      </p:sp>
      <p:sp>
        <p:nvSpPr>
          <p:cNvPr id="5" name="TextBox 4"/>
          <p:cNvSpPr txBox="1"/>
          <p:nvPr/>
        </p:nvSpPr>
        <p:spPr>
          <a:xfrm>
            <a:off x="640080" y="1539808"/>
            <a:ext cx="10911840" cy="281968"/>
          </a:xfrm>
          <a:prstGeom prst="rect">
            <a:avLst/>
          </a:prstGeom>
          <a:noFill/>
        </p:spPr>
        <p:txBody>
          <a:bodyPr wrap="square" lIns="0" rIns="0" tIns="0" bIns="0">
            <a:spAutoFit/>
          </a:bodyPr>
          <a:lstStyle/>
          <a:p>
            <a:pPr algn="l"/>
            <a:r>
              <a:rPr sz="1550" b="0" i="0">
                <a:solidFill>
                  <a:srgbClr val="5B6482"/>
                </a:solidFill>
                <a:latin typeface="Calibri"/>
              </a:rPr>
              <a:t>El mercado financiero canaliza recursos de quienes ahorran hacia quienes los necesitan.</a:t>
            </a:r>
          </a:p>
        </p:txBody>
      </p:sp>
      <p:sp>
        <p:nvSpPr>
          <p:cNvPr id="6" name="TextBox 5"/>
          <p:cNvSpPr txBox="1"/>
          <p:nvPr/>
        </p:nvSpPr>
        <p:spPr>
          <a:xfrm>
            <a:off x="640080" y="1951776"/>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7" name="TextBox 6"/>
          <p:cNvSpPr txBox="1"/>
          <p:nvPr/>
        </p:nvSpPr>
        <p:spPr>
          <a:xfrm>
            <a:off x="900080" y="1951776"/>
            <a:ext cx="10651840" cy="274456"/>
          </a:xfrm>
          <a:prstGeom prst="rect">
            <a:avLst/>
          </a:prstGeom>
          <a:noFill/>
        </p:spPr>
        <p:txBody>
          <a:bodyPr wrap="square" lIns="0" rIns="0" tIns="0" bIns="0">
            <a:spAutoFit/>
          </a:bodyPr>
          <a:lstStyle/>
          <a:p>
            <a:pPr algn="l"/>
            <a:r>
              <a:rPr sz="1350" b="1" i="0">
                <a:solidFill>
                  <a:srgbClr val="27314D"/>
                </a:solidFill>
                <a:latin typeface="Calibri"/>
              </a:rPr>
              <a:t>Unidades superavitarias:</a:t>
            </a:r>
            <a:r>
              <a:rPr sz="1350" b="0" i="0">
                <a:solidFill>
                  <a:srgbClr val="27314D"/>
                </a:solidFill>
                <a:latin typeface="Calibri"/>
              </a:rPr>
              <a:t> ahorradores e inversionistas, agentes que generan excedentes de recursos y buscan colocarlos con seguridad y liquidez.</a:t>
            </a:r>
          </a:p>
        </p:txBody>
      </p:sp>
      <p:sp>
        <p:nvSpPr>
          <p:cNvPr id="8" name="TextBox 7"/>
          <p:cNvSpPr txBox="1"/>
          <p:nvPr/>
        </p:nvSpPr>
        <p:spPr>
          <a:xfrm>
            <a:off x="640080" y="2226232"/>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9" name="TextBox 8"/>
          <p:cNvSpPr txBox="1"/>
          <p:nvPr/>
        </p:nvSpPr>
        <p:spPr>
          <a:xfrm>
            <a:off x="900080" y="2226232"/>
            <a:ext cx="10651840" cy="274456"/>
          </a:xfrm>
          <a:prstGeom prst="rect">
            <a:avLst/>
          </a:prstGeom>
          <a:noFill/>
        </p:spPr>
        <p:txBody>
          <a:bodyPr wrap="square" lIns="0" rIns="0" tIns="0" bIns="0">
            <a:spAutoFit/>
          </a:bodyPr>
          <a:lstStyle/>
          <a:p>
            <a:pPr algn="l"/>
            <a:r>
              <a:rPr sz="1350" b="1" i="0">
                <a:solidFill>
                  <a:srgbClr val="27314D"/>
                </a:solidFill>
                <a:latin typeface="Calibri"/>
              </a:rPr>
              <a:t>Unidades deficitarias:</a:t>
            </a:r>
            <a:r>
              <a:rPr sz="1350" b="0" i="0">
                <a:solidFill>
                  <a:srgbClr val="27314D"/>
                </a:solidFill>
                <a:latin typeface="Calibri"/>
              </a:rPr>
              <a:t> empresas, gobierno y personas que necesitan financiamiento para operar, invertir o consumir.</a:t>
            </a:r>
          </a:p>
        </p:txBody>
      </p:sp>
      <p:sp>
        <p:nvSpPr>
          <p:cNvPr id="10" name="TextBox 9"/>
          <p:cNvSpPr txBox="1"/>
          <p:nvPr/>
        </p:nvSpPr>
        <p:spPr>
          <a:xfrm>
            <a:off x="640080" y="2590688"/>
            <a:ext cx="10911840" cy="257584"/>
          </a:xfrm>
          <a:prstGeom prst="rect">
            <a:avLst/>
          </a:prstGeom>
          <a:noFill/>
        </p:spPr>
        <p:txBody>
          <a:bodyPr wrap="square" lIns="0" rIns="0" tIns="0" bIns="0">
            <a:spAutoFit/>
          </a:bodyPr>
          <a:lstStyle/>
          <a:p>
            <a:pPr algn="l"/>
            <a:r>
              <a:rPr sz="1400" b="0" i="0">
                <a:solidFill>
                  <a:srgbClr val="27314D"/>
                </a:solidFill>
                <a:latin typeface="Calibri"/>
              </a:rPr>
              <a:t>Entre ambas fluyen </a:t>
            </a:r>
            <a:r>
              <a:rPr sz="1400" b="1" i="0">
                <a:solidFill>
                  <a:srgbClr val="27314D"/>
                </a:solidFill>
                <a:latin typeface="Calibri"/>
              </a:rPr>
              <a:t>recursos (dinero)</a:t>
            </a:r>
            <a:r>
              <a:rPr sz="1400" b="0" i="0">
                <a:solidFill>
                  <a:srgbClr val="27314D"/>
                </a:solidFill>
                <a:latin typeface="Calibri"/>
              </a:rPr>
              <a:t> a cambio de un </a:t>
            </a:r>
            <a:r>
              <a:rPr sz="1400" b="1" i="0">
                <a:solidFill>
                  <a:srgbClr val="27314D"/>
                </a:solidFill>
                <a:latin typeface="Calibri"/>
              </a:rPr>
              <a:t>activo financiero</a:t>
            </a:r>
            <a:r>
              <a:rPr sz="1400" b="0" i="0">
                <a:solidFill>
                  <a:srgbClr val="27314D"/>
                </a:solidFill>
                <a:latin typeface="Calibri"/>
              </a:rPr>
              <a:t>.</a:t>
            </a:r>
          </a:p>
        </p:txBody>
      </p:sp>
      <p:sp>
        <p:nvSpPr>
          <p:cNvPr id="11" name="TextBox 10"/>
          <p:cNvSpPr txBox="1"/>
          <p:nvPr/>
        </p:nvSpPr>
        <p:spPr>
          <a:xfrm>
            <a:off x="640080" y="2938272"/>
            <a:ext cx="10911840" cy="257584"/>
          </a:xfrm>
          <a:prstGeom prst="rect">
            <a:avLst/>
          </a:prstGeom>
          <a:noFill/>
        </p:spPr>
        <p:txBody>
          <a:bodyPr wrap="square" lIns="0" rIns="0" tIns="0" bIns="0">
            <a:spAutoFit/>
          </a:bodyPr>
          <a:lstStyle/>
          <a:p>
            <a:pPr algn="l"/>
            <a:r>
              <a:rPr sz="1400" b="1" i="0">
                <a:solidFill>
                  <a:srgbClr val="27314D"/>
                </a:solidFill>
                <a:latin typeface="Calibri"/>
              </a:rPr>
              <a:t>Por qué existen los intermediarios:</a:t>
            </a:r>
          </a:p>
        </p:txBody>
      </p:sp>
      <p:sp>
        <p:nvSpPr>
          <p:cNvPr id="12" name="TextBox 11"/>
          <p:cNvSpPr txBox="1"/>
          <p:nvPr/>
        </p:nvSpPr>
        <p:spPr>
          <a:xfrm>
            <a:off x="640080" y="3285856"/>
            <a:ext cx="10911840" cy="485168"/>
          </a:xfrm>
          <a:prstGeom prst="rect">
            <a:avLst/>
          </a:prstGeom>
          <a:noFill/>
        </p:spPr>
        <p:txBody>
          <a:bodyPr wrap="square" lIns="0" rIns="0" tIns="0" bIns="0">
            <a:spAutoFit/>
          </a:bodyPr>
          <a:lstStyle/>
          <a:p>
            <a:pPr algn="l"/>
            <a:r>
              <a:rPr sz="1400" b="0" i="0">
                <a:solidFill>
                  <a:srgbClr val="27314D"/>
                </a:solidFill>
                <a:latin typeface="Calibri"/>
              </a:rPr>
              <a:t>Resuelven un problema concreto: ahorradores y deudores casi nunca pueden negociar directamente en condiciones favorables. El intermediario capta fondos de un lado y los coloca del otro, en dos pasos.</a:t>
            </a:r>
          </a:p>
        </p:txBody>
      </p:sp>
      <p:sp>
        <p:nvSpPr>
          <p:cNvPr id="13" name="TextBox 12"/>
          <p:cNvSpPr txBox="1"/>
          <p:nvPr/>
        </p:nvSpPr>
        <p:spPr>
          <a:xfrm>
            <a:off x="640080" y="3861024"/>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4" name="TextBox 13"/>
          <p:cNvSpPr txBox="1"/>
          <p:nvPr/>
        </p:nvSpPr>
        <p:spPr>
          <a:xfrm>
            <a:off x="900080" y="3861024"/>
            <a:ext cx="10651840" cy="274456"/>
          </a:xfrm>
          <a:prstGeom prst="rect">
            <a:avLst/>
          </a:prstGeom>
          <a:noFill/>
        </p:spPr>
        <p:txBody>
          <a:bodyPr wrap="square" lIns="0" rIns="0" tIns="0" bIns="0">
            <a:spAutoFit/>
          </a:bodyPr>
          <a:lstStyle/>
          <a:p>
            <a:pPr algn="l"/>
            <a:r>
              <a:rPr sz="1350" b="1" i="0">
                <a:solidFill>
                  <a:srgbClr val="27314D"/>
                </a:solidFill>
                <a:latin typeface="Calibri"/>
              </a:rPr>
              <a:t>Banco comercial</a:t>
            </a:r>
            <a:r>
              <a:rPr sz="1350" b="0" i="0">
                <a:solidFill>
                  <a:srgbClr val="27314D"/>
                </a:solidFill>
                <a:latin typeface="Calibri"/>
              </a:rPr>
              <a:t>: recibe depósitos de corto plazo y los transforma en créditos de largo plazo (</a:t>
            </a:r>
            <a:r>
              <a:rPr sz="1350" b="0" i="1">
                <a:solidFill>
                  <a:srgbClr val="27314D"/>
                </a:solidFill>
                <a:latin typeface="Calibri"/>
              </a:rPr>
              <a:t>maturity intermediation</a:t>
            </a:r>
            <a:r>
              <a:rPr sz="1350" b="0" i="0">
                <a:solidFill>
                  <a:srgbClr val="27314D"/>
                </a:solidFill>
                <a:latin typeface="Calibri"/>
              </a:rPr>
              <a:t>).</a:t>
            </a:r>
          </a:p>
        </p:txBody>
      </p:sp>
      <p:sp>
        <p:nvSpPr>
          <p:cNvPr id="15" name="TextBox 14"/>
          <p:cNvSpPr txBox="1"/>
          <p:nvPr/>
        </p:nvSpPr>
        <p:spPr>
          <a:xfrm>
            <a:off x="640080" y="4135480"/>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16" name="TextBox 15"/>
          <p:cNvSpPr txBox="1"/>
          <p:nvPr/>
        </p:nvSpPr>
        <p:spPr>
          <a:xfrm>
            <a:off x="900080" y="4135480"/>
            <a:ext cx="10651840" cy="274456"/>
          </a:xfrm>
          <a:prstGeom prst="rect">
            <a:avLst/>
          </a:prstGeom>
          <a:noFill/>
        </p:spPr>
        <p:txBody>
          <a:bodyPr wrap="square" lIns="0" rIns="0" tIns="0" bIns="0">
            <a:spAutoFit/>
          </a:bodyPr>
          <a:lstStyle/>
          <a:p>
            <a:pPr algn="l"/>
            <a:r>
              <a:rPr sz="1350" b="1" i="0">
                <a:solidFill>
                  <a:srgbClr val="27314D"/>
                </a:solidFill>
                <a:latin typeface="Calibri"/>
              </a:rPr>
              <a:t>Fondo de inversión</a:t>
            </a:r>
            <a:r>
              <a:rPr sz="1350" b="0" i="0">
                <a:solidFill>
                  <a:srgbClr val="27314D"/>
                </a:solidFill>
                <a:latin typeface="Calibri"/>
              </a:rPr>
              <a:t>: junta el dinero de muchos ahorradores pequeños y arma un portafolio diversificado que ninguno podría comprar solo.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Dos caminos para el crédito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05</a:t>
            </a:r>
          </a:p>
        </p:txBody>
      </p:sp>
      <p:sp>
        <p:nvSpPr>
          <p:cNvPr id="5" name="TextBox 4"/>
          <p:cNvSpPr txBox="1"/>
          <p:nvPr/>
        </p:nvSpPr>
        <p:spPr>
          <a:xfrm>
            <a:off x="640080" y="1539808"/>
            <a:ext cx="10911840" cy="485168"/>
          </a:xfrm>
          <a:prstGeom prst="rect">
            <a:avLst/>
          </a:prstGeom>
          <a:noFill/>
        </p:spPr>
        <p:txBody>
          <a:bodyPr wrap="square" lIns="0" rIns="0" tIns="0" bIns="0">
            <a:spAutoFit/>
          </a:bodyPr>
          <a:lstStyle/>
          <a:p>
            <a:pPr algn="l"/>
            <a:r>
              <a:rPr sz="1400" b="0" i="0">
                <a:solidFill>
                  <a:srgbClr val="27314D"/>
                </a:solidFill>
                <a:latin typeface="Calibri"/>
              </a:rPr>
              <a:t>Ya vimos que el intermediario capta de un lado y coloca del otro; falta ver qué pasa cuando el deudor final prescinde de ese intermediario y coloca su propio título directamente. La intermediación bancaria y el mercado bursátil canalizan el ahorro de formas distintas.</a:t>
            </a:r>
          </a:p>
        </p:txBody>
      </p:sp>
      <p:graphicFrame>
        <p:nvGraphicFramePr>
          <p:cNvPr id="6" name="Table 5"/>
          <p:cNvGraphicFramePr>
            <a:graphicFrameLocks noGrp="1"/>
          </p:cNvGraphicFramePr>
          <p:nvPr/>
        </p:nvGraphicFramePr>
        <p:xfrm>
          <a:off x="640080" y="2114976"/>
          <a:ext cx="10911840" cy="1737682"/>
        </p:xfrm>
        <a:graphic>
          <a:graphicData uri="http://schemas.openxmlformats.org/drawingml/2006/table">
            <a:tbl>
              <a:tblPr>
                <a:tableStyleId>{2D5ABB26-0587-4C30-8999-92F81FD0307C}</a:tableStyleId>
              </a:tblPr>
              <a:tblGrid>
                <a:gridCol w="977179"/>
                <a:gridCol w="5211625"/>
                <a:gridCol w="4723036"/>
              </a:tblGrid>
              <a:tr h="335932">
                <a:tc>
                  <a:txBody>
                    <a:bodyPr wrap="square"/>
                    <a:lstStyle/>
                    <a:p>
                      <a:pPr algn="l"/>
                    </a:p>
                  </a:txBody>
                  <a:tcPr marL="54864" marR="54864" marT="27432" marB="27432" anchor="ctr">
                    <a:solidFill>
                      <a:srgbClr val="1E2761"/>
                    </a:solidFill>
                  </a:tcPr>
                </a:tc>
                <a:tc>
                  <a:txBody>
                    <a:bodyPr wrap="square"/>
                    <a:lstStyle/>
                    <a:p>
                      <a:pPr algn="l"/>
                      <a:r>
                        <a:rPr sz="1250" b="1" i="0">
                          <a:solidFill>
                            <a:srgbClr val="FFFFFF"/>
                          </a:solidFill>
                          <a:latin typeface="Calibri"/>
                        </a:rPr>
                        <a:t>Intermediación bancaria (crédito indirecto)</a:t>
                      </a:r>
                    </a:p>
                  </a:txBody>
                  <a:tcPr marL="54864" marR="54864" marT="27432" marB="27432" anchor="ctr">
                    <a:solidFill>
                      <a:srgbClr val="1E2761"/>
                    </a:solidFill>
                  </a:tcPr>
                </a:tc>
                <a:tc>
                  <a:txBody>
                    <a:bodyPr wrap="square"/>
                    <a:lstStyle/>
                    <a:p>
                      <a:pPr algn="l"/>
                      <a:r>
                        <a:rPr sz="1250" b="1" i="0">
                          <a:solidFill>
                            <a:srgbClr val="FFFFFF"/>
                          </a:solidFill>
                          <a:latin typeface="Calibri"/>
                        </a:rPr>
                        <a:t>Mercado bursátil (crédito directo)</a:t>
                      </a:r>
                    </a:p>
                  </a:txBody>
                  <a:tcPr marL="54864" marR="54864" marT="27432" marB="27432" anchor="ctr">
                    <a:solidFill>
                      <a:srgbClr val="1E2761"/>
                    </a:solidFill>
                  </a:tcPr>
                </a:tc>
              </a:tr>
              <a:tr h="537100">
                <a:tc>
                  <a:txBody>
                    <a:bodyPr wrap="square"/>
                    <a:lstStyle/>
                    <a:p>
                      <a:pPr algn="l"/>
                      <a:r>
                        <a:rPr sz="1250" b="0" i="0">
                          <a:solidFill>
                            <a:srgbClr val="27314D"/>
                          </a:solidFill>
                          <a:latin typeface="Calibri"/>
                        </a:rPr>
                        <a:t>Mecánica</a:t>
                      </a:r>
                    </a:p>
                  </a:txBody>
                  <a:tcPr marL="54864" marR="54864" marT="27432" marB="27432" anchor="ctr">
                    <a:solidFill>
                      <a:srgbClr val="FFFFFF"/>
                    </a:solidFill>
                  </a:tcPr>
                </a:tc>
                <a:tc>
                  <a:txBody>
                    <a:bodyPr wrap="square"/>
                    <a:lstStyle/>
                    <a:p>
                      <a:pPr algn="l"/>
                      <a:r>
                        <a:rPr sz="1250" b="0" i="0">
                          <a:solidFill>
                            <a:srgbClr val="27314D"/>
                          </a:solidFill>
                          <a:latin typeface="Calibri"/>
                        </a:rPr>
                        <a:t>El banco capta depósitos y emite deudas propias (indirectas): pagarés, certificados de depósito.</a:t>
                      </a:r>
                    </a:p>
                  </a:txBody>
                  <a:tcPr marL="54864" marR="54864" marT="27432" marB="27432" anchor="ctr">
                    <a:solidFill>
                      <a:srgbClr val="FFFFFF"/>
                    </a:solidFill>
                  </a:tcPr>
                </a:tc>
                <a:tc>
                  <a:txBody>
                    <a:bodyPr wrap="square"/>
                    <a:lstStyle/>
                    <a:p>
                      <a:pPr algn="l"/>
                      <a:r>
                        <a:rPr sz="1250" b="0" i="0">
                          <a:solidFill>
                            <a:srgbClr val="27314D"/>
                          </a:solidFill>
                          <a:latin typeface="Calibri"/>
                        </a:rPr>
                        <a:t>Empresas y gobierno emiten deudas propias (directas): bonos, papel comercial, acciones.</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Riesgo de crédito</a:t>
                      </a:r>
                    </a:p>
                  </a:txBody>
                  <a:tcPr marL="54864" marR="54864" marT="27432" marB="27432" anchor="ctr">
                    <a:solidFill>
                      <a:srgbClr val="F2F4FA"/>
                    </a:solidFill>
                  </a:tcPr>
                </a:tc>
                <a:tc>
                  <a:txBody>
                    <a:bodyPr wrap="square"/>
                    <a:lstStyle/>
                    <a:p>
                      <a:pPr algn="l"/>
                      <a:r>
                        <a:rPr sz="1250" b="0" i="0">
                          <a:solidFill>
                            <a:srgbClr val="27314D"/>
                          </a:solidFill>
                          <a:latin typeface="Calibri"/>
                        </a:rPr>
                        <a:t>Lo absorbe el banco: presta directamente a empresas, personas y gobierno.</a:t>
                      </a:r>
                    </a:p>
                  </a:txBody>
                  <a:tcPr marL="54864" marR="54864" marT="27432" marB="27432" anchor="ctr">
                    <a:solidFill>
                      <a:srgbClr val="F2F4FA"/>
                    </a:solidFill>
                  </a:tcPr>
                </a:tc>
                <a:tc>
                  <a:txBody>
                    <a:bodyPr wrap="square"/>
                    <a:lstStyle/>
                    <a:p>
                      <a:pPr algn="l"/>
                      <a:r>
                        <a:rPr sz="1250" b="0" i="0">
                          <a:solidFill>
                            <a:srgbClr val="27314D"/>
                          </a:solidFill>
                          <a:latin typeface="Calibri"/>
                        </a:rPr>
                        <a:t>Lo asume el inversionista directamente frente al emisor del título.</a:t>
                      </a:r>
                    </a:p>
                  </a:txBody>
                  <a:tcPr marL="54864" marR="54864" marT="27432" marB="27432" anchor="ctr">
                    <a:solidFill>
                      <a:srgbClr val="F2F4FA"/>
                    </a:solidFill>
                  </a:tcPr>
                </a:tc>
              </a:tr>
              <a:tr h="327550">
                <a:tc>
                  <a:txBody>
                    <a:bodyPr wrap="square"/>
                    <a:lstStyle/>
                    <a:p>
                      <a:pPr algn="l"/>
                      <a:r>
                        <a:rPr sz="1250" b="0" i="0">
                          <a:solidFill>
                            <a:srgbClr val="27314D"/>
                          </a:solidFill>
                          <a:latin typeface="Calibri"/>
                        </a:rPr>
                        <a:t>Ejemplo</a:t>
                      </a:r>
                    </a:p>
                  </a:txBody>
                  <a:tcPr marL="54864" marR="54864" marT="27432" marB="27432" anchor="ctr">
                    <a:solidFill>
                      <a:srgbClr val="FFFFFF"/>
                    </a:solidFill>
                  </a:tcPr>
                </a:tc>
                <a:tc>
                  <a:txBody>
                    <a:bodyPr wrap="square"/>
                    <a:lstStyle/>
                    <a:p>
                      <a:pPr algn="l"/>
                      <a:r>
                        <a:rPr sz="1250" b="0" i="0">
                          <a:solidFill>
                            <a:srgbClr val="27314D"/>
                          </a:solidFill>
                          <a:latin typeface="Calibri"/>
                        </a:rPr>
                        <a:t>Una persona ahorra en el banco y este otorga un crédito a una empresa.</a:t>
                      </a:r>
                    </a:p>
                  </a:txBody>
                  <a:tcPr marL="54864" marR="54864" marT="27432" marB="27432" anchor="ctr">
                    <a:solidFill>
                      <a:srgbClr val="FFFFFF"/>
                    </a:solidFill>
                  </a:tcPr>
                </a:tc>
                <a:tc>
                  <a:txBody>
                    <a:bodyPr wrap="square"/>
                    <a:lstStyle/>
                    <a:p>
                      <a:pPr algn="l"/>
                      <a:r>
                        <a:rPr sz="1250" b="0" i="0">
                          <a:solidFill>
                            <a:srgbClr val="27314D"/>
                          </a:solidFill>
                          <a:latin typeface="Calibri"/>
                        </a:rPr>
                        <a:t>Una empresa coloca certificados de deuda en la bolsa de valores.</a:t>
                      </a:r>
                    </a:p>
                  </a:txBody>
                  <a:tcPr marL="54864" marR="54864" marT="27432" marB="27432" anchor="ctr">
                    <a:solidFill>
                      <a:srgbClr val="FFFFFF"/>
                    </a:solidFill>
                  </a:tcPr>
                </a:tc>
              </a:tr>
            </a:tbl>
          </a:graphicData>
        </a:graphic>
      </p:graphicFrame>
      <p:sp>
        <p:nvSpPr>
          <p:cNvPr id="7" name="Rounded Rectangle 6"/>
          <p:cNvSpPr/>
          <p:nvPr/>
        </p:nvSpPr>
        <p:spPr>
          <a:xfrm>
            <a:off x="640080" y="3942658"/>
            <a:ext cx="10911840" cy="1556640"/>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942658"/>
            <a:ext cx="45720" cy="1556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080" y="4082658"/>
            <a:ext cx="10551840" cy="241328"/>
          </a:xfrm>
          <a:prstGeom prst="rect">
            <a:avLst/>
          </a:prstGeom>
          <a:noFill/>
        </p:spPr>
        <p:txBody>
          <a:bodyPr wrap="square" lIns="0" rIns="0" tIns="0" bIns="0">
            <a:spAutoFit/>
          </a:bodyPr>
          <a:lstStyle/>
          <a:p>
            <a:pPr algn="l"/>
            <a:r>
              <a:rPr sz="1300" b="1" i="0">
                <a:solidFill>
                  <a:srgbClr val="1E2761"/>
                </a:solidFill>
                <a:latin typeface="Calibri"/>
              </a:rPr>
              <a:t>Ejemplo resuelto.</a:t>
            </a:r>
            <a:r>
              <a:rPr sz="1300" b="0" i="0">
                <a:solidFill>
                  <a:srgbClr val="1E2761"/>
                </a:solidFill>
                <a:latin typeface="Calibri"/>
              </a:rPr>
              <a:t> Distinguir crédito directo de indirecto es preguntar quién asume el riesgo de que el deudor final no pague.</a:t>
            </a:r>
          </a:p>
        </p:txBody>
      </p:sp>
      <p:sp>
        <p:nvSpPr>
          <p:cNvPr id="10" name="TextBox 9"/>
          <p:cNvSpPr txBox="1"/>
          <p:nvPr/>
        </p:nvSpPr>
        <p:spPr>
          <a:xfrm>
            <a:off x="820080" y="4363986"/>
            <a:ext cx="260000" cy="477656"/>
          </a:xfrm>
          <a:prstGeom prst="rect">
            <a:avLst/>
          </a:prstGeom>
          <a:noFill/>
        </p:spPr>
        <p:txBody>
          <a:bodyPr wrap="square" lIns="0" rIns="0" tIns="0" bIns="0">
            <a:spAutoFit/>
          </a:bodyPr>
          <a:lstStyle/>
          <a:p>
            <a:pPr algn="l"/>
            <a:r>
              <a:rPr sz="1300" b="1" i="0">
                <a:solidFill>
                  <a:srgbClr val="C9A227"/>
                </a:solidFill>
                <a:latin typeface="Calibri"/>
              </a:rPr>
              <a:t>•</a:t>
            </a:r>
          </a:p>
        </p:txBody>
      </p:sp>
      <p:sp>
        <p:nvSpPr>
          <p:cNvPr id="11" name="TextBox 10"/>
          <p:cNvSpPr txBox="1"/>
          <p:nvPr/>
        </p:nvSpPr>
        <p:spPr>
          <a:xfrm>
            <a:off x="1080080" y="4363986"/>
            <a:ext cx="10291840" cy="477656"/>
          </a:xfrm>
          <a:prstGeom prst="rect">
            <a:avLst/>
          </a:prstGeom>
          <a:noFill/>
        </p:spPr>
        <p:txBody>
          <a:bodyPr wrap="square" lIns="0" rIns="0" tIns="0" bIns="0">
            <a:spAutoFit/>
          </a:bodyPr>
          <a:lstStyle/>
          <a:p>
            <a:pPr algn="l"/>
            <a:r>
              <a:rPr sz="1300" b="0" i="1">
                <a:solidFill>
                  <a:srgbClr val="1E2761"/>
                </a:solidFill>
                <a:latin typeface="Calibri"/>
              </a:rPr>
              <a:t>Una persona deposita $50,000 en un banco, y el banco presta ese dinero a una PyME.</a:t>
            </a:r>
            <a:r>
              <a:rPr sz="1300" b="0" i="0">
                <a:solidFill>
                  <a:srgbClr val="1E2761"/>
                </a:solidFill>
                <a:latin typeface="Calibri"/>
              </a:rPr>
              <a:t> Si la PyME no paga, el banco absorbe la pérdida: al ahorrador se le devuelve su depósito de todos modos → crédito indirecto.</a:t>
            </a:r>
          </a:p>
        </p:txBody>
      </p:sp>
      <p:sp>
        <p:nvSpPr>
          <p:cNvPr id="12" name="TextBox 11"/>
          <p:cNvSpPr txBox="1"/>
          <p:nvPr/>
        </p:nvSpPr>
        <p:spPr>
          <a:xfrm>
            <a:off x="820080" y="4841642"/>
            <a:ext cx="260000" cy="477656"/>
          </a:xfrm>
          <a:prstGeom prst="rect">
            <a:avLst/>
          </a:prstGeom>
          <a:noFill/>
        </p:spPr>
        <p:txBody>
          <a:bodyPr wrap="square" lIns="0" rIns="0" tIns="0" bIns="0">
            <a:spAutoFit/>
          </a:bodyPr>
          <a:lstStyle/>
          <a:p>
            <a:pPr algn="l"/>
            <a:r>
              <a:rPr sz="1300" b="1" i="0">
                <a:solidFill>
                  <a:srgbClr val="C9A227"/>
                </a:solidFill>
                <a:latin typeface="Calibri"/>
              </a:rPr>
              <a:t>•</a:t>
            </a:r>
          </a:p>
        </p:txBody>
      </p:sp>
      <p:sp>
        <p:nvSpPr>
          <p:cNvPr id="13" name="TextBox 12"/>
          <p:cNvSpPr txBox="1"/>
          <p:nvPr/>
        </p:nvSpPr>
        <p:spPr>
          <a:xfrm>
            <a:off x="1080080" y="4841642"/>
            <a:ext cx="10291840" cy="477656"/>
          </a:xfrm>
          <a:prstGeom prst="rect">
            <a:avLst/>
          </a:prstGeom>
          <a:noFill/>
        </p:spPr>
        <p:txBody>
          <a:bodyPr wrap="square" lIns="0" rIns="0" tIns="0" bIns="0">
            <a:spAutoFit/>
          </a:bodyPr>
          <a:lstStyle/>
          <a:p>
            <a:pPr algn="l"/>
            <a:r>
              <a:rPr sz="1300" b="0" i="1">
                <a:solidFill>
                  <a:srgbClr val="1E2761"/>
                </a:solidFill>
                <a:latin typeface="Calibri"/>
              </a:rPr>
              <a:t>Esa misma persona compra directamente un certificado bursátil que emitió la PyME.</a:t>
            </a:r>
            <a:r>
              <a:rPr sz="1300" b="0" i="0">
                <a:solidFill>
                  <a:srgbClr val="1E2761"/>
                </a:solidFill>
                <a:latin typeface="Calibri"/>
              </a:rPr>
              <a:t> Si la PyME no paga, la pérdida es de quien compró el certificado, no hay banco de por medio que la absorba → crédito directo.</a:t>
            </a:r>
          </a:p>
        </p:txBody>
      </p:sp>
      <p:sp>
        <p:nvSpPr>
          <p:cNvPr id="14" name="TextBox 13"/>
          <p:cNvSpPr txBox="1"/>
          <p:nvPr/>
        </p:nvSpPr>
        <p:spPr>
          <a:xfrm>
            <a:off x="640080" y="5589298"/>
            <a:ext cx="10911840" cy="485168"/>
          </a:xfrm>
          <a:prstGeom prst="rect">
            <a:avLst/>
          </a:prstGeom>
          <a:noFill/>
        </p:spPr>
        <p:txBody>
          <a:bodyPr wrap="square" lIns="0" rIns="0" tIns="0" bIns="0">
            <a:spAutoFit/>
          </a:bodyPr>
          <a:lstStyle/>
          <a:p>
            <a:pPr algn="l"/>
            <a:r>
              <a:rPr sz="1400" b="0" i="0">
                <a:solidFill>
                  <a:srgbClr val="27314D"/>
                </a:solidFill>
                <a:latin typeface="Calibri"/>
              </a:rPr>
              <a:t>Retomando los ejemplos de activos financieros de </a:t>
            </a:r>
            <a:r>
              <a:rPr sz="1400" b="0" i="0">
                <a:solidFill>
                  <a:srgbClr val="27314D"/>
                </a:solidFill>
                <a:latin typeface="Consolas"/>
              </a:rPr>
              <a:t>0_activo_financiero.md</a:t>
            </a:r>
            <a:r>
              <a:rPr sz="1400" b="0" i="0">
                <a:solidFill>
                  <a:srgbClr val="27314D"/>
                </a:solidFill>
                <a:latin typeface="Calibri"/>
              </a:rPr>
              <a:t>, así se clasifican según este criterio, y si su rendimiento es </a:t>
            </a:r>
            <a:r>
              <a:rPr sz="1400" b="1" i="0">
                <a:solidFill>
                  <a:srgbClr val="27314D"/>
                </a:solidFill>
                <a:latin typeface="Calibri"/>
              </a:rPr>
              <a:t>estocástico</a:t>
            </a:r>
            <a:r>
              <a:rPr sz="1400" b="0" i="0">
                <a:solidFill>
                  <a:srgbClr val="27314D"/>
                </a:solidFill>
                <a:latin typeface="Calibri"/>
              </a:rPr>
              <a:t> (incierto: no se conoce de antemano) o no (determinístico: se pacta desde el inicio):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Dos caminos para el crédito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06</a:t>
            </a:r>
          </a:p>
        </p:txBody>
      </p:sp>
      <p:graphicFrame>
        <p:nvGraphicFramePr>
          <p:cNvPr id="5" name="Table 4"/>
          <p:cNvGraphicFramePr>
            <a:graphicFrameLocks noGrp="1"/>
          </p:cNvGraphicFramePr>
          <p:nvPr/>
        </p:nvGraphicFramePr>
        <p:xfrm>
          <a:off x="640080" y="1539808"/>
          <a:ext cx="10911840" cy="4331632"/>
        </p:xfrm>
        <a:graphic>
          <a:graphicData uri="http://schemas.openxmlformats.org/drawingml/2006/table">
            <a:tbl>
              <a:tblPr>
                <a:tableStyleId>{2D5ABB26-0587-4C30-8999-92F81FD0307C}</a:tableStyleId>
              </a:tblPr>
              <a:tblGrid>
                <a:gridCol w="2715388"/>
                <a:gridCol w="1206839"/>
                <a:gridCol w="6989613"/>
              </a:tblGrid>
              <a:tr h="335932">
                <a:tc>
                  <a:txBody>
                    <a:bodyPr wrap="square"/>
                    <a:lstStyle/>
                    <a:p>
                      <a:pPr algn="l"/>
                      <a:r>
                        <a:rPr sz="1250" b="1" i="0">
                          <a:solidFill>
                            <a:srgbClr val="FFFFFF"/>
                          </a:solidFill>
                          <a:latin typeface="Calibri"/>
                        </a:rPr>
                        <a:t>Activo financiero</a:t>
                      </a:r>
                    </a:p>
                  </a:txBody>
                  <a:tcPr marL="54864" marR="54864" marT="27432" marB="27432" anchor="ctr">
                    <a:solidFill>
                      <a:srgbClr val="1E2761"/>
                    </a:solidFill>
                  </a:tcPr>
                </a:tc>
                <a:tc>
                  <a:txBody>
                    <a:bodyPr wrap="square"/>
                    <a:lstStyle/>
                    <a:p>
                      <a:pPr algn="l"/>
                      <a:r>
                        <a:rPr sz="1250" b="1" i="0">
                          <a:solidFill>
                            <a:srgbClr val="FFFFFF"/>
                          </a:solidFill>
                          <a:latin typeface="Calibri"/>
                        </a:rPr>
                        <a:t>Tipo</a:t>
                      </a:r>
                    </a:p>
                  </a:txBody>
                  <a:tcPr marL="54864" marR="54864" marT="27432" marB="27432" anchor="ctr">
                    <a:solidFill>
                      <a:srgbClr val="1E2761"/>
                    </a:solidFill>
                  </a:tcPr>
                </a:tc>
                <a:tc>
                  <a:txBody>
                    <a:bodyPr wrap="square"/>
                    <a:lstStyle/>
                    <a:p>
                      <a:pPr algn="l"/>
                      <a:r>
                        <a:rPr sz="1250" b="1" i="0">
                          <a:solidFill>
                            <a:srgbClr val="FFFFFF"/>
                          </a:solidFill>
                          <a:latin typeface="Calibri"/>
                        </a:rPr>
                        <a:t>¿Rendimiento estocástico?</a:t>
                      </a:r>
                    </a:p>
                  </a:txBody>
                  <a:tcPr marL="54864" marR="54864" marT="27432" marB="27432" anchor="ctr">
                    <a:solidFill>
                      <a:srgbClr val="1E2761"/>
                    </a:solidFill>
                  </a:tcPr>
                </a:tc>
              </a:tr>
              <a:tr h="327550">
                <a:tc>
                  <a:txBody>
                    <a:bodyPr wrap="square"/>
                    <a:lstStyle/>
                    <a:p>
                      <a:pPr algn="l"/>
                      <a:r>
                        <a:rPr sz="1250" b="0" i="0">
                          <a:solidFill>
                            <a:srgbClr val="27314D"/>
                          </a:solidFill>
                          <a:latin typeface="Calibri"/>
                        </a:rPr>
                        <a:t>CETE (Certificado de la Tesorería)</a:t>
                      </a:r>
                    </a:p>
                  </a:txBody>
                  <a:tcPr marL="54864" marR="54864" marT="27432" marB="27432" anchor="ctr">
                    <a:solidFill>
                      <a:srgbClr val="FFFFFF"/>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FFFFF"/>
                    </a:solidFill>
                  </a:tcPr>
                </a:tc>
                <a:tc>
                  <a:txBody>
                    <a:bodyPr wrap="square"/>
                    <a:lstStyle/>
                    <a:p>
                      <a:pPr algn="l"/>
                      <a:r>
                        <a:rPr sz="1250" b="0" i="0">
                          <a:solidFill>
                            <a:srgbClr val="27314D"/>
                          </a:solidFill>
                          <a:latin typeface="Calibri"/>
                        </a:rPr>
                        <a:t>No: se pacta a descuento; el monto a recibir al vencimiento se conoce desde la compra.</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Bono gubernamental (Bono M, UDIBONO)</a:t>
                      </a:r>
                    </a:p>
                  </a:txBody>
                  <a:tcPr marL="54864" marR="54864" marT="27432" marB="27432" anchor="ctr">
                    <a:solidFill>
                      <a:srgbClr val="F2F4FA"/>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2F4FA"/>
                    </a:solidFill>
                  </a:tcPr>
                </a:tc>
                <a:tc>
                  <a:txBody>
                    <a:bodyPr wrap="square"/>
                    <a:lstStyle/>
                    <a:p>
                      <a:pPr algn="l"/>
                      <a:r>
                        <a:rPr sz="1250" b="0" i="0">
                          <a:solidFill>
                            <a:srgbClr val="27314D"/>
                          </a:solidFill>
                          <a:latin typeface="Calibri"/>
                        </a:rPr>
                        <a:t>No: el cupón se fija desde la emisión.</a:t>
                      </a:r>
                    </a:p>
                  </a:txBody>
                  <a:tcPr marL="54864" marR="54864" marT="27432" marB="27432" anchor="ctr">
                    <a:solidFill>
                      <a:srgbClr val="F2F4FA"/>
                    </a:solidFill>
                  </a:tcPr>
                </a:tc>
              </a:tr>
              <a:tr h="327550">
                <a:tc>
                  <a:txBody>
                    <a:bodyPr wrap="square"/>
                    <a:lstStyle/>
                    <a:p>
                      <a:pPr algn="l"/>
                      <a:r>
                        <a:rPr sz="1250" b="0" i="0">
                          <a:solidFill>
                            <a:srgbClr val="27314D"/>
                          </a:solidFill>
                          <a:latin typeface="Calibri"/>
                        </a:rPr>
                        <a:t>Bono corporativo</a:t>
                      </a:r>
                    </a:p>
                  </a:txBody>
                  <a:tcPr marL="54864" marR="54864" marT="27432" marB="27432" anchor="ctr">
                    <a:solidFill>
                      <a:srgbClr val="FFFFFF"/>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FFFFF"/>
                    </a:solidFill>
                  </a:tcPr>
                </a:tc>
                <a:tc>
                  <a:txBody>
                    <a:bodyPr wrap="square"/>
                    <a:lstStyle/>
                    <a:p>
                      <a:pPr algn="l"/>
                      <a:r>
                        <a:rPr sz="1250" b="0" i="0">
                          <a:solidFill>
                            <a:srgbClr val="27314D"/>
                          </a:solidFill>
                          <a:latin typeface="Calibri"/>
                        </a:rPr>
                        <a:t>No: el cupón se pacta desde la emisión.</a:t>
                      </a:r>
                    </a:p>
                  </a:txBody>
                  <a:tcPr marL="54864" marR="54864" marT="27432" marB="27432" anchor="ctr">
                    <a:solidFill>
                      <a:srgbClr val="FFFFFF"/>
                    </a:solidFill>
                  </a:tcPr>
                </a:tc>
              </a:tr>
              <a:tr h="327550">
                <a:tc>
                  <a:txBody>
                    <a:bodyPr wrap="square"/>
                    <a:lstStyle/>
                    <a:p>
                      <a:pPr algn="l"/>
                      <a:r>
                        <a:rPr sz="1250" b="0" i="0">
                          <a:solidFill>
                            <a:srgbClr val="27314D"/>
                          </a:solidFill>
                          <a:latin typeface="Calibri"/>
                        </a:rPr>
                        <a:t>Papel comercial</a:t>
                      </a:r>
                    </a:p>
                  </a:txBody>
                  <a:tcPr marL="54864" marR="54864" marT="27432" marB="27432" anchor="ctr">
                    <a:solidFill>
                      <a:srgbClr val="F2F4FA"/>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2F4FA"/>
                    </a:solidFill>
                  </a:tcPr>
                </a:tc>
                <a:tc>
                  <a:txBody>
                    <a:bodyPr wrap="square"/>
                    <a:lstStyle/>
                    <a:p>
                      <a:pPr algn="l"/>
                      <a:r>
                        <a:rPr sz="1250" b="0" i="0">
                          <a:solidFill>
                            <a:srgbClr val="27314D"/>
                          </a:solidFill>
                          <a:latin typeface="Calibri"/>
                        </a:rPr>
                        <a:t>No: se pacta a descuento, igual que el CETE.</a:t>
                      </a:r>
                    </a:p>
                  </a:txBody>
                  <a:tcPr marL="54864" marR="54864" marT="27432" marB="27432" anchor="ctr">
                    <a:solidFill>
                      <a:srgbClr val="F2F4FA"/>
                    </a:solidFill>
                  </a:tcPr>
                </a:tc>
              </a:tr>
              <a:tr h="327550">
                <a:tc>
                  <a:txBody>
                    <a:bodyPr wrap="square"/>
                    <a:lstStyle/>
                    <a:p>
                      <a:pPr algn="l"/>
                      <a:r>
                        <a:rPr sz="1250" b="0" i="0">
                          <a:solidFill>
                            <a:srgbClr val="27314D"/>
                          </a:solidFill>
                          <a:latin typeface="Calibri"/>
                        </a:rPr>
                        <a:t>Certificado bursátil</a:t>
                      </a:r>
                    </a:p>
                  </a:txBody>
                  <a:tcPr marL="54864" marR="54864" marT="27432" marB="27432" anchor="ctr">
                    <a:solidFill>
                      <a:srgbClr val="FFFFFF"/>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FFFFF"/>
                    </a:solidFill>
                  </a:tcPr>
                </a:tc>
                <a:tc>
                  <a:txBody>
                    <a:bodyPr wrap="square"/>
                    <a:lstStyle/>
                    <a:p>
                      <a:pPr algn="l"/>
                      <a:r>
                        <a:rPr sz="1250" b="0" i="0">
                          <a:solidFill>
                            <a:srgbClr val="27314D"/>
                          </a:solidFill>
                          <a:latin typeface="Calibri"/>
                        </a:rPr>
                        <a:t>No: el cupón se pacta desde la emisión.</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Acción común o preferente</a:t>
                      </a:r>
                    </a:p>
                  </a:txBody>
                  <a:tcPr marL="54864" marR="54864" marT="27432" marB="27432" anchor="ctr">
                    <a:solidFill>
                      <a:srgbClr val="F2F4FA"/>
                    </a:solidFill>
                  </a:tcPr>
                </a:tc>
                <a:tc>
                  <a:txBody>
                    <a:bodyPr wrap="square"/>
                    <a:lstStyle/>
                    <a:p>
                      <a:pPr algn="l"/>
                      <a:r>
                        <a:rPr sz="1250" b="0" i="0">
                          <a:solidFill>
                            <a:srgbClr val="27314D"/>
                          </a:solidFill>
                          <a:latin typeface="Calibri"/>
                        </a:rPr>
                        <a:t>Participación de capital</a:t>
                      </a:r>
                    </a:p>
                  </a:txBody>
                  <a:tcPr marL="54864" marR="54864" marT="27432" marB="27432" anchor="ctr">
                    <a:solidFill>
                      <a:srgbClr val="F2F4FA"/>
                    </a:solidFill>
                  </a:tcPr>
                </a:tc>
                <a:tc>
                  <a:txBody>
                    <a:bodyPr wrap="square"/>
                    <a:lstStyle/>
                    <a:p>
                      <a:pPr algn="l"/>
                      <a:r>
                        <a:rPr sz="1250" b="0" i="0">
                          <a:solidFill>
                            <a:srgbClr val="27314D"/>
                          </a:solidFill>
                          <a:latin typeface="Calibri"/>
                        </a:rPr>
                        <a:t>Sí: ni los dividendos ni el precio de venta futuro se conocen de antemano.</a:t>
                      </a:r>
                    </a:p>
                  </a:txBody>
                  <a:tcPr marL="54864" marR="54864" marT="27432" marB="27432" anchor="ctr">
                    <a:solidFill>
                      <a:srgbClr val="F2F4FA"/>
                    </a:solidFill>
                  </a:tcPr>
                </a:tc>
              </a:tr>
              <a:tr h="537100">
                <a:tc>
                  <a:txBody>
                    <a:bodyPr wrap="square"/>
                    <a:lstStyle/>
                    <a:p>
                      <a:pPr algn="l"/>
                      <a:r>
                        <a:rPr sz="1250" b="0" i="0">
                          <a:solidFill>
                            <a:srgbClr val="27314D"/>
                          </a:solidFill>
                          <a:latin typeface="Calibri"/>
                        </a:rPr>
                        <a:t>FIBRA (certificado del fideicomiso)</a:t>
                      </a:r>
                    </a:p>
                  </a:txBody>
                  <a:tcPr marL="54864" marR="54864" marT="27432" marB="27432" anchor="ctr">
                    <a:solidFill>
                      <a:srgbClr val="FFFFFF"/>
                    </a:solidFill>
                  </a:tcPr>
                </a:tc>
                <a:tc>
                  <a:txBody>
                    <a:bodyPr wrap="square"/>
                    <a:lstStyle/>
                    <a:p>
                      <a:pPr algn="l"/>
                      <a:r>
                        <a:rPr sz="1250" b="0" i="0">
                          <a:solidFill>
                            <a:srgbClr val="27314D"/>
                          </a:solidFill>
                          <a:latin typeface="Calibri"/>
                        </a:rPr>
                        <a:t>Participación de capital</a:t>
                      </a:r>
                    </a:p>
                  </a:txBody>
                  <a:tcPr marL="54864" marR="54864" marT="27432" marB="27432" anchor="ctr">
                    <a:solidFill>
                      <a:srgbClr val="FFFFFF"/>
                    </a:solidFill>
                  </a:tcPr>
                </a:tc>
                <a:tc>
                  <a:txBody>
                    <a:bodyPr wrap="square"/>
                    <a:lstStyle/>
                    <a:p>
                      <a:pPr algn="l"/>
                      <a:r>
                        <a:rPr sz="1250" b="0" i="0">
                          <a:solidFill>
                            <a:srgbClr val="27314D"/>
                          </a:solidFill>
                          <a:latin typeface="Calibri"/>
                        </a:rPr>
                        <a:t>Sí: las distribuciones dependen de la renta que generen los inmuebles, y el precio del certificado fluctúa.</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CKD (Certificado de Capital de Desarrollo)</a:t>
                      </a:r>
                    </a:p>
                  </a:txBody>
                  <a:tcPr marL="54864" marR="54864" marT="27432" marB="27432" anchor="ctr">
                    <a:solidFill>
                      <a:srgbClr val="F2F4FA"/>
                    </a:solidFill>
                  </a:tcPr>
                </a:tc>
                <a:tc>
                  <a:txBody>
                    <a:bodyPr wrap="square"/>
                    <a:lstStyle/>
                    <a:p>
                      <a:pPr algn="l"/>
                      <a:r>
                        <a:rPr sz="1250" b="0" i="0">
                          <a:solidFill>
                            <a:srgbClr val="27314D"/>
                          </a:solidFill>
                          <a:latin typeface="Calibri"/>
                        </a:rPr>
                        <a:t>Participación de capital</a:t>
                      </a:r>
                    </a:p>
                  </a:txBody>
                  <a:tcPr marL="54864" marR="54864" marT="27432" marB="27432" anchor="ctr">
                    <a:solidFill>
                      <a:srgbClr val="F2F4FA"/>
                    </a:solidFill>
                  </a:tcPr>
                </a:tc>
                <a:tc>
                  <a:txBody>
                    <a:bodyPr wrap="square"/>
                    <a:lstStyle/>
                    <a:p>
                      <a:pPr algn="l"/>
                      <a:r>
                        <a:rPr sz="1250" b="0" i="0">
                          <a:solidFill>
                            <a:srgbClr val="27314D"/>
                          </a:solidFill>
                          <a:latin typeface="Calibri"/>
                        </a:rPr>
                        <a:t>Sí: depende del desempeño de los proyectos de infraestructura o capital privado que financia; ni el monto ni el momento están garantizados.</a:t>
                      </a:r>
                    </a:p>
                  </a:txBody>
                  <a:tcPr marL="54864" marR="54864" marT="27432" marB="27432" anchor="ctr">
                    <a:solidFill>
                      <a:srgbClr val="F2F4FA"/>
                    </a:solidFill>
                  </a:tcPr>
                </a:tc>
              </a:tr>
              <a:tr h="537100">
                <a:tc>
                  <a:txBody>
                    <a:bodyPr wrap="square"/>
                    <a:lstStyle/>
                    <a:p>
                      <a:pPr algn="l"/>
                      <a:r>
                        <a:rPr sz="1250" b="0" i="0">
                          <a:solidFill>
                            <a:srgbClr val="27314D"/>
                          </a:solidFill>
                          <a:latin typeface="Calibri"/>
                        </a:rPr>
                        <a:t>CERPI (Certificado de Proyectos de Inversión)</a:t>
                      </a:r>
                    </a:p>
                  </a:txBody>
                  <a:tcPr marL="54864" marR="54864" marT="27432" marB="27432" anchor="ctr">
                    <a:solidFill>
                      <a:srgbClr val="FFFFFF"/>
                    </a:solidFill>
                  </a:tcPr>
                </a:tc>
                <a:tc>
                  <a:txBody>
                    <a:bodyPr wrap="square"/>
                    <a:lstStyle/>
                    <a:p>
                      <a:pPr algn="l"/>
                      <a:r>
                        <a:rPr sz="1250" b="0" i="0">
                          <a:solidFill>
                            <a:srgbClr val="27314D"/>
                          </a:solidFill>
                          <a:latin typeface="Calibri"/>
                        </a:rPr>
                        <a:t>Participación de capital</a:t>
                      </a:r>
                    </a:p>
                  </a:txBody>
                  <a:tcPr marL="54864" marR="54864" marT="27432" marB="27432" anchor="ctr">
                    <a:solidFill>
                      <a:srgbClr val="FFFFFF"/>
                    </a:solidFill>
                  </a:tcPr>
                </a:tc>
                <a:tc>
                  <a:txBody>
                    <a:bodyPr wrap="square"/>
                    <a:lstStyle/>
                    <a:p>
                      <a:pPr algn="l"/>
                      <a:r>
                        <a:rPr sz="1250" b="0" i="0">
                          <a:solidFill>
                            <a:srgbClr val="27314D"/>
                          </a:solidFill>
                          <a:latin typeface="Calibri"/>
                        </a:rPr>
                        <a:t>Sí: mismo mecanismo que el CKD, típicamente para proyectos en el extranjero.</a:t>
                      </a:r>
                    </a:p>
                  </a:txBody>
                  <a:tcPr marL="54864" marR="54864"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Dos caminos para el crédito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07</a:t>
            </a:r>
          </a:p>
        </p:txBody>
      </p:sp>
      <p:graphicFrame>
        <p:nvGraphicFramePr>
          <p:cNvPr id="5" name="Table 4"/>
          <p:cNvGraphicFramePr>
            <a:graphicFrameLocks noGrp="1"/>
          </p:cNvGraphicFramePr>
          <p:nvPr/>
        </p:nvGraphicFramePr>
        <p:xfrm>
          <a:off x="640080" y="1539808"/>
          <a:ext cx="10911840" cy="2484332"/>
        </p:xfrm>
        <a:graphic>
          <a:graphicData uri="http://schemas.openxmlformats.org/drawingml/2006/table">
            <a:tbl>
              <a:tblPr>
                <a:tableStyleId>{2D5ABB26-0587-4C30-8999-92F81FD0307C}</a:tableStyleId>
              </a:tblPr>
              <a:tblGrid>
                <a:gridCol w="3167953"/>
                <a:gridCol w="997318"/>
                <a:gridCol w="6746569"/>
              </a:tblGrid>
              <a:tr h="335932">
                <a:tc>
                  <a:txBody>
                    <a:bodyPr wrap="square"/>
                    <a:lstStyle/>
                    <a:p>
                      <a:pPr algn="l"/>
                      <a:r>
                        <a:rPr sz="1250" b="1" i="0">
                          <a:solidFill>
                            <a:srgbClr val="FFFFFF"/>
                          </a:solidFill>
                          <a:latin typeface="Calibri"/>
                        </a:rPr>
                        <a:t>Activo financiero</a:t>
                      </a:r>
                    </a:p>
                  </a:txBody>
                  <a:tcPr marL="54864" marR="54864" marT="27432" marB="27432" anchor="ctr">
                    <a:solidFill>
                      <a:srgbClr val="1E2761"/>
                    </a:solidFill>
                  </a:tcPr>
                </a:tc>
                <a:tc>
                  <a:txBody>
                    <a:bodyPr wrap="square"/>
                    <a:lstStyle/>
                    <a:p>
                      <a:pPr algn="l"/>
                      <a:r>
                        <a:rPr sz="1250" b="1" i="0">
                          <a:solidFill>
                            <a:srgbClr val="FFFFFF"/>
                          </a:solidFill>
                          <a:latin typeface="Calibri"/>
                        </a:rPr>
                        <a:t>Tipo</a:t>
                      </a:r>
                    </a:p>
                  </a:txBody>
                  <a:tcPr marL="54864" marR="54864" marT="27432" marB="27432" anchor="ctr">
                    <a:solidFill>
                      <a:srgbClr val="1E2761"/>
                    </a:solidFill>
                  </a:tcPr>
                </a:tc>
                <a:tc>
                  <a:txBody>
                    <a:bodyPr wrap="square"/>
                    <a:lstStyle/>
                    <a:p>
                      <a:pPr algn="l"/>
                      <a:r>
                        <a:rPr sz="1250" b="1" i="0">
                          <a:solidFill>
                            <a:srgbClr val="FFFFFF"/>
                          </a:solidFill>
                          <a:latin typeface="Calibri"/>
                        </a:rPr>
                        <a:t>¿Rendimiento estocástico?</a:t>
                      </a:r>
                    </a:p>
                  </a:txBody>
                  <a:tcPr marL="54864" marR="54864" marT="27432" marB="27432" anchor="ctr">
                    <a:solidFill>
                      <a:srgbClr val="1E2761"/>
                    </a:solidFill>
                  </a:tcPr>
                </a:tc>
              </a:tr>
              <a:tr h="537100">
                <a:tc>
                  <a:txBody>
                    <a:bodyPr wrap="square"/>
                    <a:lstStyle/>
                    <a:p>
                      <a:pPr algn="l"/>
                      <a:r>
                        <a:rPr sz="1250" b="0" i="0">
                          <a:solidFill>
                            <a:srgbClr val="27314D"/>
                          </a:solidFill>
                          <a:latin typeface="Calibri"/>
                        </a:rPr>
                        <a:t>Certificado bursátil a tasa variable (indexado a TIIE)</a:t>
                      </a:r>
                    </a:p>
                  </a:txBody>
                  <a:tcPr marL="54864" marR="54864" marT="27432" marB="27432" anchor="ctr">
                    <a:solidFill>
                      <a:srgbClr val="FFFFFF"/>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FFFFF"/>
                    </a:solidFill>
                  </a:tcPr>
                </a:tc>
                <a:tc>
                  <a:txBody>
                    <a:bodyPr wrap="square"/>
                    <a:lstStyle/>
                    <a:p>
                      <a:pPr algn="l"/>
                      <a:r>
                        <a:rPr sz="1250" b="0" i="0">
                          <a:solidFill>
                            <a:srgbClr val="27314D"/>
                          </a:solidFill>
                          <a:latin typeface="Calibri"/>
                        </a:rPr>
                        <a:t>Sí: el capital se debe igual, pero el monto de cada cupón cambia con la tasa de referencia; ver apéndice de riesgo.</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Pagaré entre particulares</a:t>
                      </a:r>
                    </a:p>
                  </a:txBody>
                  <a:tcPr marL="54864" marR="54864" marT="27432" marB="27432" anchor="ctr">
                    <a:solidFill>
                      <a:srgbClr val="F2F4FA"/>
                    </a:solidFill>
                  </a:tcPr>
                </a:tc>
                <a:tc>
                  <a:txBody>
                    <a:bodyPr wrap="square"/>
                    <a:lstStyle/>
                    <a:p>
                      <a:pPr algn="l"/>
                      <a:r>
                        <a:rPr sz="1250" b="0" i="0">
                          <a:solidFill>
                            <a:srgbClr val="27314D"/>
                          </a:solidFill>
                          <a:latin typeface="Calibri"/>
                        </a:rPr>
                        <a:t>Crédito directo</a:t>
                      </a:r>
                    </a:p>
                  </a:txBody>
                  <a:tcPr marL="54864" marR="54864" marT="27432" marB="27432" anchor="ctr">
                    <a:solidFill>
                      <a:srgbClr val="F2F4FA"/>
                    </a:solidFill>
                  </a:tcPr>
                </a:tc>
                <a:tc>
                  <a:txBody>
                    <a:bodyPr wrap="square"/>
                    <a:lstStyle/>
                    <a:p>
                      <a:pPr algn="l"/>
                      <a:r>
                        <a:rPr sz="1250" b="0" i="0">
                          <a:solidFill>
                            <a:srgbClr val="27314D"/>
                          </a:solidFill>
                          <a:latin typeface="Calibri"/>
                        </a:rPr>
                        <a:t>No: el monto a devolver se pacta desde la firma.</a:t>
                      </a:r>
                    </a:p>
                  </a:txBody>
                  <a:tcPr marL="54864" marR="54864" marT="27432" marB="27432" anchor="ctr">
                    <a:solidFill>
                      <a:srgbClr val="F2F4FA"/>
                    </a:solidFill>
                  </a:tcPr>
                </a:tc>
              </a:tr>
              <a:tr h="537100">
                <a:tc>
                  <a:txBody>
                    <a:bodyPr wrap="square"/>
                    <a:lstStyle/>
                    <a:p>
                      <a:pPr algn="l"/>
                      <a:r>
                        <a:rPr sz="1250" b="0" i="0">
                          <a:solidFill>
                            <a:srgbClr val="27314D"/>
                          </a:solidFill>
                          <a:latin typeface="Calibri"/>
                        </a:rPr>
                        <a:t>Cuenta de ahorro / depósito a plazo</a:t>
                      </a:r>
                    </a:p>
                  </a:txBody>
                  <a:tcPr marL="54864" marR="54864" marT="27432" marB="27432" anchor="ctr">
                    <a:solidFill>
                      <a:srgbClr val="FFFFFF"/>
                    </a:solidFill>
                  </a:tcPr>
                </a:tc>
                <a:tc>
                  <a:txBody>
                    <a:bodyPr wrap="square"/>
                    <a:lstStyle/>
                    <a:p>
                      <a:pPr algn="l"/>
                      <a:r>
                        <a:rPr sz="1250" b="0" i="0">
                          <a:solidFill>
                            <a:srgbClr val="27314D"/>
                          </a:solidFill>
                          <a:latin typeface="Calibri"/>
                        </a:rPr>
                        <a:t>Crédito indirecto</a:t>
                      </a:r>
                    </a:p>
                  </a:txBody>
                  <a:tcPr marL="54864" marR="54864" marT="27432" marB="27432" anchor="ctr">
                    <a:solidFill>
                      <a:srgbClr val="FFFFFF"/>
                    </a:solidFill>
                  </a:tcPr>
                </a:tc>
                <a:tc>
                  <a:txBody>
                    <a:bodyPr wrap="square"/>
                    <a:lstStyle/>
                    <a:p>
                      <a:pPr algn="l"/>
                      <a:r>
                        <a:rPr sz="1250" b="0" i="0">
                          <a:solidFill>
                            <a:srgbClr val="27314D"/>
                          </a:solidFill>
                          <a:latin typeface="Calibri"/>
                        </a:rPr>
                        <a:t>No: la tasa se pacta desde el depósito.</a:t>
                      </a:r>
                    </a:p>
                  </a:txBody>
                  <a:tcPr marL="54864" marR="54864" marT="27432" marB="27432" anchor="ctr">
                    <a:solidFill>
                      <a:srgbClr val="FFFFFF"/>
                    </a:solidFill>
                  </a:tcPr>
                </a:tc>
              </a:tr>
              <a:tr h="537100">
                <a:tc>
                  <a:txBody>
                    <a:bodyPr wrap="square"/>
                    <a:lstStyle/>
                    <a:p>
                      <a:pPr algn="l"/>
                      <a:r>
                        <a:rPr sz="1250" b="0" i="0">
                          <a:solidFill>
                            <a:srgbClr val="27314D"/>
                          </a:solidFill>
                          <a:latin typeface="Calibri"/>
                        </a:rPr>
                        <a:t>Crédito hipotecario (visto desde el banco)</a:t>
                      </a:r>
                    </a:p>
                  </a:txBody>
                  <a:tcPr marL="54864" marR="54864" marT="27432" marB="27432" anchor="ctr">
                    <a:solidFill>
                      <a:srgbClr val="F2F4FA"/>
                    </a:solidFill>
                  </a:tcPr>
                </a:tc>
                <a:tc>
                  <a:txBody>
                    <a:bodyPr wrap="square"/>
                    <a:lstStyle/>
                    <a:p>
                      <a:pPr algn="l"/>
                      <a:r>
                        <a:rPr sz="1250" b="0" i="0">
                          <a:solidFill>
                            <a:srgbClr val="27314D"/>
                          </a:solidFill>
                          <a:latin typeface="Calibri"/>
                        </a:rPr>
                        <a:t>Crédito indirecto</a:t>
                      </a:r>
                    </a:p>
                  </a:txBody>
                  <a:tcPr marL="54864" marR="54864" marT="27432" marB="27432" anchor="ctr">
                    <a:solidFill>
                      <a:srgbClr val="F2F4FA"/>
                    </a:solidFill>
                  </a:tcPr>
                </a:tc>
                <a:tc>
                  <a:txBody>
                    <a:bodyPr wrap="square"/>
                    <a:lstStyle/>
                    <a:p>
                      <a:pPr algn="l"/>
                      <a:r>
                        <a:rPr sz="1250" b="0" i="0">
                          <a:solidFill>
                            <a:srgbClr val="27314D"/>
                          </a:solidFill>
                          <a:latin typeface="Calibri"/>
                        </a:rPr>
                        <a:t>No: las mensualidades se pactan desde el crédito.</a:t>
                      </a:r>
                    </a:p>
                  </a:txBody>
                  <a:tcPr marL="54864" marR="54864" marT="27432" marB="27432" anchor="ctr">
                    <a:solidFill>
                      <a:srgbClr val="F2F4FA"/>
                    </a:solidFill>
                  </a:tcPr>
                </a:tc>
              </a:tr>
            </a:tbl>
          </a:graphicData>
        </a:graphic>
      </p:graphicFrame>
      <p:sp>
        <p:nvSpPr>
          <p:cNvPr id="6" name="Rounded Rectangle 5"/>
          <p:cNvSpPr/>
          <p:nvPr/>
        </p:nvSpPr>
        <p:spPr>
          <a:xfrm>
            <a:off x="640080" y="4114140"/>
            <a:ext cx="10911840" cy="1406640"/>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4114140"/>
            <a:ext cx="45720" cy="1406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0080" y="4254140"/>
            <a:ext cx="10551840" cy="1086640"/>
          </a:xfrm>
          <a:prstGeom prst="rect">
            <a:avLst/>
          </a:prstGeom>
          <a:noFill/>
        </p:spPr>
        <p:txBody>
          <a:bodyPr wrap="square" lIns="0" rIns="0" tIns="0" bIns="0">
            <a:spAutoFit/>
          </a:bodyPr>
          <a:lstStyle/>
          <a:p>
            <a:pPr algn="l"/>
            <a:r>
              <a:rPr sz="1300" b="0" i="0">
                <a:solidFill>
                  <a:srgbClr val="1E2761"/>
                </a:solidFill>
                <a:latin typeface="Calibri"/>
              </a:rPr>
              <a:t>"No estocástico" se refiere al </a:t>
            </a:r>
            <a:r>
              <a:rPr sz="1300" b="1" i="0">
                <a:solidFill>
                  <a:srgbClr val="1E2761"/>
                </a:solidFill>
                <a:latin typeface="Calibri"/>
              </a:rPr>
              <a:t>monto prometido</a:t>
            </a:r>
            <a:r>
              <a:rPr sz="1300" b="0" i="0">
                <a:solidFill>
                  <a:srgbClr val="1E2761"/>
                </a:solidFill>
                <a:latin typeface="Calibri"/>
              </a:rPr>
              <a:t>, no a que el instrumento esté libre de riesgo [incumplimiento] (ver apéndice). Nota también el patrón: la mayoría de la deuda (crédito directo o indirecto) es </a:t>
            </a:r>
            <a:r>
              <a:rPr sz="1300" b="1" i="0">
                <a:solidFill>
                  <a:srgbClr val="1E2761"/>
                </a:solidFill>
                <a:latin typeface="Calibri"/>
              </a:rPr>
              <a:t>renta fija</a:t>
            </a:r>
            <a:r>
              <a:rPr sz="1300" b="0" i="0">
                <a:solidFill>
                  <a:srgbClr val="1E2761"/>
                </a:solidFill>
                <a:latin typeface="Calibri"/>
              </a:rPr>
              <a:t>, de ahí el nombre del mercado de deuda; la participación de capital es </a:t>
            </a:r>
            <a:r>
              <a:rPr sz="1300" b="1" i="0">
                <a:solidFill>
                  <a:srgbClr val="1E2761"/>
                </a:solidFill>
                <a:latin typeface="Calibri"/>
              </a:rPr>
              <a:t>renta variable</a:t>
            </a:r>
            <a:r>
              <a:rPr sz="1300" b="0" i="0">
                <a:solidFill>
                  <a:srgbClr val="1E2761"/>
                </a:solidFill>
                <a:latin typeface="Calibri"/>
              </a:rPr>
              <a:t>, de ahí que el mercado de capitales también se conozca así. El certificado bursátil a tasa variable es la excepción que confirma la regla: sigue siendo deuda (el capital se debe sin importar qué pase), pero el monto del cupón sí es estocástico porque depende de una tasa de referencia futura. Se retoma en las unidades 2 y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El ciclo de captación-colocación</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08</a:t>
            </a:r>
          </a:p>
        </p:txBody>
      </p:sp>
      <p:sp>
        <p:nvSpPr>
          <p:cNvPr id="5" name="TextBox 4"/>
          <p:cNvSpPr txBox="1"/>
          <p:nvPr/>
        </p:nvSpPr>
        <p:spPr>
          <a:xfrm>
            <a:off x="640080" y="1539808"/>
            <a:ext cx="10911840" cy="281968"/>
          </a:xfrm>
          <a:prstGeom prst="rect">
            <a:avLst/>
          </a:prstGeom>
          <a:noFill/>
        </p:spPr>
        <p:txBody>
          <a:bodyPr wrap="square" lIns="0" rIns="0" tIns="0" bIns="0">
            <a:spAutoFit/>
          </a:bodyPr>
          <a:lstStyle/>
          <a:p>
            <a:pPr algn="l"/>
            <a:r>
              <a:rPr sz="1550" b="0" i="0">
                <a:solidFill>
                  <a:srgbClr val="5B6482"/>
                </a:solidFill>
                <a:latin typeface="Calibri"/>
              </a:rPr>
              <a:t>Ya vimos que en el crédito indirecto el banco absorbe el riesgo; así es como conecta al ahorrador con el deudor, paso a paso:</a:t>
            </a:r>
          </a:p>
        </p:txBody>
      </p:sp>
      <p:sp>
        <p:nvSpPr>
          <p:cNvPr id="6" name="TextBox 5"/>
          <p:cNvSpPr txBox="1"/>
          <p:nvPr/>
        </p:nvSpPr>
        <p:spPr>
          <a:xfrm>
            <a:off x="640080" y="1951776"/>
            <a:ext cx="260000" cy="493912"/>
          </a:xfrm>
          <a:prstGeom prst="rect">
            <a:avLst/>
          </a:prstGeom>
          <a:noFill/>
        </p:spPr>
        <p:txBody>
          <a:bodyPr wrap="square" lIns="0" rIns="0" tIns="0" bIns="0">
            <a:spAutoFit/>
          </a:bodyPr>
          <a:lstStyle/>
          <a:p>
            <a:pPr algn="l"/>
            <a:r>
              <a:rPr sz="1350" b="1" i="0">
                <a:solidFill>
                  <a:srgbClr val="C9A227"/>
                </a:solidFill>
                <a:latin typeface="Calibri"/>
              </a:rPr>
              <a:t>1.</a:t>
            </a:r>
          </a:p>
        </p:txBody>
      </p:sp>
      <p:sp>
        <p:nvSpPr>
          <p:cNvPr id="7" name="TextBox 6"/>
          <p:cNvSpPr txBox="1"/>
          <p:nvPr/>
        </p:nvSpPr>
        <p:spPr>
          <a:xfrm>
            <a:off x="900080" y="1951776"/>
            <a:ext cx="10651840" cy="493912"/>
          </a:xfrm>
          <a:prstGeom prst="rect">
            <a:avLst/>
          </a:prstGeom>
          <a:noFill/>
        </p:spPr>
        <p:txBody>
          <a:bodyPr wrap="square" lIns="0" rIns="0" tIns="0" bIns="0">
            <a:spAutoFit/>
          </a:bodyPr>
          <a:lstStyle/>
          <a:p>
            <a:pPr algn="l"/>
            <a:r>
              <a:rPr sz="1350" b="1" i="0">
                <a:solidFill>
                  <a:srgbClr val="27314D"/>
                </a:solidFill>
                <a:latin typeface="Calibri"/>
              </a:rPr>
              <a:t>Captación de recursos</a:t>
            </a:r>
            <a:r>
              <a:rPr sz="1350" b="0" i="0">
                <a:solidFill>
                  <a:srgbClr val="27314D"/>
                </a:solidFill>
                <a:latin typeface="Calibri"/>
              </a:rPr>
              <a:t>: el banco capta recursos del ahorrador (depósitos, pagarés, certificados) y se compromete a devolverlos con un rendimiento: la </a:t>
            </a:r>
            <a:r>
              <a:rPr sz="1350" b="1" i="0">
                <a:solidFill>
                  <a:srgbClr val="27314D"/>
                </a:solidFill>
                <a:latin typeface="Calibri"/>
              </a:rPr>
              <a:t>tasa pasiva</a:t>
            </a:r>
            <a:r>
              <a:rPr sz="1350" b="0" i="0">
                <a:solidFill>
                  <a:srgbClr val="27314D"/>
                </a:solidFill>
                <a:latin typeface="Calibri"/>
              </a:rPr>
              <a:t>.</a:t>
            </a:r>
          </a:p>
        </p:txBody>
      </p:sp>
      <p:sp>
        <p:nvSpPr>
          <p:cNvPr id="8" name="TextBox 7"/>
          <p:cNvSpPr txBox="1"/>
          <p:nvPr/>
        </p:nvSpPr>
        <p:spPr>
          <a:xfrm>
            <a:off x="640080" y="2445688"/>
            <a:ext cx="260000" cy="493912"/>
          </a:xfrm>
          <a:prstGeom prst="rect">
            <a:avLst/>
          </a:prstGeom>
          <a:noFill/>
        </p:spPr>
        <p:txBody>
          <a:bodyPr wrap="square" lIns="0" rIns="0" tIns="0" bIns="0">
            <a:spAutoFit/>
          </a:bodyPr>
          <a:lstStyle/>
          <a:p>
            <a:pPr algn="l"/>
            <a:r>
              <a:rPr sz="1350" b="1" i="0">
                <a:solidFill>
                  <a:srgbClr val="C9A227"/>
                </a:solidFill>
                <a:latin typeface="Calibri"/>
              </a:rPr>
              <a:t>2.</a:t>
            </a:r>
          </a:p>
        </p:txBody>
      </p:sp>
      <p:sp>
        <p:nvSpPr>
          <p:cNvPr id="9" name="TextBox 8"/>
          <p:cNvSpPr txBox="1"/>
          <p:nvPr/>
        </p:nvSpPr>
        <p:spPr>
          <a:xfrm>
            <a:off x="900080" y="2445688"/>
            <a:ext cx="10651840" cy="493912"/>
          </a:xfrm>
          <a:prstGeom prst="rect">
            <a:avLst/>
          </a:prstGeom>
          <a:noFill/>
        </p:spPr>
        <p:txBody>
          <a:bodyPr wrap="square" lIns="0" rIns="0" tIns="0" bIns="0">
            <a:spAutoFit/>
          </a:bodyPr>
          <a:lstStyle/>
          <a:p>
            <a:pPr algn="l"/>
            <a:r>
              <a:rPr sz="1350" b="1" i="0">
                <a:solidFill>
                  <a:srgbClr val="27314D"/>
                </a:solidFill>
                <a:latin typeface="Calibri"/>
              </a:rPr>
              <a:t>Colocación del crédito</a:t>
            </a:r>
            <a:r>
              <a:rPr sz="1350" b="0" i="0">
                <a:solidFill>
                  <a:srgbClr val="27314D"/>
                </a:solidFill>
                <a:latin typeface="Calibri"/>
              </a:rPr>
              <a:t>: el banco presta esos recursos a empresas, personas o gobierno cobrando una </a:t>
            </a:r>
            <a:r>
              <a:rPr sz="1350" b="1" i="0">
                <a:solidFill>
                  <a:srgbClr val="27314D"/>
                </a:solidFill>
                <a:latin typeface="Calibri"/>
              </a:rPr>
              <a:t>tasa activa</a:t>
            </a:r>
            <a:r>
              <a:rPr sz="1350" b="0" i="0">
                <a:solidFill>
                  <a:srgbClr val="27314D"/>
                </a:solidFill>
                <a:latin typeface="Calibri"/>
              </a:rPr>
              <a:t>, mayor a la pasiva, y asume el riesgo de crédito.</a:t>
            </a:r>
          </a:p>
        </p:txBody>
      </p:sp>
      <p:sp>
        <p:nvSpPr>
          <p:cNvPr id="10" name="TextBox 9"/>
          <p:cNvSpPr txBox="1"/>
          <p:nvPr/>
        </p:nvSpPr>
        <p:spPr>
          <a:xfrm>
            <a:off x="640080" y="2939600"/>
            <a:ext cx="260000" cy="274456"/>
          </a:xfrm>
          <a:prstGeom prst="rect">
            <a:avLst/>
          </a:prstGeom>
          <a:noFill/>
        </p:spPr>
        <p:txBody>
          <a:bodyPr wrap="square" lIns="0" rIns="0" tIns="0" bIns="0">
            <a:spAutoFit/>
          </a:bodyPr>
          <a:lstStyle/>
          <a:p>
            <a:pPr algn="l"/>
            <a:r>
              <a:rPr sz="1350" b="1" i="0">
                <a:solidFill>
                  <a:srgbClr val="C9A227"/>
                </a:solidFill>
                <a:latin typeface="Calibri"/>
              </a:rPr>
              <a:t>3.</a:t>
            </a:r>
          </a:p>
        </p:txBody>
      </p:sp>
      <p:sp>
        <p:nvSpPr>
          <p:cNvPr id="11" name="TextBox 10"/>
          <p:cNvSpPr txBox="1"/>
          <p:nvPr/>
        </p:nvSpPr>
        <p:spPr>
          <a:xfrm>
            <a:off x="900080" y="2939600"/>
            <a:ext cx="10651840" cy="274456"/>
          </a:xfrm>
          <a:prstGeom prst="rect">
            <a:avLst/>
          </a:prstGeom>
          <a:noFill/>
        </p:spPr>
        <p:txBody>
          <a:bodyPr wrap="square" lIns="0" rIns="0" tIns="0" bIns="0">
            <a:spAutoFit/>
          </a:bodyPr>
          <a:lstStyle/>
          <a:p>
            <a:pPr algn="l"/>
            <a:r>
              <a:rPr sz="1350" b="1" i="0">
                <a:solidFill>
                  <a:srgbClr val="27314D"/>
                </a:solidFill>
                <a:latin typeface="Calibri"/>
              </a:rPr>
              <a:t>Recuperación del crédito</a:t>
            </a:r>
            <a:r>
              <a:rPr sz="1350" b="0" i="0">
                <a:solidFill>
                  <a:srgbClr val="27314D"/>
                </a:solidFill>
                <a:latin typeface="Calibri"/>
              </a:rPr>
              <a:t>: el deudor devuelve al banco el capital más los intereses pactados conforme transcurre el plazo del crédito.</a:t>
            </a:r>
          </a:p>
        </p:txBody>
      </p:sp>
      <p:sp>
        <p:nvSpPr>
          <p:cNvPr id="12" name="TextBox 11"/>
          <p:cNvSpPr txBox="1"/>
          <p:nvPr/>
        </p:nvSpPr>
        <p:spPr>
          <a:xfrm>
            <a:off x="640080" y="3214056"/>
            <a:ext cx="260000" cy="274456"/>
          </a:xfrm>
          <a:prstGeom prst="rect">
            <a:avLst/>
          </a:prstGeom>
          <a:noFill/>
        </p:spPr>
        <p:txBody>
          <a:bodyPr wrap="square" lIns="0" rIns="0" tIns="0" bIns="0">
            <a:spAutoFit/>
          </a:bodyPr>
          <a:lstStyle/>
          <a:p>
            <a:pPr algn="l"/>
            <a:r>
              <a:rPr sz="1350" b="1" i="0">
                <a:solidFill>
                  <a:srgbClr val="C9A227"/>
                </a:solidFill>
                <a:latin typeface="Calibri"/>
              </a:rPr>
              <a:t>4.</a:t>
            </a:r>
          </a:p>
        </p:txBody>
      </p:sp>
      <p:sp>
        <p:nvSpPr>
          <p:cNvPr id="13" name="TextBox 12"/>
          <p:cNvSpPr txBox="1"/>
          <p:nvPr/>
        </p:nvSpPr>
        <p:spPr>
          <a:xfrm>
            <a:off x="900080" y="3214056"/>
            <a:ext cx="10651840" cy="274456"/>
          </a:xfrm>
          <a:prstGeom prst="rect">
            <a:avLst/>
          </a:prstGeom>
          <a:noFill/>
        </p:spPr>
        <p:txBody>
          <a:bodyPr wrap="square" lIns="0" rIns="0" tIns="0" bIns="0">
            <a:spAutoFit/>
          </a:bodyPr>
          <a:lstStyle/>
          <a:p>
            <a:pPr algn="l"/>
            <a:r>
              <a:rPr sz="1350" b="1" i="0">
                <a:solidFill>
                  <a:srgbClr val="27314D"/>
                </a:solidFill>
                <a:latin typeface="Calibri"/>
              </a:rPr>
              <a:t>Cierre del ciclo</a:t>
            </a:r>
            <a:r>
              <a:rPr sz="1350" b="0" i="0">
                <a:solidFill>
                  <a:srgbClr val="27314D"/>
                </a:solidFill>
                <a:latin typeface="Calibri"/>
              </a:rPr>
              <a:t>: el banco paga al ahorrador su depósito con rendimiento; la diferencia entre tasa activa y pasiva es su </a:t>
            </a:r>
            <a:r>
              <a:rPr sz="1350" b="1" i="0">
                <a:solidFill>
                  <a:srgbClr val="27314D"/>
                </a:solidFill>
                <a:latin typeface="Calibri"/>
              </a:rPr>
              <a:t>margen financiero (spread)</a:t>
            </a:r>
            <a:r>
              <a:rPr sz="1350" b="0" i="0">
                <a:solidFill>
                  <a:srgbClr val="27314D"/>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El ciclo del crédito directo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09</a:t>
            </a:r>
          </a:p>
        </p:txBody>
      </p:sp>
      <p:sp>
        <p:nvSpPr>
          <p:cNvPr id="5" name="TextBox 4"/>
          <p:cNvSpPr txBox="1"/>
          <p:nvPr/>
        </p:nvSpPr>
        <p:spPr>
          <a:xfrm>
            <a:off x="640080" y="1539808"/>
            <a:ext cx="10911840" cy="533936"/>
          </a:xfrm>
          <a:prstGeom prst="rect">
            <a:avLst/>
          </a:prstGeom>
          <a:noFill/>
        </p:spPr>
        <p:txBody>
          <a:bodyPr wrap="square" lIns="0" rIns="0" tIns="0" bIns="0">
            <a:spAutoFit/>
          </a:bodyPr>
          <a:lstStyle/>
          <a:p>
            <a:pPr algn="l"/>
            <a:r>
              <a:rPr sz="1550" b="0" i="0">
                <a:solidFill>
                  <a:srgbClr val="5B6482"/>
                </a:solidFill>
                <a:latin typeface="Calibri"/>
              </a:rPr>
              <a:t>El camino directo (mercado bursátil) también tiene su propio ciclo, en espejo del de captación-colocación, pero aquí no hay intermediario que asuma el riesgo de crédito entre las dos partes.</a:t>
            </a:r>
          </a:p>
        </p:txBody>
      </p:sp>
      <p:sp>
        <p:nvSpPr>
          <p:cNvPr id="6" name="TextBox 5"/>
          <p:cNvSpPr txBox="1"/>
          <p:nvPr/>
        </p:nvSpPr>
        <p:spPr>
          <a:xfrm>
            <a:off x="640080" y="2203744"/>
            <a:ext cx="260000" cy="274456"/>
          </a:xfrm>
          <a:prstGeom prst="rect">
            <a:avLst/>
          </a:prstGeom>
          <a:noFill/>
        </p:spPr>
        <p:txBody>
          <a:bodyPr wrap="square" lIns="0" rIns="0" tIns="0" bIns="0">
            <a:spAutoFit/>
          </a:bodyPr>
          <a:lstStyle/>
          <a:p>
            <a:pPr algn="l"/>
            <a:r>
              <a:rPr sz="1350" b="1" i="0">
                <a:solidFill>
                  <a:srgbClr val="C9A227"/>
                </a:solidFill>
                <a:latin typeface="Calibri"/>
              </a:rPr>
              <a:t>1.</a:t>
            </a:r>
          </a:p>
        </p:txBody>
      </p:sp>
      <p:sp>
        <p:nvSpPr>
          <p:cNvPr id="7" name="TextBox 6"/>
          <p:cNvSpPr txBox="1"/>
          <p:nvPr/>
        </p:nvSpPr>
        <p:spPr>
          <a:xfrm>
            <a:off x="900080" y="2203744"/>
            <a:ext cx="10651840" cy="274456"/>
          </a:xfrm>
          <a:prstGeom prst="rect">
            <a:avLst/>
          </a:prstGeom>
          <a:noFill/>
        </p:spPr>
        <p:txBody>
          <a:bodyPr wrap="square" lIns="0" rIns="0" tIns="0" bIns="0">
            <a:spAutoFit/>
          </a:bodyPr>
          <a:lstStyle/>
          <a:p>
            <a:pPr algn="l"/>
            <a:r>
              <a:rPr sz="1350" b="1" i="0">
                <a:solidFill>
                  <a:srgbClr val="27314D"/>
                </a:solidFill>
                <a:latin typeface="Calibri"/>
              </a:rPr>
              <a:t>Emisión</a:t>
            </a:r>
            <a:r>
              <a:rPr sz="1350" b="0" i="0">
                <a:solidFill>
                  <a:srgbClr val="27314D"/>
                </a:solidFill>
                <a:latin typeface="Calibri"/>
              </a:rPr>
              <a:t>: la empresa o el gobierno coloca el instrumento directamente con inversionistas, a cambio de sus recursos.</a:t>
            </a:r>
          </a:p>
        </p:txBody>
      </p:sp>
      <p:sp>
        <p:nvSpPr>
          <p:cNvPr id="8" name="TextBox 7"/>
          <p:cNvSpPr txBox="1"/>
          <p:nvPr/>
        </p:nvSpPr>
        <p:spPr>
          <a:xfrm>
            <a:off x="640080" y="2478200"/>
            <a:ext cx="260000" cy="274456"/>
          </a:xfrm>
          <a:prstGeom prst="rect">
            <a:avLst/>
          </a:prstGeom>
          <a:noFill/>
        </p:spPr>
        <p:txBody>
          <a:bodyPr wrap="square" lIns="0" rIns="0" tIns="0" bIns="0">
            <a:spAutoFit/>
          </a:bodyPr>
          <a:lstStyle/>
          <a:p>
            <a:pPr algn="l"/>
            <a:r>
              <a:rPr sz="1350" b="1" i="0">
                <a:solidFill>
                  <a:srgbClr val="C9A227"/>
                </a:solidFill>
                <a:latin typeface="Calibri"/>
              </a:rPr>
              <a:t>2.</a:t>
            </a:r>
          </a:p>
        </p:txBody>
      </p:sp>
      <p:sp>
        <p:nvSpPr>
          <p:cNvPr id="9" name="TextBox 8"/>
          <p:cNvSpPr txBox="1"/>
          <p:nvPr/>
        </p:nvSpPr>
        <p:spPr>
          <a:xfrm>
            <a:off x="900080" y="2478200"/>
            <a:ext cx="10651840" cy="274456"/>
          </a:xfrm>
          <a:prstGeom prst="rect">
            <a:avLst/>
          </a:prstGeom>
          <a:noFill/>
        </p:spPr>
        <p:txBody>
          <a:bodyPr wrap="square" lIns="0" rIns="0" tIns="0" bIns="0">
            <a:spAutoFit/>
          </a:bodyPr>
          <a:lstStyle/>
          <a:p>
            <a:pPr algn="l"/>
            <a:r>
              <a:rPr sz="1350" b="1" i="0">
                <a:solidFill>
                  <a:srgbClr val="27314D"/>
                </a:solidFill>
                <a:latin typeface="Calibri"/>
              </a:rPr>
              <a:t>Negociación</a:t>
            </a:r>
            <a:r>
              <a:rPr sz="1350" b="0" i="0">
                <a:solidFill>
                  <a:srgbClr val="27314D"/>
                </a:solidFill>
                <a:latin typeface="Calibri"/>
              </a:rPr>
              <a:t>: el inversionista que lo compró puede revenderlo a otro inversionista antes de su vencimiento, en el mercado secundario.</a:t>
            </a:r>
          </a:p>
        </p:txBody>
      </p:sp>
      <p:sp>
        <p:nvSpPr>
          <p:cNvPr id="10" name="TextBox 9"/>
          <p:cNvSpPr txBox="1"/>
          <p:nvPr/>
        </p:nvSpPr>
        <p:spPr>
          <a:xfrm>
            <a:off x="640080" y="2752656"/>
            <a:ext cx="260000" cy="274456"/>
          </a:xfrm>
          <a:prstGeom prst="rect">
            <a:avLst/>
          </a:prstGeom>
          <a:noFill/>
        </p:spPr>
        <p:txBody>
          <a:bodyPr wrap="square" lIns="0" rIns="0" tIns="0" bIns="0">
            <a:spAutoFit/>
          </a:bodyPr>
          <a:lstStyle/>
          <a:p>
            <a:pPr algn="l"/>
            <a:r>
              <a:rPr sz="1350" b="1" i="0">
                <a:solidFill>
                  <a:srgbClr val="C9A227"/>
                </a:solidFill>
                <a:latin typeface="Calibri"/>
              </a:rPr>
              <a:t>3.</a:t>
            </a:r>
          </a:p>
        </p:txBody>
      </p:sp>
      <p:sp>
        <p:nvSpPr>
          <p:cNvPr id="11" name="TextBox 10"/>
          <p:cNvSpPr txBox="1"/>
          <p:nvPr/>
        </p:nvSpPr>
        <p:spPr>
          <a:xfrm>
            <a:off x="900080" y="2752656"/>
            <a:ext cx="10651840" cy="274456"/>
          </a:xfrm>
          <a:prstGeom prst="rect">
            <a:avLst/>
          </a:prstGeom>
          <a:noFill/>
        </p:spPr>
        <p:txBody>
          <a:bodyPr wrap="square" lIns="0" rIns="0" tIns="0" bIns="0">
            <a:spAutoFit/>
          </a:bodyPr>
          <a:lstStyle/>
          <a:p>
            <a:pPr algn="l"/>
            <a:r>
              <a:rPr sz="1350" b="1" i="0">
                <a:solidFill>
                  <a:srgbClr val="27314D"/>
                </a:solidFill>
                <a:latin typeface="Calibri"/>
              </a:rPr>
              <a:t>Liquidación</a:t>
            </a:r>
            <a:r>
              <a:rPr sz="1350" b="0" i="0">
                <a:solidFill>
                  <a:srgbClr val="27314D"/>
                </a:solidFill>
                <a:latin typeface="Calibri"/>
              </a:rPr>
              <a:t>: al vencimiento, el emisor paga directamente al tenedor final registrado en ese momento.</a:t>
            </a:r>
          </a:p>
        </p:txBody>
      </p:sp>
      <p:sp>
        <p:nvSpPr>
          <p:cNvPr id="12" name="Rounded Rectangle 11"/>
          <p:cNvSpPr/>
          <p:nvPr/>
        </p:nvSpPr>
        <p:spPr>
          <a:xfrm>
            <a:off x="640080" y="3117112"/>
            <a:ext cx="10911840" cy="772656"/>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117112"/>
            <a:ext cx="45720" cy="77265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080" y="3257112"/>
            <a:ext cx="10551840" cy="452656"/>
          </a:xfrm>
          <a:prstGeom prst="rect">
            <a:avLst/>
          </a:prstGeom>
          <a:noFill/>
        </p:spPr>
        <p:txBody>
          <a:bodyPr wrap="square" lIns="0" rIns="0" tIns="0" bIns="0">
            <a:spAutoFit/>
          </a:bodyPr>
          <a:lstStyle/>
          <a:p>
            <a:pPr algn="l"/>
            <a:r>
              <a:rPr sz="1300" b="0" i="0">
                <a:solidFill>
                  <a:srgbClr val="1E2761"/>
                </a:solidFill>
                <a:latin typeface="Calibri"/>
              </a:rPr>
              <a:t>El detalle institucional de este ciclo (mercado primario/secundario, BMV, Indeval) se revisa en </a:t>
            </a:r>
            <a:r>
              <a:rPr sz="1300" b="0" i="0">
                <a:solidFill>
                  <a:srgbClr val="1E2761"/>
                </a:solidFill>
                <a:latin typeface="Consolas"/>
              </a:rPr>
              <a:t>5_matematica_financiera_mecanica_mercado.md</a:t>
            </a:r>
            <a:r>
              <a:rPr sz="1300" b="0" i="0">
                <a:solidFill>
                  <a:srgbClr val="1E2761"/>
                </a:solidFill>
                <a:latin typeface="Calibri"/>
              </a:rPr>
              <a:t>, y se practica en el taller "recorrido institucional de un CETE".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Apéndice: Riesgo de un activo financiero</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10</a:t>
            </a:r>
          </a:p>
        </p:txBody>
      </p:sp>
      <p:sp>
        <p:nvSpPr>
          <p:cNvPr id="5" name="TextBox 4"/>
          <p:cNvSpPr txBox="1"/>
          <p:nvPr/>
        </p:nvSpPr>
        <p:spPr>
          <a:xfrm>
            <a:off x="640080" y="1539808"/>
            <a:ext cx="10911840" cy="281968"/>
          </a:xfrm>
          <a:prstGeom prst="rect">
            <a:avLst/>
          </a:prstGeom>
          <a:noFill/>
        </p:spPr>
        <p:txBody>
          <a:bodyPr wrap="square" lIns="0" rIns="0" tIns="0" bIns="0">
            <a:spAutoFit/>
          </a:bodyPr>
          <a:lstStyle/>
          <a:p>
            <a:pPr algn="l"/>
            <a:r>
              <a:rPr sz="1550" b="0" i="0">
                <a:solidFill>
                  <a:srgbClr val="5B6482"/>
                </a:solidFill>
                <a:latin typeface="Calibri"/>
              </a:rPr>
              <a:t>"Riesgo" no es una sola cosa: en este documento aparece en más de un sentido.</a:t>
            </a:r>
          </a:p>
        </p:txBody>
      </p:sp>
      <p:sp>
        <p:nvSpPr>
          <p:cNvPr id="6" name="TextBox 5"/>
          <p:cNvSpPr txBox="1"/>
          <p:nvPr/>
        </p:nvSpPr>
        <p:spPr>
          <a:xfrm>
            <a:off x="640080" y="1951776"/>
            <a:ext cx="260000" cy="713368"/>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7" name="TextBox 6"/>
          <p:cNvSpPr txBox="1"/>
          <p:nvPr/>
        </p:nvSpPr>
        <p:spPr>
          <a:xfrm>
            <a:off x="900080" y="1951776"/>
            <a:ext cx="10651840" cy="713368"/>
          </a:xfrm>
          <a:prstGeom prst="rect">
            <a:avLst/>
          </a:prstGeom>
          <a:noFill/>
        </p:spPr>
        <p:txBody>
          <a:bodyPr wrap="square" lIns="0" rIns="0" tIns="0" bIns="0">
            <a:spAutoFit/>
          </a:bodyPr>
          <a:lstStyle/>
          <a:p>
            <a:pPr algn="l"/>
            <a:r>
              <a:rPr sz="1350" b="1" i="0">
                <a:solidFill>
                  <a:srgbClr val="27314D"/>
                </a:solidFill>
                <a:latin typeface="Calibri"/>
              </a:rPr>
              <a:t>Riesgo de crédito (o de incumplimiento):</a:t>
            </a:r>
            <a:r>
              <a:rPr sz="1350" b="0" i="0">
                <a:solidFill>
                  <a:srgbClr val="27314D"/>
                </a:solidFill>
                <a:latin typeface="Calibri"/>
              </a:rPr>
              <a:t> la posibilidad de que el emisor no pague lo prometido, en el monto o en la fecha pactados. Es el riesgo [incumplimiento] del que habla la tabla de la sección 2 ("Dos caminos para el crédito") cuando dice quién lo asume: en la intermediación bancaria lo absorbe el banco; en el mercado bursátil, el inversionista lo asume directamente frente al emisor.</a:t>
            </a:r>
          </a:p>
        </p:txBody>
      </p:sp>
      <p:sp>
        <p:nvSpPr>
          <p:cNvPr id="8" name="TextBox 7"/>
          <p:cNvSpPr txBox="1"/>
          <p:nvPr/>
        </p:nvSpPr>
        <p:spPr>
          <a:xfrm>
            <a:off x="640080" y="2665144"/>
            <a:ext cx="260000" cy="713368"/>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9" name="TextBox 8"/>
          <p:cNvSpPr txBox="1"/>
          <p:nvPr/>
        </p:nvSpPr>
        <p:spPr>
          <a:xfrm>
            <a:off x="900080" y="2665144"/>
            <a:ext cx="10651840" cy="713368"/>
          </a:xfrm>
          <a:prstGeom prst="rect">
            <a:avLst/>
          </a:prstGeom>
          <a:noFill/>
        </p:spPr>
        <p:txBody>
          <a:bodyPr wrap="square" lIns="0" rIns="0" tIns="0" bIns="0">
            <a:spAutoFit/>
          </a:bodyPr>
          <a:lstStyle/>
          <a:p>
            <a:pPr algn="l"/>
            <a:r>
              <a:rPr sz="1350" b="1" i="0">
                <a:solidFill>
                  <a:srgbClr val="27314D"/>
                </a:solidFill>
                <a:latin typeface="Calibri"/>
              </a:rPr>
              <a:t>Riesgo del rendimiento (variabilidad, o rendimiento estocástico):</a:t>
            </a:r>
            <a:r>
              <a:rPr sz="1350" b="0" i="0">
                <a:solidFill>
                  <a:srgbClr val="27314D"/>
                </a:solidFill>
                <a:latin typeface="Calibri"/>
              </a:rPr>
              <a:t> aun si el emisor sí va a pagar, el monto que vas a recibir puede no conocerse de antemano. Es lo que identifica la columna "¿Rendimiento estocástico?" de la sección 2 para cada ejemplo: una acción no tiene garantizado ni el dividendo ni el precio de venta; un CETE, si el gobierno paga, sí tiene garantizado su valor de vencimiento desde que se compra.</a:t>
            </a:r>
          </a:p>
        </p:txBody>
      </p:sp>
      <p:sp>
        <p:nvSpPr>
          <p:cNvPr id="10" name="Rounded Rectangle 9"/>
          <p:cNvSpPr/>
          <p:nvPr/>
        </p:nvSpPr>
        <p:spPr>
          <a:xfrm>
            <a:off x="640080" y="3468512"/>
            <a:ext cx="10911840" cy="1406640"/>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468512"/>
            <a:ext cx="45720" cy="1406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080" y="3608512"/>
            <a:ext cx="10551840" cy="1086640"/>
          </a:xfrm>
          <a:prstGeom prst="rect">
            <a:avLst/>
          </a:prstGeom>
          <a:noFill/>
        </p:spPr>
        <p:txBody>
          <a:bodyPr wrap="square" lIns="0" rIns="0" tIns="0" bIns="0">
            <a:spAutoFit/>
          </a:bodyPr>
          <a:lstStyle/>
          <a:p>
            <a:pPr algn="l"/>
            <a:r>
              <a:rPr sz="1300" b="0" i="0">
                <a:solidFill>
                  <a:srgbClr val="1E2761"/>
                </a:solidFill>
                <a:latin typeface="Calibri"/>
              </a:rPr>
              <a:t>Son dos dimensiones distintas: un instrumento puede prometer un monto fijo (rendimiento no estocástico) y aun así tener riesgo de crédito alto, si el emisor es poco solvente. Por eso un bono corporativo de una empresa endeudada puede ser más riesgoso [incumplimiento] que un CETE, aunque ambos prometan pagar un monto conocido desde el inicio. Esto no significa que estén descorrelacionados: un emisor con negocio inestable, lo que eleva su riesgo de incumplimiento, también suele tener menos capacidad de comprometerse a pagos fijos, así que en la práctica es probable que ambos riesgos se muevan juntos.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INTERMEDIACIÓN FINANCIERA</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Apéndice: Riesgo de un activo financiero (cont.)</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11</a:t>
            </a:r>
          </a:p>
        </p:txBody>
      </p:sp>
      <p:sp>
        <p:nvSpPr>
          <p:cNvPr id="5" name="TextBox 4"/>
          <p:cNvSpPr txBox="1"/>
          <p:nvPr/>
        </p:nvSpPr>
        <p:spPr>
          <a:xfrm>
            <a:off x="640080" y="1539808"/>
            <a:ext cx="10911840" cy="257584"/>
          </a:xfrm>
          <a:prstGeom prst="rect">
            <a:avLst/>
          </a:prstGeom>
          <a:noFill/>
        </p:spPr>
        <p:txBody>
          <a:bodyPr wrap="square" lIns="0" rIns="0" tIns="0" bIns="0">
            <a:spAutoFit/>
          </a:bodyPr>
          <a:lstStyle/>
          <a:p>
            <a:pPr algn="l"/>
            <a:r>
              <a:rPr sz="1400" b="0" i="0">
                <a:solidFill>
                  <a:srgbClr val="27314D"/>
                </a:solidFill>
                <a:latin typeface="Calibri"/>
              </a:rPr>
              <a:t>Dos sentidos más de "riesgo":</a:t>
            </a:r>
          </a:p>
        </p:txBody>
      </p:sp>
      <p:sp>
        <p:nvSpPr>
          <p:cNvPr id="6" name="TextBox 5"/>
          <p:cNvSpPr txBox="1"/>
          <p:nvPr/>
        </p:nvSpPr>
        <p:spPr>
          <a:xfrm>
            <a:off x="640080" y="1887392"/>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7" name="TextBox 6"/>
          <p:cNvSpPr txBox="1"/>
          <p:nvPr/>
        </p:nvSpPr>
        <p:spPr>
          <a:xfrm>
            <a:off x="900080" y="1887392"/>
            <a:ext cx="10651840" cy="493912"/>
          </a:xfrm>
          <a:prstGeom prst="rect">
            <a:avLst/>
          </a:prstGeom>
          <a:noFill/>
        </p:spPr>
        <p:txBody>
          <a:bodyPr wrap="square" lIns="0" rIns="0" tIns="0" bIns="0">
            <a:spAutoFit/>
          </a:bodyPr>
          <a:lstStyle/>
          <a:p>
            <a:pPr algn="l"/>
            <a:r>
              <a:rPr sz="1350" b="1" i="0">
                <a:solidFill>
                  <a:srgbClr val="27314D"/>
                </a:solidFill>
                <a:latin typeface="Calibri"/>
              </a:rPr>
              <a:t>Riesgo idiosincrático:</a:t>
            </a:r>
            <a:r>
              <a:rPr sz="1350" b="0" i="0">
                <a:solidFill>
                  <a:srgbClr val="27314D"/>
                </a:solidFill>
                <a:latin typeface="Calibri"/>
              </a:rPr>
              <a:t> el riesgo específico de que un proyecto particular fracase, independiente del resto de la economía. Se reduce diversificando entre muchos proyectos: no desaparece, se reparte.</a:t>
            </a:r>
          </a:p>
        </p:txBody>
      </p:sp>
      <p:sp>
        <p:nvSpPr>
          <p:cNvPr id="8" name="TextBox 7"/>
          <p:cNvSpPr txBox="1"/>
          <p:nvPr/>
        </p:nvSpPr>
        <p:spPr>
          <a:xfrm>
            <a:off x="640080" y="2381304"/>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9" name="TextBox 8"/>
          <p:cNvSpPr txBox="1"/>
          <p:nvPr/>
        </p:nvSpPr>
        <p:spPr>
          <a:xfrm>
            <a:off x="900080" y="2381304"/>
            <a:ext cx="10651840" cy="493912"/>
          </a:xfrm>
          <a:prstGeom prst="rect">
            <a:avLst/>
          </a:prstGeom>
          <a:noFill/>
        </p:spPr>
        <p:txBody>
          <a:bodyPr wrap="square" lIns="0" rIns="0" tIns="0" bIns="0">
            <a:spAutoFit/>
          </a:bodyPr>
          <a:lstStyle/>
          <a:p>
            <a:pPr algn="l"/>
            <a:r>
              <a:rPr sz="1350" b="1" i="0">
                <a:solidFill>
                  <a:srgbClr val="27314D"/>
                </a:solidFill>
                <a:latin typeface="Calibri"/>
              </a:rPr>
              <a:t>Riesgo transferible (asegurable):</a:t>
            </a:r>
            <a:r>
              <a:rPr sz="1350" b="0" i="0">
                <a:solidFill>
                  <a:srgbClr val="27314D"/>
                </a:solidFill>
                <a:latin typeface="Calibri"/>
              </a:rPr>
              <a:t> un riesgo que no desaparece, pero que puede trasladarse a quien esté dispuesto a asumirlo a cambio de una prima, la lógica detrás de un seguro.</a:t>
            </a:r>
          </a:p>
        </p:txBody>
      </p:sp>
      <p:sp>
        <p:nvSpPr>
          <p:cNvPr id="10" name="Rounded Rectangle 9"/>
          <p:cNvSpPr/>
          <p:nvPr/>
        </p:nvSpPr>
        <p:spPr>
          <a:xfrm>
            <a:off x="640080" y="2965216"/>
            <a:ext cx="10911840" cy="561328"/>
          </a:xfrm>
          <a:prstGeom prst="roundRect">
            <a:avLst>
              <a:gd name="adj" fmla="val 5000"/>
            </a:avLst>
          </a:prstGeom>
          <a:solidFill>
            <a:srgbClr val="F2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965216"/>
            <a:ext cx="45720" cy="5613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080" y="3105216"/>
            <a:ext cx="10551840" cy="241328"/>
          </a:xfrm>
          <a:prstGeom prst="rect">
            <a:avLst/>
          </a:prstGeom>
          <a:noFill/>
        </p:spPr>
        <p:txBody>
          <a:bodyPr wrap="square" lIns="0" rIns="0" tIns="0" bIns="0">
            <a:spAutoFit/>
          </a:bodyPr>
          <a:lstStyle/>
          <a:p>
            <a:pPr algn="l"/>
            <a:r>
              <a:rPr sz="1300" b="0" i="0">
                <a:solidFill>
                  <a:srgbClr val="1E2761"/>
                </a:solidFill>
                <a:latin typeface="Calibri"/>
              </a:rPr>
              <a:t>El detalle de los tipos de riesgo propios de un instrumento de deuda (tasa de interés, crédito, inflación, liquidez) se estudia a fondo en la Unidad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Cierre · Intermediación Financiera</a:t>
            </a:r>
          </a:p>
        </p:txBody>
      </p:sp>
      <p:sp>
        <p:nvSpPr>
          <p:cNvPr id="3" name="TextBox 2"/>
          <p:cNvSpPr txBox="1"/>
          <p:nvPr/>
        </p:nvSpPr>
        <p:spPr>
          <a:xfrm>
            <a:off x="822960" y="1629808"/>
            <a:ext cx="10332720" cy="608640"/>
          </a:xfrm>
          <a:prstGeom prst="rect">
            <a:avLst/>
          </a:prstGeom>
          <a:noFill/>
        </p:spPr>
        <p:txBody>
          <a:bodyPr wrap="square" lIns="0" rIns="0" tIns="0" bIns="0">
            <a:spAutoFit/>
          </a:bodyPr>
          <a:lstStyle/>
          <a:p>
            <a:pPr algn="l"/>
            <a:r>
              <a:rPr sz="1600" b="0" i="0">
                <a:solidFill>
                  <a:srgbClr val="1E2761"/>
                </a:solidFill>
                <a:latin typeface="Calibri"/>
              </a:rPr>
              <a:t>Los intermediarios existen porque ahorradores y deudores casi nunca negocian directamente en condiciones favorables: el banco resuelve esto transformando plazos (</a:t>
            </a:r>
            <a:r>
              <a:rPr sz="1600" b="0" i="1">
                <a:solidFill>
                  <a:srgbClr val="1E2761"/>
                </a:solidFill>
                <a:latin typeface="Calibri"/>
              </a:rPr>
              <a:t>maturity intermediation</a:t>
            </a:r>
            <a:r>
              <a:rPr sz="1600" b="0" i="0">
                <a:solidFill>
                  <a:srgbClr val="1E2761"/>
                </a:solidFill>
                <a:latin typeface="Calibri"/>
              </a:rPr>
              <a:t>), el fondo de inversión diversificando el ahorro de muchos.</a:t>
            </a:r>
          </a:p>
        </p:txBody>
      </p:sp>
      <p:sp>
        <p:nvSpPr>
          <p:cNvPr id="4" name="TextBox 3"/>
          <p:cNvSpPr txBox="1"/>
          <p:nvPr/>
        </p:nvSpPr>
        <p:spPr>
          <a:xfrm>
            <a:off x="822960" y="2438448"/>
            <a:ext cx="10332720" cy="608640"/>
          </a:xfrm>
          <a:prstGeom prst="rect">
            <a:avLst/>
          </a:prstGeom>
          <a:noFill/>
        </p:spPr>
        <p:txBody>
          <a:bodyPr wrap="square" lIns="0" rIns="0" tIns="0" bIns="0">
            <a:spAutoFit/>
          </a:bodyPr>
          <a:lstStyle/>
          <a:p>
            <a:pPr algn="l"/>
            <a:r>
              <a:rPr sz="1600" b="0" i="0">
                <a:solidFill>
                  <a:srgbClr val="1E2761"/>
                </a:solidFill>
                <a:latin typeface="Calibri"/>
              </a:rPr>
              <a:t>El </a:t>
            </a:r>
            <a:r>
              <a:rPr sz="1600" b="1" i="0">
                <a:solidFill>
                  <a:srgbClr val="1E2761"/>
                </a:solidFill>
                <a:latin typeface="Calibri"/>
              </a:rPr>
              <a:t>crédito indirecto</a:t>
            </a:r>
            <a:r>
              <a:rPr sz="1600" b="0" i="0">
                <a:solidFill>
                  <a:srgbClr val="1E2761"/>
                </a:solidFill>
                <a:latin typeface="Calibri"/>
              </a:rPr>
              <a:t> (intermediación bancaria) sigue el ciclo captación → colocación → recuperación → cierre; el banco asume el riesgo [incumplimiento] y su utilidad es el </a:t>
            </a:r>
            <a:r>
              <a:rPr sz="1600" b="1" i="0">
                <a:solidFill>
                  <a:srgbClr val="1E2761"/>
                </a:solidFill>
                <a:latin typeface="Calibri"/>
              </a:rPr>
              <a:t>margen financiero (spread)</a:t>
            </a:r>
            <a:r>
              <a:rPr sz="1600" b="0" i="0">
                <a:solidFill>
                  <a:srgbClr val="1E2761"/>
                </a:solidFill>
                <a:latin typeface="Calibri"/>
              </a:rPr>
              <a:t>.</a:t>
            </a:r>
          </a:p>
        </p:txBody>
      </p:sp>
      <p:sp>
        <p:nvSpPr>
          <p:cNvPr id="5" name="TextBox 4"/>
          <p:cNvSpPr txBox="1"/>
          <p:nvPr/>
        </p:nvSpPr>
        <p:spPr>
          <a:xfrm>
            <a:off x="822960" y="3247088"/>
            <a:ext cx="10332720" cy="608640"/>
          </a:xfrm>
          <a:prstGeom prst="rect">
            <a:avLst/>
          </a:prstGeom>
          <a:noFill/>
        </p:spPr>
        <p:txBody>
          <a:bodyPr wrap="square" lIns="0" rIns="0" tIns="0" bIns="0">
            <a:spAutoFit/>
          </a:bodyPr>
          <a:lstStyle/>
          <a:p>
            <a:pPr algn="l"/>
            <a:r>
              <a:rPr sz="1600" b="0" i="0">
                <a:solidFill>
                  <a:srgbClr val="1E2761"/>
                </a:solidFill>
                <a:latin typeface="Calibri"/>
              </a:rPr>
              <a:t>El </a:t>
            </a:r>
            <a:r>
              <a:rPr sz="1600" b="1" i="0">
                <a:solidFill>
                  <a:srgbClr val="1E2761"/>
                </a:solidFill>
                <a:latin typeface="Calibri"/>
              </a:rPr>
              <a:t>crédito directo</a:t>
            </a:r>
            <a:r>
              <a:rPr sz="1600" b="0" i="0">
                <a:solidFill>
                  <a:srgbClr val="1E2761"/>
                </a:solidFill>
                <a:latin typeface="Calibri"/>
              </a:rPr>
              <a:t> (mercado bursátil) sigue el ciclo emisión → negociación → liquidación; aquí el inversionista asume el riesgo [incumplimiento] directamente frente al emisor, sin intermediario de por medio.</a:t>
            </a:r>
          </a:p>
        </p:txBody>
      </p:sp>
      <p:sp>
        <p:nvSpPr>
          <p:cNvPr id="6" name="TextBox 5"/>
          <p:cNvSpPr txBox="1"/>
          <p:nvPr/>
        </p:nvSpPr>
        <p:spPr>
          <a:xfrm>
            <a:off x="822960" y="4055728"/>
            <a:ext cx="10332720" cy="608640"/>
          </a:xfrm>
          <a:prstGeom prst="rect">
            <a:avLst/>
          </a:prstGeom>
          <a:noFill/>
        </p:spPr>
        <p:txBody>
          <a:bodyPr wrap="square" lIns="0" rIns="0" tIns="0" bIns="0">
            <a:spAutoFit/>
          </a:bodyPr>
          <a:lstStyle/>
          <a:p>
            <a:pPr algn="l"/>
            <a:r>
              <a:rPr sz="1600" b="0" i="0">
                <a:solidFill>
                  <a:srgbClr val="1E2761"/>
                </a:solidFill>
                <a:latin typeface="Calibri"/>
              </a:rPr>
              <a:t>El riesgo de crédito (si el emisor paga) y el riesgo del rendimiento (si el monto se conoce de antemano) son dos dimensiones distintas: un instrumento puede prometer un monto fijo y aun así tener riesgo de crédito alto.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840" cy="320040"/>
          </a:xfrm>
          <a:prstGeom prst="rect">
            <a:avLst/>
          </a:prstGeom>
          <a:noFill/>
        </p:spPr>
        <p:txBody>
          <a:bodyPr wrap="square" lIns="0" rIns="0" tIns="0" bIns="0">
            <a:spAutoFit/>
          </a:bodyPr>
          <a:lstStyle/>
          <a:p>
            <a:pPr algn="l"/>
            <a:r>
              <a:rPr sz="1200" b="1" i="0" spc="150">
                <a:solidFill>
                  <a:srgbClr val="C9A227"/>
                </a:solidFill>
                <a:latin typeface="Calibri"/>
              </a:rPr>
              <a:t>PREPARACIÓN DOCENTE</a:t>
            </a:r>
          </a:p>
        </p:txBody>
      </p:sp>
      <p:sp>
        <p:nvSpPr>
          <p:cNvPr id="3" name="TextBox 2"/>
          <p:cNvSpPr txBox="1"/>
          <p:nvPr/>
        </p:nvSpPr>
        <p:spPr>
          <a:xfrm>
            <a:off x="640080" y="749808"/>
            <a:ext cx="10911840" cy="700000"/>
          </a:xfrm>
          <a:prstGeom prst="rect">
            <a:avLst/>
          </a:prstGeom>
          <a:noFill/>
        </p:spPr>
        <p:txBody>
          <a:bodyPr wrap="square" lIns="0" rIns="0" tIns="0" bIns="0">
            <a:spAutoFit/>
          </a:bodyPr>
          <a:lstStyle/>
          <a:p>
            <a:pPr algn="l"/>
            <a:r>
              <a:rPr sz="3200" b="1" i="0">
                <a:solidFill>
                  <a:srgbClr val="1E2761"/>
                </a:solidFill>
                <a:latin typeface="Cambria"/>
              </a:rPr>
              <a:t>Fuentes y referencias recomendadas</a:t>
            </a:r>
          </a:p>
        </p:txBody>
      </p:sp>
      <p:sp>
        <p:nvSpPr>
          <p:cNvPr id="4" name="TextBox 3"/>
          <p:cNvSpPr txBox="1"/>
          <p:nvPr/>
        </p:nvSpPr>
        <p:spPr>
          <a:xfrm>
            <a:off x="11003280" y="6446520"/>
            <a:ext cx="548640" cy="274320"/>
          </a:xfrm>
          <a:prstGeom prst="rect">
            <a:avLst/>
          </a:prstGeom>
          <a:noFill/>
        </p:spPr>
        <p:txBody>
          <a:bodyPr wrap="square" lIns="0" rIns="0" tIns="0" bIns="0">
            <a:spAutoFit/>
          </a:bodyPr>
          <a:lstStyle/>
          <a:p>
            <a:pPr algn="r"/>
            <a:r>
              <a:rPr sz="1000" b="0" i="0">
                <a:solidFill>
                  <a:srgbClr val="A6ADC7"/>
                </a:solidFill>
                <a:latin typeface="Calibri"/>
              </a:rPr>
              <a:t>12</a:t>
            </a:r>
          </a:p>
        </p:txBody>
      </p:sp>
      <p:sp>
        <p:nvSpPr>
          <p:cNvPr id="5" name="TextBox 4"/>
          <p:cNvSpPr txBox="1"/>
          <p:nvPr/>
        </p:nvSpPr>
        <p:spPr>
          <a:xfrm>
            <a:off x="640080" y="1539808"/>
            <a:ext cx="260000" cy="274456"/>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6" name="TextBox 5"/>
          <p:cNvSpPr txBox="1"/>
          <p:nvPr/>
        </p:nvSpPr>
        <p:spPr>
          <a:xfrm>
            <a:off x="900080" y="1539808"/>
            <a:ext cx="10651840" cy="274456"/>
          </a:xfrm>
          <a:prstGeom prst="rect">
            <a:avLst/>
          </a:prstGeom>
          <a:noFill/>
        </p:spPr>
        <p:txBody>
          <a:bodyPr wrap="square" lIns="0" rIns="0" tIns="0" bIns="0">
            <a:spAutoFit/>
          </a:bodyPr>
          <a:lstStyle/>
          <a:p>
            <a:pPr algn="l"/>
            <a:r>
              <a:rPr sz="1350" b="0" i="0">
                <a:solidFill>
                  <a:srgbClr val="27314D"/>
                </a:solidFill>
                <a:latin typeface="Calibri"/>
              </a:rPr>
              <a:t>Mántey de Anguiano, G. (2024). </a:t>
            </a:r>
            <a:r>
              <a:rPr sz="1350" b="0" i="1">
                <a:solidFill>
                  <a:srgbClr val="27314D"/>
                </a:solidFill>
                <a:latin typeface="Calibri"/>
              </a:rPr>
              <a:t>Lecciones de Economía Monetaria</a:t>
            </a:r>
            <a:r>
              <a:rPr sz="1350" b="0" i="0">
                <a:solidFill>
                  <a:srgbClr val="27314D"/>
                </a:solidFill>
                <a:latin typeface="Calibri"/>
              </a:rPr>
              <a:t>. UNAM. Lección 2: intermediación financiera y ciclos de crédito directo/indirecto.</a:t>
            </a:r>
          </a:p>
        </p:txBody>
      </p:sp>
      <p:sp>
        <p:nvSpPr>
          <p:cNvPr id="7" name="TextBox 6"/>
          <p:cNvSpPr txBox="1"/>
          <p:nvPr/>
        </p:nvSpPr>
        <p:spPr>
          <a:xfrm>
            <a:off x="640080" y="1814264"/>
            <a:ext cx="260000" cy="493912"/>
          </a:xfrm>
          <a:prstGeom prst="rect">
            <a:avLst/>
          </a:prstGeom>
          <a:noFill/>
        </p:spPr>
        <p:txBody>
          <a:bodyPr wrap="square" lIns="0" rIns="0" tIns="0" bIns="0">
            <a:spAutoFit/>
          </a:bodyPr>
          <a:lstStyle/>
          <a:p>
            <a:pPr algn="l"/>
            <a:r>
              <a:rPr sz="1350" b="1" i="0">
                <a:solidFill>
                  <a:srgbClr val="C9A227"/>
                </a:solidFill>
                <a:latin typeface="Calibri"/>
              </a:rPr>
              <a:t>•</a:t>
            </a:r>
          </a:p>
        </p:txBody>
      </p:sp>
      <p:sp>
        <p:nvSpPr>
          <p:cNvPr id="8" name="TextBox 7"/>
          <p:cNvSpPr txBox="1"/>
          <p:nvPr/>
        </p:nvSpPr>
        <p:spPr>
          <a:xfrm>
            <a:off x="900080" y="1814264"/>
            <a:ext cx="10651840" cy="493912"/>
          </a:xfrm>
          <a:prstGeom prst="rect">
            <a:avLst/>
          </a:prstGeom>
          <a:noFill/>
        </p:spPr>
        <p:txBody>
          <a:bodyPr wrap="square" lIns="0" rIns="0" tIns="0" bIns="0">
            <a:spAutoFit/>
          </a:bodyPr>
          <a:lstStyle/>
          <a:p>
            <a:pPr algn="l"/>
            <a:r>
              <a:rPr sz="1350" b="0" i="0">
                <a:solidFill>
                  <a:srgbClr val="27314D"/>
                </a:solidFill>
                <a:latin typeface="Calibri"/>
              </a:rPr>
              <a:t>Mishkin, F. S. y Eakins, S. G. (2014). </a:t>
            </a:r>
            <a:r>
              <a:rPr sz="1350" b="0" i="1">
                <a:solidFill>
                  <a:srgbClr val="27314D"/>
                </a:solidFill>
                <a:latin typeface="Calibri"/>
              </a:rPr>
              <a:t>Financial Markets and Institutions</a:t>
            </a:r>
            <a:r>
              <a:rPr sz="1350" b="0" i="0">
                <a:solidFill>
                  <a:srgbClr val="27314D"/>
                </a:solidFill>
                <a:latin typeface="Calibri"/>
              </a:rPr>
              <a:t> (8ª ed.). Pearson. Cap. 2, "An Overview of the Financial System": por qué existen los intermediarios financieros.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