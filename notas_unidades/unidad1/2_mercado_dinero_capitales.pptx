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0000" y="-1400000"/>
            <a:ext cx="4200000" cy="420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00000" y="4300000"/>
            <a:ext cx="3200000" cy="320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50000"/>
            <a:ext cx="1091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MERCADOS DE DEUDA Y CAPITALES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0000"/>
            <a:ext cx="920000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mbria"/>
              </a:rPr>
              <a:t>Mercado de Dinero y Capitales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90000"/>
            <a:ext cx="9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482"/>
                </a:solidFill>
                <a:latin typeface="Calibri"/>
              </a:rPr>
              <a:t>Mercados de Deuda y Capitales, Licenciatura en Comercio y Finanzas Internacionales, Universidad Autónoma de Zacatecas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9A227"/>
                </a:solidFill>
                <a:latin typeface="Calibri"/>
              </a:rPr>
              <a:t>MERCADO DE DINERO Y CAPITALES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Objetivo de la 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32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6ADC7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881360" cy="1262000"/>
          </a:xfrm>
          <a:prstGeom prst="roundRect">
            <a:avLst>
              <a:gd name="adj" fmla="val 4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43200"/>
            <a:ext cx="10058400" cy="8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27314D"/>
                </a:solidFill>
                <a:latin typeface="Cambria"/>
              </a:rPr>
              <a:t>Que el estudiante clasifique un activo financiero según su plazo, en mercado de dinero o de capitales.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Tabla de 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32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6ADC7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0000"/>
            <a:ext cx="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mbria"/>
              </a:rPr>
              <a:t>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0080" y="1900000"/>
            <a:ext cx="8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Mercado de dinero y mercado de capitales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0080" y="2230000"/>
            <a:ext cx="8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482"/>
                </a:solidFill>
                <a:latin typeface="Calibri"/>
              </a:rPr>
              <a:t>Plazo, función, emisores e instrumentos de cada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51920" y="190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82"/>
                </a:solidFill>
                <a:latin typeface="Calibri"/>
              </a:rPr>
              <a:t>PÁG.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20000"/>
            <a:ext cx="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  <a:latin typeface="Cambria"/>
              </a:rPr>
              <a:t>II.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0080" y="2520000"/>
            <a:ext cx="86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mbria"/>
              </a:rPr>
              <a:t>Agentes económicos y su acceso a los mercados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0080" y="2850000"/>
            <a:ext cx="8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482"/>
                </a:solidFill>
                <a:latin typeface="Calibri"/>
              </a:rPr>
              <a:t>Cómo participa cada tipo de agente en el mercado de dinero y de capitales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51920" y="2520000"/>
            <a:ext cx="12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82"/>
                </a:solidFill>
                <a:latin typeface="Calibri"/>
              </a:rPr>
              <a:t>PÁG.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9A227"/>
                </a:solidFill>
                <a:latin typeface="Calibri"/>
              </a:rPr>
              <a:t>MERCADO DE DINERO Y CAPITALES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Mercado de dinero y mercado de capitales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32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6ADC7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9808"/>
            <a:ext cx="10911840" cy="53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5B6482"/>
                </a:solidFill>
                <a:latin typeface="Calibri"/>
              </a:rPr>
              <a:t>El mercado financiero se divide, por convención, según el plazo de los recursos que canaliza; es un criterio distinto de quién emite el instrumento (ver </a:t>
            </a:r>
            <a:r>
              <a:rPr sz="1550" b="0" i="0">
                <a:solidFill>
                  <a:srgbClr val="5B6482"/>
                </a:solidFill>
                <a:latin typeface="Consolas"/>
              </a:rPr>
              <a:t>1_intermediacion_financiera.md</a:t>
            </a:r>
            <a:r>
              <a:rPr sz="1550" b="0" i="0">
                <a:solidFill>
                  <a:srgbClr val="5B6482"/>
                </a:solidFill>
                <a:latin typeface="Calibri"/>
              </a:rPr>
              <a:t>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03744"/>
          <a:ext cx="10911840" cy="22747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5659"/>
                <a:gridCol w="5050734"/>
                <a:gridCol w="4915447"/>
              </a:tblGrid>
              <a:tr h="33593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Mercado de dinero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Mercado de capitales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32755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Plazo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Corto plazo: vencimiento ≤ 1 año (la mayoría, menos de 120 días).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Largo plazo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71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Dar liquidez de corto plazo a la economía y servir de canal a la política monetaria.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Financiar la inversión productiva de largo plazo y diversificar el riesgo entre ahorradores e inversionistas.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</a:tr>
              <a:tr h="5371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Emisores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Instituciones monetarias (bancos comerciales) emiten pasivos usables como medios de pago.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Instituciones no monetarias (banca de inversión, aseguradoras, bolsa) emiten bonos y acciones.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71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Instrumentos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CETES, papel comercial, certificados de depósito, reportos, aceptaciones bancarias, fondeo interbancario (TIIE).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Bonos hipotecarios, acciones ordinarias y preferentes, FIBRAs, certificados bursátiles de largo plazo.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9A227"/>
                </a:solidFill>
                <a:latin typeface="Calibri"/>
              </a:rPr>
              <a:t>MERCADO DE DINERO Y CAPITALES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Mercado de dinero y mercado de capitales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32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6ADC7"/>
                </a:solidFill>
                <a:latin typeface="Calibr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9808"/>
            <a:ext cx="10911840" cy="2034296"/>
          </a:xfrm>
          <a:prstGeom prst="roundRect">
            <a:avLst>
              <a:gd name="adj" fmla="val 5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39808"/>
            <a:ext cx="45720" cy="2034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80" y="1679808"/>
            <a:ext cx="10551840" cy="45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Ejemplo resuelto.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 Clasificar un instrumento por plazo no depende de quién lo emite (ver </a:t>
            </a:r>
            <a:r>
              <a:rPr sz="1300" b="0" i="0">
                <a:solidFill>
                  <a:srgbClr val="1E2761"/>
                </a:solidFill>
                <a:latin typeface="Consolas"/>
              </a:rPr>
              <a:t>3_emisor_activo_financiero.md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), son dos criterios independientes.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80" y="2172464"/>
            <a:ext cx="260000" cy="266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80" y="2172464"/>
            <a:ext cx="10291840" cy="266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E2761"/>
                </a:solidFill>
                <a:latin typeface="Calibri"/>
              </a:rPr>
              <a:t>Papel comercial de una empresa a 60 días.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 ¿A qué plazo? 60 días, menos de un año → mercado de dinero.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80" y="2438792"/>
            <a:ext cx="260000" cy="477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80" y="2438792"/>
            <a:ext cx="10291840" cy="477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E2761"/>
                </a:solidFill>
                <a:latin typeface="Calibri"/>
              </a:rPr>
              <a:t>Certificado bursátil bancario a 10 años.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 ¿A qué plazo? 10 años → mercado de capitales. El plazo largo no dice nada sobre si es deuda directa o indirecta, eso depende de quién emite.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80" y="2916448"/>
            <a:ext cx="260000" cy="477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80" y="2916448"/>
            <a:ext cx="10291840" cy="477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E2761"/>
                </a:solidFill>
                <a:latin typeface="Calibri"/>
              </a:rPr>
              <a:t>CETE a 28 días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 frente a </a:t>
            </a:r>
            <a:r>
              <a:rPr sz="1300" b="0" i="1">
                <a:solidFill>
                  <a:srgbClr val="1E2761"/>
                </a:solidFill>
                <a:latin typeface="Calibri"/>
              </a:rPr>
              <a:t>Bono M a 10 años</a:t>
            </a:r>
            <a:r>
              <a:rPr sz="1300" b="0" i="0">
                <a:solidFill>
                  <a:srgbClr val="1E2761"/>
                </a:solidFill>
                <a:latin typeface="Calibri"/>
              </a:rPr>
              <a:t>, ambos emitidos por el mismo gobierno federal. Mismo emisor, mismo tipo (deuda directa), pero distinto mercado: el CETE es mercado de dinero por su plazo corto; el Bono M es mercado de capitales por su plazo largo.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64104"/>
            <a:ext cx="260000" cy="274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80" y="3664104"/>
            <a:ext cx="10651840" cy="274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7314D"/>
                </a:solidFill>
                <a:latin typeface="Calibri"/>
              </a:rPr>
              <a:t>En México, los bancos múltiples integran ambas funciones desde principios de la década de 1970.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8560"/>
            <a:ext cx="260000" cy="493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80" y="3938560"/>
            <a:ext cx="10651840" cy="493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7314D"/>
                </a:solidFill>
                <a:latin typeface="Calibri"/>
              </a:rPr>
              <a:t>Los </a:t>
            </a:r>
            <a:r>
              <a:rPr sz="1350" b="1" i="0">
                <a:solidFill>
                  <a:srgbClr val="27314D"/>
                </a:solidFill>
                <a:latin typeface="Calibri"/>
              </a:rPr>
              <a:t>mercados de derivados</a:t>
            </a:r>
            <a:r>
              <a:rPr sz="1350" b="0" i="0">
                <a:solidFill>
                  <a:srgbClr val="27314D"/>
                </a:solidFill>
                <a:latin typeface="Calibri"/>
              </a:rPr>
              <a:t> (futuros, opciones, swaps) son un tercer segmento, definido por el instrumento y no por el plazo; se estudian aparte más adelante en el curso.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2472"/>
            <a:ext cx="260000" cy="493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80" y="4432472"/>
            <a:ext cx="10651840" cy="493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7314D"/>
                </a:solidFill>
                <a:latin typeface="Calibri"/>
              </a:rPr>
              <a:t>Es, sobre todo, un mercado </a:t>
            </a:r>
            <a:r>
              <a:rPr sz="1350" b="1" i="0">
                <a:solidFill>
                  <a:srgbClr val="27314D"/>
                </a:solidFill>
                <a:latin typeface="Calibri"/>
              </a:rPr>
              <a:t>mayorista</a:t>
            </a:r>
            <a:r>
              <a:rPr sz="1350" b="0" i="0">
                <a:solidFill>
                  <a:srgbClr val="27314D"/>
                </a:solidFill>
                <a:latin typeface="Calibri"/>
              </a:rPr>
              <a:t>: operaciones grandes entre bancos, gobierno y empresas, no pensado para el ahorrador individual. En México, CETES es la excepción visible: es accesible al público a través de Cetesdirecto.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26384"/>
            <a:ext cx="260000" cy="493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80" y="4926384"/>
            <a:ext cx="10651840" cy="493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7314D"/>
                </a:solidFill>
                <a:latin typeface="Calibri"/>
              </a:rPr>
              <a:t>El banco central lo usa como canal de política monetaria: Banxico compra y vende valores gubernamentales en operaciones de mercado abierto, lo que mueve la </a:t>
            </a:r>
            <a:r>
              <a:rPr sz="1350" b="1" i="0">
                <a:solidFill>
                  <a:srgbClr val="27314D"/>
                </a:solidFill>
                <a:latin typeface="Calibri"/>
              </a:rPr>
              <a:t>TIIE</a:t>
            </a:r>
            <a:r>
              <a:rPr sz="1350" b="0" i="0">
                <a:solidFill>
                  <a:srgbClr val="27314D"/>
                </a:solidFill>
                <a:latin typeface="Calibri"/>
              </a:rPr>
              <a:t> (tasa de interés interbancaria de equilibrio), la tasa de referencia de corto plazo de la economía.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9A227"/>
                </a:solidFill>
                <a:latin typeface="Calibri"/>
              </a:rPr>
              <a:t>MERCADO DE DINERO Y CAPITALES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Agentes económicos y su acceso a los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32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6ADC7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9808"/>
            <a:ext cx="10911840" cy="53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5B6482"/>
                </a:solidFill>
                <a:latin typeface="Calibri"/>
              </a:rPr>
              <a:t>Ya clasificado el mercado por plazo, falta ver cómo participa cada tipo de agente económico en el mercado de dinero y en el de capitales.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03744"/>
          <a:ext cx="10911840" cy="29298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9487"/>
                <a:gridCol w="4010838"/>
                <a:gridCol w="5131515"/>
              </a:tblGrid>
              <a:tr h="33593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Agente económico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Mercado de dinero (corto plazo)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Mercado de capitales (largo plazo)</a:t>
                      </a:r>
                    </a:p>
                  </a:txBody>
                  <a:tcPr marL="54864" marR="54864" marT="27432" marB="27432" anchor="ctr">
                    <a:solidFill>
                      <a:srgbClr val="1E2761"/>
                    </a:solidFill>
                  </a:tcPr>
                </a:tc>
              </a:tr>
              <a:tr h="32755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Gobierno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CETES y otros instrumentos de deuda de corto plazo.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Bonos M y Udibonos: deuda de largo plazo.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755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Grandes empresas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Papel comercial para financiar capital de trabajo.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Emisión de obligaciones y colocación de acciones en bolsa.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</a:tr>
              <a:tr h="5371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PyMEs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Crédito bancario de corto plazo, factoraje y crédito de proveedores.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Acceso muy limitado; recurren a banca de desarrollo (NAFIN) en vez de la bolsa pública.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71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Bancos e intermediarios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Captación de depósitos; actúan como creadores de mercado.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Colocación y garantía de emisiones (banca de inversión).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</a:tr>
              <a:tr h="32755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Personas físicas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Cuentas de ahorro y depósitos a la vista o a plazo.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Acceso indirecto vía fondos de inversión, Afores o casas de bolsa.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71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Inversionistas institucionales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Instrumentos líquidos de tesorería de corto plazo.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7314D"/>
                          </a:solidFill>
                          <a:latin typeface="Calibri"/>
                        </a:rPr>
                        <a:t>Principal fuente de demanda de largo plazo: bonos y acciones.</a:t>
                      </a:r>
                    </a:p>
                  </a:txBody>
                  <a:tcPr marL="54864" marR="54864" marT="27432" marB="27432" anchor="ctr"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Cierre · Mercado de Dinero y Capitales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29808"/>
            <a:ext cx="10332720" cy="60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761"/>
                </a:solidFill>
                <a:latin typeface="Calibri"/>
              </a:rPr>
              <a:t>El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mercado de dinero</a:t>
            </a:r>
            <a:r>
              <a:rPr sz="1600" b="0" i="0">
                <a:solidFill>
                  <a:srgbClr val="1E2761"/>
                </a:solidFill>
                <a:latin typeface="Calibri"/>
              </a:rPr>
              <a:t> (corto plazo, liquidez) y el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mercado de capitales</a:t>
            </a:r>
            <a:r>
              <a:rPr sz="1600" b="0" i="0">
                <a:solidFill>
                  <a:srgbClr val="1E2761"/>
                </a:solidFill>
                <a:latin typeface="Calibri"/>
              </a:rPr>
              <a:t> (largo plazo, inversión productiva) canalizan el ahorro según el plazo; los derivados son un tercer segmento, definido por el instrumento y no por el plazo.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38448"/>
            <a:ext cx="10332720" cy="60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761"/>
                </a:solidFill>
                <a:latin typeface="Calibri"/>
              </a:rPr>
              <a:t>Clasificar un instrumento por plazo (dinero/capitales) y por emisor (deuda directa/indirecta/capital) son dos criterios independientes: el plazo no dice nada sobre quién emite.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7088"/>
            <a:ext cx="10332720" cy="60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761"/>
                </a:solidFill>
                <a:latin typeface="Calibri"/>
              </a:rPr>
              <a:t>Cada agente económico (gobierno, empresas, PyMEs, bancos, personas físicas, institucionales) accede de forma distinta a ambos mercados.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55728"/>
            <a:ext cx="10332720" cy="60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2761"/>
                </a:solidFill>
                <a:latin typeface="Calibri"/>
              </a:rPr>
              <a:t>Banxico usa el mercado de dinero como canal de política monetaria: sus operaciones de mercado abierto mueven la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TIIE</a:t>
            </a:r>
            <a:r>
              <a:rPr sz="1600" b="0" i="0">
                <a:solidFill>
                  <a:srgbClr val="1E2761"/>
                </a:solidFill>
                <a:latin typeface="Calibri"/>
              </a:rPr>
              <a:t>, la tasa de referencia de corto plazo de la economía.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9A227"/>
                </a:solidFill>
                <a:latin typeface="Calibri"/>
              </a:rPr>
              <a:t>PREPARACIÓN DOCENTE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11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Fuentes y referencias recomendadas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32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6ADC7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9808"/>
            <a:ext cx="260000" cy="274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80" y="1539808"/>
            <a:ext cx="10651840" cy="274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7314D"/>
                </a:solidFill>
                <a:latin typeface="Calibri"/>
              </a:rPr>
              <a:t>Mántey de Anguiano, G. (2024). </a:t>
            </a:r>
            <a:r>
              <a:rPr sz="1350" b="0" i="1">
                <a:solidFill>
                  <a:srgbClr val="27314D"/>
                </a:solidFill>
                <a:latin typeface="Calibri"/>
              </a:rPr>
              <a:t>Lecciones de Economía Monetaria</a:t>
            </a:r>
            <a:r>
              <a:rPr sz="1350" b="0" i="0">
                <a:solidFill>
                  <a:srgbClr val="27314D"/>
                </a:solidFill>
                <a:latin typeface="Calibri"/>
              </a:rPr>
              <a:t>. UNAM. Lección 2: clasificación de mercado de dinero/capitales.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4264"/>
            <a:ext cx="260000" cy="274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9A227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80" y="1814264"/>
            <a:ext cx="10651840" cy="274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7314D"/>
                </a:solidFill>
                <a:latin typeface="Calibri"/>
              </a:rPr>
              <a:t>Mishkin, F. S. y Eakins, S. G. (2014). </a:t>
            </a:r>
            <a:r>
              <a:rPr sz="1350" b="0" i="1">
                <a:solidFill>
                  <a:srgbClr val="27314D"/>
                </a:solidFill>
                <a:latin typeface="Calibri"/>
              </a:rPr>
              <a:t>Financial Markets and Institutions</a:t>
            </a:r>
            <a:r>
              <a:rPr sz="1350" b="0" i="0">
                <a:solidFill>
                  <a:srgbClr val="27314D"/>
                </a:solidFill>
                <a:latin typeface="Calibri"/>
              </a:rPr>
              <a:t> (8ª ed.). Pearson. Cap. 11, "The Money Markets".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