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9600000" y="-1400000"/>
            <a:ext cx="4200000" cy="4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00000" y="4300000"/>
            <a:ext cx="3200000" cy="3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50000"/>
            <a:ext cx="10911840" cy="320040"/>
          </a:xfrm>
          <a:prstGeom prst="rect">
            <a:avLst/>
          </a:prstGeom>
          <a:noFill/>
        </p:spPr>
        <p:txBody>
          <a:bodyPr wrap="square" lIns="0" rIns="0" tIns="0" bIns="0">
            <a:spAutoFit/>
          </a:bodyPr>
          <a:lstStyle/>
          <a:p>
            <a:pPr algn="l"/>
            <a:r>
              <a:rPr sz="1300" b="1" i="0">
                <a:solidFill>
                  <a:srgbClr val="C9A227"/>
                </a:solidFill>
                <a:latin typeface="Calibri"/>
              </a:rPr>
              <a:t>MERCADOS DE DEUDA Y CAPITALES</a:t>
            </a:r>
          </a:p>
        </p:txBody>
      </p:sp>
      <p:sp>
        <p:nvSpPr>
          <p:cNvPr id="5" name="TextBox 4"/>
          <p:cNvSpPr txBox="1"/>
          <p:nvPr/>
        </p:nvSpPr>
        <p:spPr>
          <a:xfrm>
            <a:off x="640080" y="2050000"/>
            <a:ext cx="9200000" cy="1240000"/>
          </a:xfrm>
          <a:prstGeom prst="rect">
            <a:avLst/>
          </a:prstGeom>
          <a:noFill/>
        </p:spPr>
        <p:txBody>
          <a:bodyPr wrap="square" lIns="0" rIns="0" tIns="0" bIns="0">
            <a:spAutoFit/>
          </a:bodyPr>
          <a:lstStyle/>
          <a:p>
            <a:pPr algn="l"/>
            <a:r>
              <a:rPr sz="4000" b="1" i="0">
                <a:solidFill>
                  <a:srgbClr val="1E2761"/>
                </a:solidFill>
                <a:latin typeface="Cambria"/>
              </a:rPr>
              <a:t>Matemática Financiera y Mecánica del Mercado</a:t>
            </a:r>
          </a:p>
        </p:txBody>
      </p:sp>
      <p:sp>
        <p:nvSpPr>
          <p:cNvPr id="6" name="TextBox 5"/>
          <p:cNvSpPr txBox="1"/>
          <p:nvPr/>
        </p:nvSpPr>
        <p:spPr>
          <a:xfrm>
            <a:off x="640080" y="3410000"/>
            <a:ext cx="9200000" cy="400000"/>
          </a:xfrm>
          <a:prstGeom prst="rect">
            <a:avLst/>
          </a:prstGeom>
          <a:noFill/>
        </p:spPr>
        <p:txBody>
          <a:bodyPr wrap="square" lIns="0" rIns="0" tIns="0" bIns="0">
            <a:spAutoFit/>
          </a:bodyPr>
          <a:lstStyle/>
          <a:p>
            <a:pPr algn="l"/>
            <a:r>
              <a:rPr sz="1300" b="0" i="1">
                <a:solidFill>
                  <a:srgbClr val="5B6482"/>
                </a:solidFill>
                <a:latin typeface="Calibri"/>
              </a:rPr>
              <a:t>Mercados de Deuda y Capitales, Licenciatura en Comercio y Finanzas Internacionales, Universidad Autónoma de Zacatecas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Objetivo de la unidad</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02</a:t>
            </a:r>
          </a:p>
        </p:txBody>
      </p:sp>
      <p:sp>
        <p:nvSpPr>
          <p:cNvPr id="5" name="Rounded Rectangle 4"/>
          <p:cNvSpPr/>
          <p:nvPr/>
        </p:nvSpPr>
        <p:spPr>
          <a:xfrm>
            <a:off x="640080" y="2743200"/>
            <a:ext cx="10881360" cy="1262000"/>
          </a:xfrm>
          <a:prstGeom prst="roundRect">
            <a:avLst>
              <a:gd name="adj" fmla="val 4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943200"/>
            <a:ext cx="10058400" cy="862000"/>
          </a:xfrm>
          <a:prstGeom prst="rect">
            <a:avLst/>
          </a:prstGeom>
          <a:noFill/>
        </p:spPr>
        <p:txBody>
          <a:bodyPr wrap="square" lIns="0" rIns="0" tIns="0" bIns="0" anchor="ctr">
            <a:spAutoFit/>
          </a:bodyPr>
          <a:lstStyle/>
          <a:p>
            <a:pPr algn="l"/>
            <a:r>
              <a:rPr sz="2000" b="0" i="0">
                <a:solidFill>
                  <a:srgbClr val="27314D"/>
                </a:solidFill>
                <a:latin typeface="Cambria"/>
              </a:rPr>
              <a:t>Que el estudiante calcule el valor de un flujo en el tiempo (valor presente/futuro) y la tasa efectiva a partir de una tasa nominal.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Tabla de contenido</a:t>
            </a:r>
          </a:p>
        </p:txBody>
      </p:sp>
      <p:sp>
        <p:nvSpPr>
          <p:cNvPr id="3" name="TextBox 2"/>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03</a:t>
            </a:r>
          </a:p>
        </p:txBody>
      </p:sp>
      <p:sp>
        <p:nvSpPr>
          <p:cNvPr id="4" name="TextBox 3"/>
          <p:cNvSpPr txBox="1"/>
          <p:nvPr/>
        </p:nvSpPr>
        <p:spPr>
          <a:xfrm>
            <a:off x="640080" y="1900000"/>
            <a:ext cx="700000" cy="400000"/>
          </a:xfrm>
          <a:prstGeom prst="rect">
            <a:avLst/>
          </a:prstGeom>
          <a:noFill/>
        </p:spPr>
        <p:txBody>
          <a:bodyPr wrap="square" lIns="0" rIns="0" tIns="0" bIns="0">
            <a:spAutoFit/>
          </a:bodyPr>
          <a:lstStyle/>
          <a:p>
            <a:pPr algn="l"/>
            <a:r>
              <a:rPr sz="1500" b="1" i="0">
                <a:solidFill>
                  <a:srgbClr val="C9A227"/>
                </a:solidFill>
                <a:latin typeface="Cambria"/>
              </a:rPr>
              <a:t>I.</a:t>
            </a:r>
          </a:p>
        </p:txBody>
      </p:sp>
      <p:sp>
        <p:nvSpPr>
          <p:cNvPr id="5" name="TextBox 4"/>
          <p:cNvSpPr txBox="1"/>
          <p:nvPr/>
        </p:nvSpPr>
        <p:spPr>
          <a:xfrm>
            <a:off x="1390080" y="1900000"/>
            <a:ext cx="8600000" cy="400000"/>
          </a:xfrm>
          <a:prstGeom prst="rect">
            <a:avLst/>
          </a:prstGeom>
          <a:noFill/>
        </p:spPr>
        <p:txBody>
          <a:bodyPr wrap="square" lIns="0" rIns="0" tIns="0" bIns="0">
            <a:spAutoFit/>
          </a:bodyPr>
          <a:lstStyle/>
          <a:p>
            <a:pPr algn="l"/>
            <a:r>
              <a:rPr sz="1500" b="1" i="0">
                <a:solidFill>
                  <a:srgbClr val="1E2761"/>
                </a:solidFill>
                <a:latin typeface="Cambria"/>
              </a:rPr>
              <a:t>Matemática financiera básica</a:t>
            </a:r>
          </a:p>
        </p:txBody>
      </p:sp>
      <p:sp>
        <p:nvSpPr>
          <p:cNvPr id="6" name="TextBox 5"/>
          <p:cNvSpPr txBox="1"/>
          <p:nvPr/>
        </p:nvSpPr>
        <p:spPr>
          <a:xfrm>
            <a:off x="1390080" y="2230000"/>
            <a:ext cx="8600000" cy="300000"/>
          </a:xfrm>
          <a:prstGeom prst="rect">
            <a:avLst/>
          </a:prstGeom>
          <a:noFill/>
        </p:spPr>
        <p:txBody>
          <a:bodyPr wrap="square" lIns="0" rIns="0" tIns="0" bIns="0">
            <a:spAutoFit/>
          </a:bodyPr>
          <a:lstStyle/>
          <a:p>
            <a:pPr algn="l"/>
            <a:r>
              <a:rPr sz="1050" b="0" i="0">
                <a:solidFill>
                  <a:srgbClr val="5B6482"/>
                </a:solidFill>
                <a:latin typeface="Calibri"/>
              </a:rPr>
              <a:t>Interés simple/compuesto, valor presente y futuro, tasas nominal/efectiva, anualidades</a:t>
            </a:r>
          </a:p>
        </p:txBody>
      </p:sp>
      <p:sp>
        <p:nvSpPr>
          <p:cNvPr id="7" name="TextBox 6"/>
          <p:cNvSpPr txBox="1"/>
          <p:nvPr/>
        </p:nvSpPr>
        <p:spPr>
          <a:xfrm>
            <a:off x="10351920" y="1900000"/>
            <a:ext cx="1200000" cy="400000"/>
          </a:xfrm>
          <a:prstGeom prst="rect">
            <a:avLst/>
          </a:prstGeom>
          <a:noFill/>
        </p:spPr>
        <p:txBody>
          <a:bodyPr wrap="square" lIns="0" rIns="0" tIns="0" bIns="0">
            <a:spAutoFit/>
          </a:bodyPr>
          <a:lstStyle/>
          <a:p>
            <a:pPr algn="r"/>
            <a:r>
              <a:rPr sz="1100" b="0" i="0">
                <a:solidFill>
                  <a:srgbClr val="5B6482"/>
                </a:solidFill>
                <a:latin typeface="Calibri"/>
              </a:rPr>
              <a:t>PÁG. 04</a:t>
            </a:r>
          </a:p>
        </p:txBody>
      </p:sp>
      <p:sp>
        <p:nvSpPr>
          <p:cNvPr id="8" name="TextBox 7"/>
          <p:cNvSpPr txBox="1"/>
          <p:nvPr/>
        </p:nvSpPr>
        <p:spPr>
          <a:xfrm>
            <a:off x="640080" y="2520000"/>
            <a:ext cx="700000" cy="400000"/>
          </a:xfrm>
          <a:prstGeom prst="rect">
            <a:avLst/>
          </a:prstGeom>
          <a:noFill/>
        </p:spPr>
        <p:txBody>
          <a:bodyPr wrap="square" lIns="0" rIns="0" tIns="0" bIns="0">
            <a:spAutoFit/>
          </a:bodyPr>
          <a:lstStyle/>
          <a:p>
            <a:pPr algn="l"/>
            <a:r>
              <a:rPr sz="1500" b="1" i="0">
                <a:solidFill>
                  <a:srgbClr val="C9A227"/>
                </a:solidFill>
                <a:latin typeface="Cambria"/>
              </a:rPr>
              <a:t>II.</a:t>
            </a:r>
          </a:p>
        </p:txBody>
      </p:sp>
      <p:sp>
        <p:nvSpPr>
          <p:cNvPr id="9" name="TextBox 8"/>
          <p:cNvSpPr txBox="1"/>
          <p:nvPr/>
        </p:nvSpPr>
        <p:spPr>
          <a:xfrm>
            <a:off x="1390080" y="2520000"/>
            <a:ext cx="8600000" cy="400000"/>
          </a:xfrm>
          <a:prstGeom prst="rect">
            <a:avLst/>
          </a:prstGeom>
          <a:noFill/>
        </p:spPr>
        <p:txBody>
          <a:bodyPr wrap="square" lIns="0" rIns="0" tIns="0" bIns="0">
            <a:spAutoFit/>
          </a:bodyPr>
          <a:lstStyle/>
          <a:p>
            <a:pPr algn="l"/>
            <a:r>
              <a:rPr sz="1500" b="1" i="0">
                <a:solidFill>
                  <a:srgbClr val="1E2761"/>
                </a:solidFill>
                <a:latin typeface="Cambria"/>
              </a:rPr>
              <a:t>Mecánica operativa del mercado</a:t>
            </a:r>
          </a:p>
        </p:txBody>
      </p:sp>
      <p:sp>
        <p:nvSpPr>
          <p:cNvPr id="10" name="TextBox 9"/>
          <p:cNvSpPr txBox="1"/>
          <p:nvPr/>
        </p:nvSpPr>
        <p:spPr>
          <a:xfrm>
            <a:off x="1390080" y="2850000"/>
            <a:ext cx="8600000" cy="300000"/>
          </a:xfrm>
          <a:prstGeom prst="rect">
            <a:avLst/>
          </a:prstGeom>
          <a:noFill/>
        </p:spPr>
        <p:txBody>
          <a:bodyPr wrap="square" lIns="0" rIns="0" tIns="0" bIns="0">
            <a:spAutoFit/>
          </a:bodyPr>
          <a:lstStyle/>
          <a:p>
            <a:pPr algn="l"/>
            <a:r>
              <a:rPr sz="1050" b="0" i="0">
                <a:solidFill>
                  <a:srgbClr val="5B6482"/>
                </a:solidFill>
                <a:latin typeface="Calibri"/>
              </a:rPr>
              <a:t>Mercado primario/secundario, BMV/BIVA, Indeval, calificadoras</a:t>
            </a:r>
          </a:p>
        </p:txBody>
      </p:sp>
      <p:sp>
        <p:nvSpPr>
          <p:cNvPr id="11" name="TextBox 10"/>
          <p:cNvSpPr txBox="1"/>
          <p:nvPr/>
        </p:nvSpPr>
        <p:spPr>
          <a:xfrm>
            <a:off x="10351920" y="2520000"/>
            <a:ext cx="1200000" cy="400000"/>
          </a:xfrm>
          <a:prstGeom prst="rect">
            <a:avLst/>
          </a:prstGeom>
          <a:noFill/>
        </p:spPr>
        <p:txBody>
          <a:bodyPr wrap="square" lIns="0" rIns="0" tIns="0" bIns="0">
            <a:spAutoFit/>
          </a:bodyPr>
          <a:lstStyle/>
          <a:p>
            <a:pPr algn="r"/>
            <a:r>
              <a:rPr sz="1100" b="0" i="0">
                <a:solidFill>
                  <a:srgbClr val="5B6482"/>
                </a:solidFill>
                <a:latin typeface="Calibri"/>
              </a:rPr>
              <a:t>PÁG.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Interés simple vs. interés compuesto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04</a:t>
            </a:r>
          </a:p>
        </p:txBody>
      </p:sp>
      <p:sp>
        <p:nvSpPr>
          <p:cNvPr id="5" name="TextBox 4"/>
          <p:cNvSpPr txBox="1"/>
          <p:nvPr/>
        </p:nvSpPr>
        <p:spPr>
          <a:xfrm>
            <a:off x="640080" y="153980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274456"/>
          </a:xfrm>
          <a:prstGeom prst="rect">
            <a:avLst/>
          </a:prstGeom>
          <a:noFill/>
        </p:spPr>
        <p:txBody>
          <a:bodyPr wrap="square" lIns="0" rIns="0" tIns="0" bIns="0">
            <a:spAutoFit/>
          </a:bodyPr>
          <a:lstStyle/>
          <a:p>
            <a:pPr algn="l"/>
            <a:r>
              <a:rPr sz="1350" b="1" i="0">
                <a:solidFill>
                  <a:srgbClr val="27314D"/>
                </a:solidFill>
                <a:latin typeface="Calibri"/>
              </a:rPr>
              <a:t>Interés simple</a:t>
            </a:r>
            <a:r>
              <a:rPr sz="1350" b="0" i="0">
                <a:solidFill>
                  <a:srgbClr val="27314D"/>
                </a:solidFill>
                <a:latin typeface="Calibri"/>
              </a:rPr>
              <a:t>: el interés se retira al final de cada periodo; el capital permanece constante y no genera "interés sobre interés".</a:t>
            </a:r>
          </a:p>
        </p:txBody>
      </p:sp>
      <p:sp>
        <p:nvSpPr>
          <p:cNvPr id="7" name="TextBox 6"/>
          <p:cNvSpPr txBox="1"/>
          <p:nvPr/>
        </p:nvSpPr>
        <p:spPr>
          <a:xfrm>
            <a:off x="640080" y="1814264"/>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1814264"/>
            <a:ext cx="10651840" cy="493912"/>
          </a:xfrm>
          <a:prstGeom prst="rect">
            <a:avLst/>
          </a:prstGeom>
          <a:noFill/>
        </p:spPr>
        <p:txBody>
          <a:bodyPr wrap="square" lIns="0" rIns="0" tIns="0" bIns="0">
            <a:spAutoFit/>
          </a:bodyPr>
          <a:lstStyle/>
          <a:p>
            <a:pPr algn="l"/>
            <a:r>
              <a:rPr sz="1350" b="1" i="0">
                <a:solidFill>
                  <a:srgbClr val="27314D"/>
                </a:solidFill>
                <a:latin typeface="Calibri"/>
              </a:rPr>
              <a:t>Interés compuesto</a:t>
            </a:r>
            <a:r>
              <a:rPr sz="1350" b="0" i="0">
                <a:solidFill>
                  <a:srgbClr val="27314D"/>
                </a:solidFill>
                <a:latin typeface="Calibri"/>
              </a:rPr>
              <a:t>: el interés se queda invertido junto con el capital, así que en el siguiente periodo también genera rendimiento. Es el supuesto que se usa en casi toda la valuación financiera del curso.</a:t>
            </a:r>
          </a:p>
        </p:txBody>
      </p:sp>
      <p:sp>
        <p:nvSpPr>
          <p:cNvPr id="9" name="TextBox 8"/>
          <p:cNvSpPr txBox="1"/>
          <p:nvPr/>
        </p:nvSpPr>
        <p:spPr>
          <a:xfrm>
            <a:off x="640080" y="2398176"/>
            <a:ext cx="10911840" cy="200688"/>
          </a:xfrm>
          <a:prstGeom prst="rect">
            <a:avLst/>
          </a:prstGeom>
          <a:noFill/>
        </p:spPr>
        <p:txBody>
          <a:bodyPr wrap="square" lIns="0" rIns="0" tIns="0" bIns="0">
            <a:spAutoFit/>
          </a:bodyPr>
          <a:lstStyle/>
          <a:p>
            <a:pPr algn="l"/>
            <a:r>
              <a:rPr sz="1050" b="0" i="1">
                <a:solidFill>
                  <a:srgbClr val="5B6482"/>
                </a:solidFill>
                <a:latin typeface="Calibri"/>
              </a:rPr>
              <a:t>Fuente: Fabozzi, F. J. y Peterson Drake, P. (2009). Finance, Cap. 2 "Mathematics of Finance", p. 13, Wiley.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Valor futuro y valor presente de un flujo único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05</a:t>
            </a:r>
          </a:p>
        </p:txBody>
      </p:sp>
      <p:sp>
        <p:nvSpPr>
          <p:cNvPr id="5" name="TextBox 4"/>
          <p:cNvSpPr txBox="1"/>
          <p:nvPr/>
        </p:nvSpPr>
        <p:spPr>
          <a:xfrm>
            <a:off x="640080" y="1539808"/>
            <a:ext cx="10911840" cy="533936"/>
          </a:xfrm>
          <a:prstGeom prst="rect">
            <a:avLst/>
          </a:prstGeom>
          <a:noFill/>
        </p:spPr>
        <p:txBody>
          <a:bodyPr wrap="square" lIns="0" rIns="0" tIns="0" bIns="0">
            <a:spAutoFit/>
          </a:bodyPr>
          <a:lstStyle/>
          <a:p>
            <a:pPr algn="l"/>
            <a:r>
              <a:rPr sz="1550" b="1" i="0">
                <a:solidFill>
                  <a:srgbClr val="5B6482"/>
                </a:solidFill>
                <a:latin typeface="Calibri"/>
              </a:rPr>
              <a:t>¿De dónde sale la fórmula?</a:t>
            </a:r>
            <a:r>
              <a:rPr sz="1550" b="0" i="0">
                <a:solidFill>
                  <a:srgbClr val="5B6482"/>
                </a:solidFill>
                <a:latin typeface="Calibri"/>
              </a:rPr>
              <a:t> Parte del interés compuesto de la sección anterior: cada periodo, el capital que tienes crece un factor (1+r) respecto al periodo anterior.</a:t>
            </a:r>
          </a:p>
        </p:txBody>
      </p:sp>
      <p:sp>
        <p:nvSpPr>
          <p:cNvPr id="6" name="TextBox 5"/>
          <p:cNvSpPr txBox="1"/>
          <p:nvPr/>
        </p:nvSpPr>
        <p:spPr>
          <a:xfrm>
            <a:off x="640080" y="220374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7" name="TextBox 6"/>
          <p:cNvSpPr txBox="1"/>
          <p:nvPr/>
        </p:nvSpPr>
        <p:spPr>
          <a:xfrm>
            <a:off x="900080" y="2203744"/>
            <a:ext cx="10651840" cy="274456"/>
          </a:xfrm>
          <a:prstGeom prst="rect">
            <a:avLst/>
          </a:prstGeom>
          <a:noFill/>
        </p:spPr>
        <p:txBody>
          <a:bodyPr wrap="square" lIns="0" rIns="0" tIns="0" bIns="0">
            <a:spAutoFit/>
          </a:bodyPr>
          <a:lstStyle/>
          <a:p>
            <a:pPr algn="l"/>
            <a:r>
              <a:rPr sz="1350" b="0" i="0">
                <a:solidFill>
                  <a:srgbClr val="27314D"/>
                </a:solidFill>
                <a:latin typeface="Calibri"/>
              </a:rPr>
              <a:t>Al final del periodo 1: VF₁ = VP(1+r)</a:t>
            </a:r>
          </a:p>
        </p:txBody>
      </p:sp>
      <p:sp>
        <p:nvSpPr>
          <p:cNvPr id="8" name="TextBox 7"/>
          <p:cNvSpPr txBox="1"/>
          <p:nvPr/>
        </p:nvSpPr>
        <p:spPr>
          <a:xfrm>
            <a:off x="640080" y="247820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9" name="TextBox 8"/>
          <p:cNvSpPr txBox="1"/>
          <p:nvPr/>
        </p:nvSpPr>
        <p:spPr>
          <a:xfrm>
            <a:off x="900080" y="2478200"/>
            <a:ext cx="10651840" cy="274456"/>
          </a:xfrm>
          <a:prstGeom prst="rect">
            <a:avLst/>
          </a:prstGeom>
          <a:noFill/>
        </p:spPr>
        <p:txBody>
          <a:bodyPr wrap="square" lIns="0" rIns="0" tIns="0" bIns="0">
            <a:spAutoFit/>
          </a:bodyPr>
          <a:lstStyle/>
          <a:p>
            <a:pPr algn="l"/>
            <a:r>
              <a:rPr sz="1350" b="0" i="0">
                <a:solidFill>
                  <a:srgbClr val="27314D"/>
                </a:solidFill>
                <a:latin typeface="Calibri"/>
              </a:rPr>
              <a:t>Al final del periodo 2, ese VF₁ vuelve a crecer un factor (1+r): VF₂ = VF₁(1+r) = VP(1+r)(1+r) = VP(1+r)²</a:t>
            </a:r>
          </a:p>
        </p:txBody>
      </p:sp>
      <p:sp>
        <p:nvSpPr>
          <p:cNvPr id="10" name="TextBox 9"/>
          <p:cNvSpPr txBox="1"/>
          <p:nvPr/>
        </p:nvSpPr>
        <p:spPr>
          <a:xfrm>
            <a:off x="640080" y="275265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1" name="TextBox 10"/>
          <p:cNvSpPr txBox="1"/>
          <p:nvPr/>
        </p:nvSpPr>
        <p:spPr>
          <a:xfrm>
            <a:off x="900080" y="2752656"/>
            <a:ext cx="10651840" cy="274456"/>
          </a:xfrm>
          <a:prstGeom prst="rect">
            <a:avLst/>
          </a:prstGeom>
          <a:noFill/>
        </p:spPr>
        <p:txBody>
          <a:bodyPr wrap="square" lIns="0" rIns="0" tIns="0" bIns="0">
            <a:spAutoFit/>
          </a:bodyPr>
          <a:lstStyle/>
          <a:p>
            <a:pPr algn="l"/>
            <a:r>
              <a:rPr sz="1350" b="0" i="0">
                <a:solidFill>
                  <a:srgbClr val="27314D"/>
                </a:solidFill>
                <a:latin typeface="Calibri"/>
              </a:rPr>
              <a:t>Repitiendo el mismo paso N veces: VFN = VP(1+r)ᴺ</a:t>
            </a:r>
          </a:p>
        </p:txBody>
      </p:sp>
      <p:sp>
        <p:nvSpPr>
          <p:cNvPr id="12" name="TextBox 11"/>
          <p:cNvSpPr txBox="1"/>
          <p:nvPr/>
        </p:nvSpPr>
        <p:spPr>
          <a:xfrm>
            <a:off x="640080" y="3117112"/>
            <a:ext cx="10911840" cy="485168"/>
          </a:xfrm>
          <a:prstGeom prst="rect">
            <a:avLst/>
          </a:prstGeom>
          <a:noFill/>
        </p:spPr>
        <p:txBody>
          <a:bodyPr wrap="square" lIns="0" rIns="0" tIns="0" bIns="0">
            <a:spAutoFit/>
          </a:bodyPr>
          <a:lstStyle/>
          <a:p>
            <a:pPr algn="l"/>
            <a:r>
              <a:rPr sz="1400" b="0" i="0">
                <a:solidFill>
                  <a:srgbClr val="27314D"/>
                </a:solidFill>
                <a:latin typeface="Calibri"/>
              </a:rPr>
              <a:t>Para despejar VP solo se invierte la operación: dividir entre (1+r)ᴺ deshace exactamente los N pasos de crecimiento compuesto, es decir, trae el flujo futuro de vuelta al presente ("descontarlo").</a:t>
            </a:r>
          </a:p>
        </p:txBody>
      </p:sp>
      <p:pic>
        <p:nvPicPr>
          <p:cNvPr id="13" name="Picture 12" descr="secValor futu_math_3.png"/>
          <p:cNvPicPr>
            <a:picLocks noChangeAspect="1"/>
          </p:cNvPicPr>
          <p:nvPr/>
        </p:nvPicPr>
        <p:blipFill>
          <a:blip r:embed="rId2"/>
          <a:stretch>
            <a:fillRect/>
          </a:stretch>
        </p:blipFill>
        <p:spPr>
          <a:xfrm>
            <a:off x="3823091" y="3692280"/>
            <a:ext cx="4545817" cy="618835"/>
          </a:xfrm>
          <a:prstGeom prst="rect">
            <a:avLst/>
          </a:prstGeom>
        </p:spPr>
      </p:pic>
      <p:sp>
        <p:nvSpPr>
          <p:cNvPr id="14" name="TextBox 13"/>
          <p:cNvSpPr txBox="1"/>
          <p:nvPr/>
        </p:nvSpPr>
        <p:spPr>
          <a:xfrm>
            <a:off x="640080" y="4401115"/>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5" name="TextBox 14"/>
          <p:cNvSpPr txBox="1"/>
          <p:nvPr/>
        </p:nvSpPr>
        <p:spPr>
          <a:xfrm>
            <a:off x="900080" y="4401115"/>
            <a:ext cx="10651840" cy="274456"/>
          </a:xfrm>
          <a:prstGeom prst="rect">
            <a:avLst/>
          </a:prstGeom>
          <a:noFill/>
        </p:spPr>
        <p:txBody>
          <a:bodyPr wrap="square" lIns="0" rIns="0" tIns="0" bIns="0">
            <a:spAutoFit/>
          </a:bodyPr>
          <a:lstStyle/>
          <a:p>
            <a:pPr algn="l"/>
            <a:r>
              <a:rPr sz="1350" b="1" i="0">
                <a:solidFill>
                  <a:srgbClr val="27314D"/>
                </a:solidFill>
                <a:latin typeface="Calibri"/>
              </a:rPr>
              <a:t>r</a:t>
            </a:r>
            <a:r>
              <a:rPr sz="1350" b="0" i="0">
                <a:solidFill>
                  <a:srgbClr val="27314D"/>
                </a:solidFill>
                <a:latin typeface="Calibri"/>
              </a:rPr>
              <a:t>: tasa de interés por periodo.</a:t>
            </a:r>
          </a:p>
        </p:txBody>
      </p:sp>
      <p:sp>
        <p:nvSpPr>
          <p:cNvPr id="16" name="TextBox 15"/>
          <p:cNvSpPr txBox="1"/>
          <p:nvPr/>
        </p:nvSpPr>
        <p:spPr>
          <a:xfrm>
            <a:off x="640080" y="4675571"/>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7" name="TextBox 16"/>
          <p:cNvSpPr txBox="1"/>
          <p:nvPr/>
        </p:nvSpPr>
        <p:spPr>
          <a:xfrm>
            <a:off x="900080" y="4675571"/>
            <a:ext cx="10651840" cy="274456"/>
          </a:xfrm>
          <a:prstGeom prst="rect">
            <a:avLst/>
          </a:prstGeom>
          <a:noFill/>
        </p:spPr>
        <p:txBody>
          <a:bodyPr wrap="square" lIns="0" rIns="0" tIns="0" bIns="0">
            <a:spAutoFit/>
          </a:bodyPr>
          <a:lstStyle/>
          <a:p>
            <a:pPr algn="l"/>
            <a:r>
              <a:rPr sz="1350" b="1" i="0">
                <a:solidFill>
                  <a:srgbClr val="27314D"/>
                </a:solidFill>
                <a:latin typeface="Calibri"/>
              </a:rPr>
              <a:t>N</a:t>
            </a:r>
            <a:r>
              <a:rPr sz="1350" b="0" i="0">
                <a:solidFill>
                  <a:srgbClr val="27314D"/>
                </a:solidFill>
                <a:latin typeface="Calibri"/>
              </a:rPr>
              <a:t>: número de periodos.</a:t>
            </a:r>
          </a:p>
        </p:txBody>
      </p:sp>
      <p:sp>
        <p:nvSpPr>
          <p:cNvPr id="18" name="Rounded Rectangle 17"/>
          <p:cNvSpPr/>
          <p:nvPr/>
        </p:nvSpPr>
        <p:spPr>
          <a:xfrm>
            <a:off x="640080" y="5040027"/>
            <a:ext cx="10911840" cy="561328"/>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5040027"/>
            <a:ext cx="45720" cy="5613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080" y="5180027"/>
            <a:ext cx="10551840" cy="241328"/>
          </a:xfrm>
          <a:prstGeom prst="rect">
            <a:avLst/>
          </a:prstGeom>
          <a:noFill/>
        </p:spPr>
        <p:txBody>
          <a:bodyPr wrap="square" lIns="0" rIns="0" tIns="0" bIns="0">
            <a:spAutoFit/>
          </a:bodyPr>
          <a:lstStyle/>
          <a:p>
            <a:pPr algn="l"/>
            <a:r>
              <a:rPr sz="1300" b="1" i="0">
                <a:solidFill>
                  <a:srgbClr val="1E2761"/>
                </a:solidFill>
                <a:latin typeface="Calibri"/>
              </a:rPr>
              <a:t>Ejemplo:</a:t>
            </a:r>
            <a:r>
              <a:rPr sz="1300" b="0" i="0">
                <a:solidFill>
                  <a:srgbClr val="1E2761"/>
                </a:solidFill>
                <a:latin typeface="Calibri"/>
              </a:rPr>
              <a:t> ¿cuánto necesitas invertir hoy para tener $100,000 en 3 años, si la tasa es 8% anual compuesta? VP = 100,000 / (1.08)³ ≈ </a:t>
            </a:r>
            <a:r>
              <a:rPr sz="1300" b="1" i="0">
                <a:solidFill>
                  <a:srgbClr val="1E2761"/>
                </a:solidFill>
                <a:latin typeface="Calibri"/>
              </a:rPr>
              <a:t>$79,383</a:t>
            </a:r>
          </a:p>
        </p:txBody>
      </p:sp>
      <p:sp>
        <p:nvSpPr>
          <p:cNvPr id="21" name="TextBox 20"/>
          <p:cNvSpPr txBox="1"/>
          <p:nvPr/>
        </p:nvSpPr>
        <p:spPr>
          <a:xfrm>
            <a:off x="640080" y="5691355"/>
            <a:ext cx="10911840" cy="200688"/>
          </a:xfrm>
          <a:prstGeom prst="rect">
            <a:avLst/>
          </a:prstGeom>
          <a:noFill/>
        </p:spPr>
        <p:txBody>
          <a:bodyPr wrap="square" lIns="0" rIns="0" tIns="0" bIns="0">
            <a:spAutoFit/>
          </a:bodyPr>
          <a:lstStyle/>
          <a:p>
            <a:pPr algn="l"/>
            <a:r>
              <a:rPr sz="1050" b="0" i="1">
                <a:solidFill>
                  <a:srgbClr val="5B6482"/>
                </a:solidFill>
                <a:latin typeface="Calibri"/>
              </a:rPr>
              <a:t>Fuente: Fabozzi, F. J. y Peterson Drake, P. (2009). Finance, Cap. 2, Ec. (2.1) p. 15 y Ec. (2.5) p. 21, Wiley.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Tasa nominal (TNA) vs. tasa efectiva (TEA)</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06</a:t>
            </a:r>
          </a:p>
        </p:txBody>
      </p:sp>
      <p:sp>
        <p:nvSpPr>
          <p:cNvPr id="5" name="TextBox 4"/>
          <p:cNvSpPr txBox="1"/>
          <p:nvPr/>
        </p:nvSpPr>
        <p:spPr>
          <a:xfrm>
            <a:off x="640080" y="1539808"/>
            <a:ext cx="10911840" cy="712752"/>
          </a:xfrm>
          <a:prstGeom prst="rect">
            <a:avLst/>
          </a:prstGeom>
          <a:noFill/>
        </p:spPr>
        <p:txBody>
          <a:bodyPr wrap="square" lIns="0" rIns="0" tIns="0" bIns="0">
            <a:spAutoFit/>
          </a:bodyPr>
          <a:lstStyle/>
          <a:p>
            <a:pPr algn="l"/>
            <a:r>
              <a:rPr sz="1400" b="1" i="0">
                <a:solidFill>
                  <a:srgbClr val="27314D"/>
                </a:solidFill>
                <a:latin typeface="Calibri"/>
              </a:rPr>
              <a:t>¿De dónde sale la fórmula?</a:t>
            </a:r>
            <a:r>
              <a:rPr sz="1400" b="0" i="0">
                <a:solidFill>
                  <a:srgbClr val="27314D"/>
                </a:solidFill>
                <a:latin typeface="Calibri"/>
              </a:rPr>
              <a:t> La TNA es solo la tasa por periodo multiplicada por el número de periodos del año: una simple regla de tres que ignora que esos intereses también generan intereses. La TEA sí lo considera: aplica la fórmula de la sección anterior con la tasa periódica r = TNA/n capitalizada durante los n periodos del año (VF = VP(1+r)ⁿ), y le resta el capital inicial para quedarse solo con el rendimiento neto del año:</a:t>
            </a:r>
          </a:p>
        </p:txBody>
      </p:sp>
      <p:pic>
        <p:nvPicPr>
          <p:cNvPr id="6" name="Picture 5" descr="secTasa nomin_math_1.png"/>
          <p:cNvPicPr>
            <a:picLocks noChangeAspect="1"/>
          </p:cNvPicPr>
          <p:nvPr/>
        </p:nvPicPr>
        <p:blipFill>
          <a:blip r:embed="rId2"/>
          <a:stretch>
            <a:fillRect/>
          </a:stretch>
        </p:blipFill>
        <p:spPr>
          <a:xfrm>
            <a:off x="3583943" y="2342560"/>
            <a:ext cx="5024114" cy="426110"/>
          </a:xfrm>
          <a:prstGeom prst="rect">
            <a:avLst/>
          </a:prstGeom>
        </p:spPr>
      </p:pic>
      <p:sp>
        <p:nvSpPr>
          <p:cNvPr id="7" name="TextBox 6"/>
          <p:cNvSpPr txBox="1"/>
          <p:nvPr/>
        </p:nvSpPr>
        <p:spPr>
          <a:xfrm>
            <a:off x="640080" y="285867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2858670"/>
            <a:ext cx="10651840" cy="274456"/>
          </a:xfrm>
          <a:prstGeom prst="rect">
            <a:avLst/>
          </a:prstGeom>
          <a:noFill/>
        </p:spPr>
        <p:txBody>
          <a:bodyPr wrap="square" lIns="0" rIns="0" tIns="0" bIns="0">
            <a:spAutoFit/>
          </a:bodyPr>
          <a:lstStyle/>
          <a:p>
            <a:pPr algn="l"/>
            <a:r>
              <a:rPr sz="1350" b="1" i="0">
                <a:solidFill>
                  <a:srgbClr val="27314D"/>
                </a:solidFill>
                <a:latin typeface="Calibri"/>
              </a:rPr>
              <a:t>TNA</a:t>
            </a:r>
            <a:r>
              <a:rPr sz="1350" b="0" i="0">
                <a:solidFill>
                  <a:srgbClr val="27314D"/>
                </a:solidFill>
                <a:latin typeface="Calibri"/>
              </a:rPr>
              <a:t> (tasa nominal anual): la tasa "de etiqueta", sin considerar cuántas veces al año se capitaliza.</a:t>
            </a:r>
          </a:p>
        </p:txBody>
      </p:sp>
      <p:sp>
        <p:nvSpPr>
          <p:cNvPr id="9" name="TextBox 8"/>
          <p:cNvSpPr txBox="1"/>
          <p:nvPr/>
        </p:nvSpPr>
        <p:spPr>
          <a:xfrm>
            <a:off x="640080" y="313312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3133126"/>
            <a:ext cx="10651840" cy="274456"/>
          </a:xfrm>
          <a:prstGeom prst="rect">
            <a:avLst/>
          </a:prstGeom>
          <a:noFill/>
        </p:spPr>
        <p:txBody>
          <a:bodyPr wrap="square" lIns="0" rIns="0" tIns="0" bIns="0">
            <a:spAutoFit/>
          </a:bodyPr>
          <a:lstStyle/>
          <a:p>
            <a:pPr algn="l"/>
            <a:r>
              <a:rPr sz="1350" b="1" i="0">
                <a:solidFill>
                  <a:srgbClr val="27314D"/>
                </a:solidFill>
                <a:latin typeface="Calibri"/>
              </a:rPr>
              <a:t>TEA</a:t>
            </a:r>
            <a:r>
              <a:rPr sz="1350" b="0" i="0">
                <a:solidFill>
                  <a:srgbClr val="27314D"/>
                </a:solidFill>
                <a:latin typeface="Calibri"/>
              </a:rPr>
              <a:t> (tasa efectiva anual): la tasa que realmente se gana/paga en un año, ya con el efecto de la capitalización.</a:t>
            </a:r>
          </a:p>
        </p:txBody>
      </p:sp>
      <p:sp>
        <p:nvSpPr>
          <p:cNvPr id="11" name="TextBox 10"/>
          <p:cNvSpPr txBox="1"/>
          <p:nvPr/>
        </p:nvSpPr>
        <p:spPr>
          <a:xfrm>
            <a:off x="640080" y="3407582"/>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2" name="TextBox 11"/>
          <p:cNvSpPr txBox="1"/>
          <p:nvPr/>
        </p:nvSpPr>
        <p:spPr>
          <a:xfrm>
            <a:off x="900080" y="3407582"/>
            <a:ext cx="10651840" cy="274456"/>
          </a:xfrm>
          <a:prstGeom prst="rect">
            <a:avLst/>
          </a:prstGeom>
          <a:noFill/>
        </p:spPr>
        <p:txBody>
          <a:bodyPr wrap="square" lIns="0" rIns="0" tIns="0" bIns="0">
            <a:spAutoFit/>
          </a:bodyPr>
          <a:lstStyle/>
          <a:p>
            <a:pPr algn="l"/>
            <a:r>
              <a:rPr sz="1350" b="1" i="0">
                <a:solidFill>
                  <a:srgbClr val="27314D"/>
                </a:solidFill>
                <a:latin typeface="Calibri"/>
              </a:rPr>
              <a:t>n</a:t>
            </a:r>
            <a:r>
              <a:rPr sz="1350" b="0" i="0">
                <a:solidFill>
                  <a:srgbClr val="27314D"/>
                </a:solidFill>
                <a:latin typeface="Calibri"/>
              </a:rPr>
              <a:t>: número de periodos de capitalización al año.</a:t>
            </a:r>
          </a:p>
        </p:txBody>
      </p:sp>
      <p:sp>
        <p:nvSpPr>
          <p:cNvPr id="13" name="TextBox 12"/>
          <p:cNvSpPr txBox="1"/>
          <p:nvPr/>
        </p:nvSpPr>
        <p:spPr>
          <a:xfrm>
            <a:off x="640080" y="368203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4" name="TextBox 13"/>
          <p:cNvSpPr txBox="1"/>
          <p:nvPr/>
        </p:nvSpPr>
        <p:spPr>
          <a:xfrm>
            <a:off x="900080" y="3682038"/>
            <a:ext cx="10651840" cy="274456"/>
          </a:xfrm>
          <a:prstGeom prst="rect">
            <a:avLst/>
          </a:prstGeom>
          <a:noFill/>
        </p:spPr>
        <p:txBody>
          <a:bodyPr wrap="square" lIns="0" rIns="0" tIns="0" bIns="0">
            <a:spAutoFit/>
          </a:bodyPr>
          <a:lstStyle/>
          <a:p>
            <a:pPr algn="l"/>
            <a:r>
              <a:rPr sz="1350" b="1" i="0">
                <a:solidFill>
                  <a:srgbClr val="27314D"/>
                </a:solidFill>
                <a:latin typeface="Calibri"/>
              </a:rPr>
              <a:t>r</a:t>
            </a:r>
            <a:r>
              <a:rPr sz="1350" b="0" i="0">
                <a:solidFill>
                  <a:srgbClr val="27314D"/>
                </a:solidFill>
                <a:latin typeface="Calibri"/>
              </a:rPr>
              <a:t>: tasa de interés por periodo de capitalización, r = TNA/n.</a:t>
            </a:r>
          </a:p>
        </p:txBody>
      </p:sp>
      <p:sp>
        <p:nvSpPr>
          <p:cNvPr id="15" name="Rounded Rectangle 14"/>
          <p:cNvSpPr/>
          <p:nvPr/>
        </p:nvSpPr>
        <p:spPr>
          <a:xfrm>
            <a:off x="640080" y="4046494"/>
            <a:ext cx="10911840" cy="842656"/>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046494"/>
            <a:ext cx="45720" cy="84265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080" y="4186494"/>
            <a:ext cx="10551840" cy="241328"/>
          </a:xfrm>
          <a:prstGeom prst="rect">
            <a:avLst/>
          </a:prstGeom>
          <a:noFill/>
        </p:spPr>
        <p:txBody>
          <a:bodyPr wrap="square" lIns="0" rIns="0" tIns="0" bIns="0">
            <a:spAutoFit/>
          </a:bodyPr>
          <a:lstStyle/>
          <a:p>
            <a:pPr algn="l"/>
            <a:r>
              <a:rPr sz="1300" b="1" i="0">
                <a:solidFill>
                  <a:srgbClr val="1E2761"/>
                </a:solidFill>
                <a:latin typeface="Calibri"/>
              </a:rPr>
              <a:t>Ejemplo:</a:t>
            </a:r>
            <a:r>
              <a:rPr sz="1300" b="0" i="0">
                <a:solidFill>
                  <a:srgbClr val="1E2761"/>
                </a:solidFill>
                <a:latin typeface="Calibri"/>
              </a:rPr>
              <a:t> un banco ofrece una tasa nominal anual del 12%, capitalizable mensualmente (n = 12, r = 0.12/12 = 0.01). TEA = (1.01)¹² − 1 ≈ </a:t>
            </a:r>
            <a:r>
              <a:rPr sz="1300" b="1" i="0">
                <a:solidFill>
                  <a:srgbClr val="1E2761"/>
                </a:solidFill>
                <a:latin typeface="Calibri"/>
              </a:rPr>
              <a:t>12.68%</a:t>
            </a:r>
          </a:p>
        </p:txBody>
      </p:sp>
      <p:sp>
        <p:nvSpPr>
          <p:cNvPr id="18" name="TextBox 17"/>
          <p:cNvSpPr txBox="1"/>
          <p:nvPr/>
        </p:nvSpPr>
        <p:spPr>
          <a:xfrm>
            <a:off x="820080" y="4467822"/>
            <a:ext cx="10551840" cy="241328"/>
          </a:xfrm>
          <a:prstGeom prst="rect">
            <a:avLst/>
          </a:prstGeom>
          <a:noFill/>
        </p:spPr>
        <p:txBody>
          <a:bodyPr wrap="square" lIns="0" rIns="0" tIns="0" bIns="0">
            <a:spAutoFit/>
          </a:bodyPr>
          <a:lstStyle/>
          <a:p>
            <a:pPr algn="l"/>
            <a:r>
              <a:rPr sz="1300" b="0" i="0">
                <a:solidFill>
                  <a:srgbClr val="1E2761"/>
                </a:solidFill>
                <a:latin typeface="Calibri"/>
              </a:rPr>
              <a:t>La tasa efectiva siempre es mayor o igual a la nominal cuando hay más de una capitalización al año: la diferencia es "el interés que gana el interés".</a:t>
            </a:r>
          </a:p>
        </p:txBody>
      </p:sp>
      <p:sp>
        <p:nvSpPr>
          <p:cNvPr id="19" name="TextBox 18"/>
          <p:cNvSpPr txBox="1"/>
          <p:nvPr/>
        </p:nvSpPr>
        <p:spPr>
          <a:xfrm>
            <a:off x="640080" y="4979150"/>
            <a:ext cx="10911840" cy="200688"/>
          </a:xfrm>
          <a:prstGeom prst="rect">
            <a:avLst/>
          </a:prstGeom>
          <a:noFill/>
        </p:spPr>
        <p:txBody>
          <a:bodyPr wrap="square" lIns="0" rIns="0" tIns="0" bIns="0">
            <a:spAutoFit/>
          </a:bodyPr>
          <a:lstStyle/>
          <a:p>
            <a:pPr algn="l"/>
            <a:r>
              <a:rPr sz="1050" b="0" i="1">
                <a:solidFill>
                  <a:srgbClr val="5B6482"/>
                </a:solidFill>
                <a:latin typeface="Calibri"/>
              </a:rPr>
              <a:t>Fuente: Fabozzi, F. J. y Peterson Drake, P. (2009). Finance, Cap. 2, Ec. (2.15) p. 48, Wiley.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Valor presente de una serie de flujos (anualidad)</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07</a:t>
            </a:r>
          </a:p>
        </p:txBody>
      </p:sp>
      <p:sp>
        <p:nvSpPr>
          <p:cNvPr id="5" name="TextBox 4"/>
          <p:cNvSpPr txBox="1"/>
          <p:nvPr/>
        </p:nvSpPr>
        <p:spPr>
          <a:xfrm>
            <a:off x="640080" y="1539808"/>
            <a:ext cx="10911840" cy="533936"/>
          </a:xfrm>
          <a:prstGeom prst="rect">
            <a:avLst/>
          </a:prstGeom>
          <a:noFill/>
        </p:spPr>
        <p:txBody>
          <a:bodyPr wrap="square" lIns="0" rIns="0" tIns="0" bIns="0">
            <a:spAutoFit/>
          </a:bodyPr>
          <a:lstStyle/>
          <a:p>
            <a:pPr algn="l"/>
            <a:r>
              <a:rPr sz="1550" b="1" i="0">
                <a:solidFill>
                  <a:srgbClr val="5B6482"/>
                </a:solidFill>
                <a:latin typeface="Calibri"/>
              </a:rPr>
              <a:t>¿De dónde sale la fórmula?</a:t>
            </a:r>
            <a:r>
              <a:rPr sz="1550" b="0" i="0">
                <a:solidFill>
                  <a:srgbClr val="5B6482"/>
                </a:solidFill>
                <a:latin typeface="Calibri"/>
              </a:rPr>
              <a:t> Una anualidad no es más que varios flujos únicos, cada uno descontado con la fórmula de la sección 2 según cuántos periodos falten para recibirlo, y luego sumados:</a:t>
            </a:r>
          </a:p>
        </p:txBody>
      </p:sp>
      <p:pic>
        <p:nvPicPr>
          <p:cNvPr id="6" name="Picture 5" descr="secValor pres_math_1.png"/>
          <p:cNvPicPr>
            <a:picLocks noChangeAspect="1"/>
          </p:cNvPicPr>
          <p:nvPr/>
        </p:nvPicPr>
        <p:blipFill>
          <a:blip r:embed="rId2"/>
          <a:stretch>
            <a:fillRect/>
          </a:stretch>
        </p:blipFill>
        <p:spPr>
          <a:xfrm>
            <a:off x="2678713" y="2203744"/>
            <a:ext cx="6834573" cy="973836"/>
          </a:xfrm>
          <a:prstGeom prst="rect">
            <a:avLst/>
          </a:prstGeom>
        </p:spPr>
      </p:pic>
      <p:sp>
        <p:nvSpPr>
          <p:cNvPr id="7" name="TextBox 6"/>
          <p:cNvSpPr txBox="1"/>
          <p:nvPr/>
        </p:nvSpPr>
        <p:spPr>
          <a:xfrm>
            <a:off x="640080" y="3267580"/>
            <a:ext cx="10911840" cy="485168"/>
          </a:xfrm>
          <a:prstGeom prst="rect">
            <a:avLst/>
          </a:prstGeom>
          <a:noFill/>
        </p:spPr>
        <p:txBody>
          <a:bodyPr wrap="square" lIns="0" rIns="0" tIns="0" bIns="0">
            <a:spAutoFit/>
          </a:bodyPr>
          <a:lstStyle/>
          <a:p>
            <a:pPr algn="l"/>
            <a:r>
              <a:rPr sz="1400" b="0" i="0">
                <a:solidFill>
                  <a:srgbClr val="27314D"/>
                </a:solidFill>
                <a:latin typeface="Calibri"/>
              </a:rPr>
              <a:t>Esa suma es una serie geométrica; al resolverla término por término se simplifica en una sola fracción (válida para r ≠ 0, ya que se divide entre r; si r = 0 no hay descuento que aplicar y simplemente VP = FC · N), lo que evita sumar a mano cuando N es grande:</a:t>
            </a:r>
          </a:p>
        </p:txBody>
      </p:sp>
      <p:pic>
        <p:nvPicPr>
          <p:cNvPr id="8" name="Picture 7" descr="secValor pres_math_3.png"/>
          <p:cNvPicPr>
            <a:picLocks noChangeAspect="1"/>
          </p:cNvPicPr>
          <p:nvPr/>
        </p:nvPicPr>
        <p:blipFill>
          <a:blip r:embed="rId3"/>
          <a:stretch>
            <a:fillRect/>
          </a:stretch>
        </p:blipFill>
        <p:spPr>
          <a:xfrm>
            <a:off x="2331251" y="3842748"/>
            <a:ext cx="7529497" cy="585917"/>
          </a:xfrm>
          <a:prstGeom prst="rect">
            <a:avLst/>
          </a:prstGeom>
        </p:spPr>
      </p:pic>
      <p:sp>
        <p:nvSpPr>
          <p:cNvPr id="9" name="TextBox 8"/>
          <p:cNvSpPr txBox="1"/>
          <p:nvPr/>
        </p:nvSpPr>
        <p:spPr>
          <a:xfrm>
            <a:off x="640080" y="4518665"/>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4518665"/>
            <a:ext cx="10651840" cy="274456"/>
          </a:xfrm>
          <a:prstGeom prst="rect">
            <a:avLst/>
          </a:prstGeom>
          <a:noFill/>
        </p:spPr>
        <p:txBody>
          <a:bodyPr wrap="square" lIns="0" rIns="0" tIns="0" bIns="0">
            <a:spAutoFit/>
          </a:bodyPr>
          <a:lstStyle/>
          <a:p>
            <a:pPr algn="l"/>
            <a:r>
              <a:rPr sz="1350" b="1" i="0">
                <a:solidFill>
                  <a:srgbClr val="27314D"/>
                </a:solidFill>
                <a:latin typeface="Calibri"/>
              </a:rPr>
              <a:t>FC</a:t>
            </a:r>
            <a:r>
              <a:rPr sz="1350" b="0" i="0">
                <a:solidFill>
                  <a:srgbClr val="27314D"/>
                </a:solidFill>
                <a:latin typeface="Calibri"/>
              </a:rPr>
              <a:t>: el flujo (pago) constante que se repite cada periodo.</a:t>
            </a:r>
          </a:p>
        </p:txBody>
      </p:sp>
      <p:sp>
        <p:nvSpPr>
          <p:cNvPr id="11" name="TextBox 10"/>
          <p:cNvSpPr txBox="1"/>
          <p:nvPr/>
        </p:nvSpPr>
        <p:spPr>
          <a:xfrm>
            <a:off x="640080" y="4793121"/>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2" name="TextBox 11"/>
          <p:cNvSpPr txBox="1"/>
          <p:nvPr/>
        </p:nvSpPr>
        <p:spPr>
          <a:xfrm>
            <a:off x="900080" y="4793121"/>
            <a:ext cx="10651840" cy="274456"/>
          </a:xfrm>
          <a:prstGeom prst="rect">
            <a:avLst/>
          </a:prstGeom>
          <a:noFill/>
        </p:spPr>
        <p:txBody>
          <a:bodyPr wrap="square" lIns="0" rIns="0" tIns="0" bIns="0">
            <a:spAutoFit/>
          </a:bodyPr>
          <a:lstStyle/>
          <a:p>
            <a:pPr algn="l"/>
            <a:r>
              <a:rPr sz="1350" b="0" i="0">
                <a:solidFill>
                  <a:srgbClr val="27314D"/>
                </a:solidFill>
                <a:latin typeface="Calibri"/>
              </a:rPr>
              <a:t>Esta es la fórmula que en la Unidad de Deuda se convierte en "el precio de un bono": los cupones son justamente una serie de flujos constantes.</a:t>
            </a:r>
          </a:p>
        </p:txBody>
      </p:sp>
      <p:sp>
        <p:nvSpPr>
          <p:cNvPr id="13" name="Rounded Rectangle 12"/>
          <p:cNvSpPr/>
          <p:nvPr/>
        </p:nvSpPr>
        <p:spPr>
          <a:xfrm>
            <a:off x="640080" y="5157577"/>
            <a:ext cx="10911840" cy="772656"/>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5157577"/>
            <a:ext cx="45720" cy="77265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080" y="5297577"/>
            <a:ext cx="10551840" cy="241328"/>
          </a:xfrm>
          <a:prstGeom prst="rect">
            <a:avLst/>
          </a:prstGeom>
          <a:noFill/>
        </p:spPr>
        <p:txBody>
          <a:bodyPr wrap="square" lIns="0" rIns="0" tIns="0" bIns="0">
            <a:spAutoFit/>
          </a:bodyPr>
          <a:lstStyle/>
          <a:p>
            <a:pPr algn="l"/>
            <a:r>
              <a:rPr sz="1300" b="1" i="0">
                <a:solidFill>
                  <a:srgbClr val="1E2761"/>
                </a:solidFill>
                <a:latin typeface="Calibri"/>
              </a:rPr>
              <a:t>Ejemplo:</a:t>
            </a:r>
            <a:r>
              <a:rPr sz="1300" b="0" i="0">
                <a:solidFill>
                  <a:srgbClr val="1E2761"/>
                </a:solidFill>
                <a:latin typeface="Calibri"/>
              </a:rPr>
              <a:t> un instrumento paga $5,000 de cupón anual durante 5 años. Si la tasa de descuento es 9%: VP = 5,000 × [1 − (1.09)⁻⁵] / 0.09 ≈ </a:t>
            </a:r>
            <a:r>
              <a:rPr sz="1300" b="1" i="0">
                <a:solidFill>
                  <a:srgbClr val="1E2761"/>
                </a:solidFill>
                <a:latin typeface="Calibri"/>
              </a:rPr>
              <a:t>$19,448</a:t>
            </a:r>
          </a:p>
        </p:txBody>
      </p:sp>
      <p:sp>
        <p:nvSpPr>
          <p:cNvPr id="16" name="TextBox 15"/>
          <p:cNvSpPr txBox="1"/>
          <p:nvPr/>
        </p:nvSpPr>
        <p:spPr>
          <a:xfrm>
            <a:off x="640080" y="6020233"/>
            <a:ext cx="10911840" cy="200688"/>
          </a:xfrm>
          <a:prstGeom prst="rect">
            <a:avLst/>
          </a:prstGeom>
          <a:noFill/>
        </p:spPr>
        <p:txBody>
          <a:bodyPr wrap="square" lIns="0" rIns="0" tIns="0" bIns="0">
            <a:spAutoFit/>
          </a:bodyPr>
          <a:lstStyle/>
          <a:p>
            <a:pPr algn="l"/>
            <a:r>
              <a:rPr sz="1050" b="0" i="1">
                <a:solidFill>
                  <a:srgbClr val="5B6482"/>
                </a:solidFill>
                <a:latin typeface="Calibri"/>
              </a:rPr>
              <a:t>Fuente: Fabozzi, F. J. y Peterson Drake, P. (2009). Finance, Cap. 2, Ec. (2.9) p. 30 y Ec. (2.11) pp. 32–33, Wiley.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Mercado primario vs. mercado secundario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08</a:t>
            </a:r>
          </a:p>
        </p:txBody>
      </p:sp>
      <p:sp>
        <p:nvSpPr>
          <p:cNvPr id="5" name="TextBox 4"/>
          <p:cNvSpPr txBox="1"/>
          <p:nvPr/>
        </p:nvSpPr>
        <p:spPr>
          <a:xfrm>
            <a:off x="640080" y="1539808"/>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493912"/>
          </a:xfrm>
          <a:prstGeom prst="rect">
            <a:avLst/>
          </a:prstGeom>
          <a:noFill/>
        </p:spPr>
        <p:txBody>
          <a:bodyPr wrap="square" lIns="0" rIns="0" tIns="0" bIns="0">
            <a:spAutoFit/>
          </a:bodyPr>
          <a:lstStyle/>
          <a:p>
            <a:pPr algn="l"/>
            <a:r>
              <a:rPr sz="1350" b="1" i="0">
                <a:solidFill>
                  <a:srgbClr val="27314D"/>
                </a:solidFill>
                <a:latin typeface="Calibri"/>
              </a:rPr>
              <a:t>Mercado primario</a:t>
            </a:r>
            <a:r>
              <a:rPr sz="1350" b="0" i="0">
                <a:solidFill>
                  <a:srgbClr val="27314D"/>
                </a:solidFill>
                <a:latin typeface="Calibri"/>
              </a:rPr>
              <a:t>: la primera vez que un instrumento se coloca. Ejemplo: Banxico subasta CETES; una empresa hace su oferta pública inicial (OPI) de acciones.</a:t>
            </a:r>
          </a:p>
        </p:txBody>
      </p:sp>
      <p:sp>
        <p:nvSpPr>
          <p:cNvPr id="7" name="TextBox 6"/>
          <p:cNvSpPr txBox="1"/>
          <p:nvPr/>
        </p:nvSpPr>
        <p:spPr>
          <a:xfrm>
            <a:off x="640080" y="2033720"/>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2033720"/>
            <a:ext cx="10651840" cy="493912"/>
          </a:xfrm>
          <a:prstGeom prst="rect">
            <a:avLst/>
          </a:prstGeom>
          <a:noFill/>
        </p:spPr>
        <p:txBody>
          <a:bodyPr wrap="square" lIns="0" rIns="0" tIns="0" bIns="0">
            <a:spAutoFit/>
          </a:bodyPr>
          <a:lstStyle/>
          <a:p>
            <a:pPr algn="l"/>
            <a:r>
              <a:rPr sz="1350" b="1" i="0">
                <a:solidFill>
                  <a:srgbClr val="27314D"/>
                </a:solidFill>
                <a:latin typeface="Calibri"/>
              </a:rPr>
              <a:t>Mercado secundario</a:t>
            </a:r>
            <a:r>
              <a:rPr sz="1350" b="0" i="0">
                <a:solidFill>
                  <a:srgbClr val="27314D"/>
                </a:solidFill>
                <a:latin typeface="Calibri"/>
              </a:rPr>
              <a:t>: la reventa del instrumento entre inversionistas después de esa colocación inicial. El emisor ya no recibe dinero en estas operaciones; solo cambia de manos el título.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Quién interviene: BMV, BIVA, casas de bolsa, Indeval</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09</a:t>
            </a:r>
          </a:p>
        </p:txBody>
      </p:sp>
      <p:sp>
        <p:nvSpPr>
          <p:cNvPr id="5" name="TextBox 4"/>
          <p:cNvSpPr txBox="1"/>
          <p:nvPr/>
        </p:nvSpPr>
        <p:spPr>
          <a:xfrm>
            <a:off x="640080" y="153980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274456"/>
          </a:xfrm>
          <a:prstGeom prst="rect">
            <a:avLst/>
          </a:prstGeom>
          <a:noFill/>
        </p:spPr>
        <p:txBody>
          <a:bodyPr wrap="square" lIns="0" rIns="0" tIns="0" bIns="0">
            <a:spAutoFit/>
          </a:bodyPr>
          <a:lstStyle/>
          <a:p>
            <a:pPr algn="l"/>
            <a:r>
              <a:rPr sz="1350" b="1" i="0">
                <a:solidFill>
                  <a:srgbClr val="27314D"/>
                </a:solidFill>
                <a:latin typeface="Calibri"/>
              </a:rPr>
              <a:t>BMV y BIVA</a:t>
            </a:r>
            <a:r>
              <a:rPr sz="1350" b="0" i="0">
                <a:solidFill>
                  <a:srgbClr val="27314D"/>
                </a:solidFill>
                <a:latin typeface="Calibri"/>
              </a:rPr>
              <a:t>: las dos bolsas de valores en México, donde se negocian acciones, bonos y otros instrumentos listados.</a:t>
            </a:r>
          </a:p>
        </p:txBody>
      </p:sp>
      <p:sp>
        <p:nvSpPr>
          <p:cNvPr id="7" name="TextBox 6"/>
          <p:cNvSpPr txBox="1"/>
          <p:nvPr/>
        </p:nvSpPr>
        <p:spPr>
          <a:xfrm>
            <a:off x="640080" y="181426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1814264"/>
            <a:ext cx="10651840" cy="274456"/>
          </a:xfrm>
          <a:prstGeom prst="rect">
            <a:avLst/>
          </a:prstGeom>
          <a:noFill/>
        </p:spPr>
        <p:txBody>
          <a:bodyPr wrap="square" lIns="0" rIns="0" tIns="0" bIns="0">
            <a:spAutoFit/>
          </a:bodyPr>
          <a:lstStyle/>
          <a:p>
            <a:pPr algn="l"/>
            <a:r>
              <a:rPr sz="1350" b="1" i="0">
                <a:solidFill>
                  <a:srgbClr val="27314D"/>
                </a:solidFill>
                <a:latin typeface="Calibri"/>
              </a:rPr>
              <a:t>Casas de bolsa</a:t>
            </a:r>
            <a:r>
              <a:rPr sz="1350" b="0" i="0">
                <a:solidFill>
                  <a:srgbClr val="27314D"/>
                </a:solidFill>
                <a:latin typeface="Calibri"/>
              </a:rPr>
              <a:t>: intermediarios bursátiles; un inversionista no puede operar directamente en la bolsa, necesita una casa de bolsa que ejecute la orden.</a:t>
            </a:r>
          </a:p>
        </p:txBody>
      </p:sp>
      <p:sp>
        <p:nvSpPr>
          <p:cNvPr id="9" name="TextBox 8"/>
          <p:cNvSpPr txBox="1"/>
          <p:nvPr/>
        </p:nvSpPr>
        <p:spPr>
          <a:xfrm>
            <a:off x="640080" y="2088720"/>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2088720"/>
            <a:ext cx="10651840" cy="493912"/>
          </a:xfrm>
          <a:prstGeom prst="rect">
            <a:avLst/>
          </a:prstGeom>
          <a:noFill/>
        </p:spPr>
        <p:txBody>
          <a:bodyPr wrap="square" lIns="0" rIns="0" tIns="0" bIns="0">
            <a:spAutoFit/>
          </a:bodyPr>
          <a:lstStyle/>
          <a:p>
            <a:pPr algn="l"/>
            <a:r>
              <a:rPr sz="1350" b="1" i="0">
                <a:solidFill>
                  <a:srgbClr val="27314D"/>
                </a:solidFill>
                <a:latin typeface="Calibri"/>
              </a:rPr>
              <a:t>Indeval</a:t>
            </a:r>
            <a:r>
              <a:rPr sz="1350" b="0" i="0">
                <a:solidFill>
                  <a:srgbClr val="27314D"/>
                </a:solidFill>
                <a:latin typeface="Calibri"/>
              </a:rPr>
              <a:t>: la institución de custodia y liquidación central. Cuando compras un instrumento, no recibes un papel físico: Indeval mantiene el registro electrónico de quién es dueño de qué, y liquida (hace efectiva) cada operación.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MATEMÁTICA FINANCIERA Y MECÁNICA DEL MERCADO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Calificadoras y riesgo de crédito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10</a:t>
            </a:r>
          </a:p>
        </p:txBody>
      </p:sp>
      <p:sp>
        <p:nvSpPr>
          <p:cNvPr id="5" name="TextBox 4"/>
          <p:cNvSpPr txBox="1"/>
          <p:nvPr/>
        </p:nvSpPr>
        <p:spPr>
          <a:xfrm>
            <a:off x="640080" y="1539808"/>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493912"/>
          </a:xfrm>
          <a:prstGeom prst="rect">
            <a:avLst/>
          </a:prstGeom>
          <a:noFill/>
        </p:spPr>
        <p:txBody>
          <a:bodyPr wrap="square" lIns="0" rIns="0" tIns="0" bIns="0">
            <a:spAutoFit/>
          </a:bodyPr>
          <a:lstStyle/>
          <a:p>
            <a:pPr algn="l"/>
            <a:r>
              <a:rPr sz="1350" b="0" i="0">
                <a:solidFill>
                  <a:srgbClr val="27314D"/>
                </a:solidFill>
                <a:latin typeface="Calibri"/>
              </a:rPr>
              <a:t>Empresas como </a:t>
            </a:r>
            <a:r>
              <a:rPr sz="1350" b="1" i="0">
                <a:solidFill>
                  <a:srgbClr val="27314D"/>
                </a:solidFill>
                <a:latin typeface="Calibri"/>
              </a:rPr>
              <a:t>S&amp;P, Moody's, HR Ratings o Fitch</a:t>
            </a:r>
            <a:r>
              <a:rPr sz="1350" b="0" i="0">
                <a:solidFill>
                  <a:srgbClr val="27314D"/>
                </a:solidFill>
                <a:latin typeface="Calibri"/>
              </a:rPr>
              <a:t> evalúan la capacidad de pago de quien emite deuda y le asignan una calificación (AAA, AA, BBB, etc.).</a:t>
            </a:r>
          </a:p>
        </p:txBody>
      </p:sp>
      <p:sp>
        <p:nvSpPr>
          <p:cNvPr id="7" name="TextBox 6"/>
          <p:cNvSpPr txBox="1"/>
          <p:nvPr/>
        </p:nvSpPr>
        <p:spPr>
          <a:xfrm>
            <a:off x="640080" y="2033720"/>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2033720"/>
            <a:ext cx="10651840" cy="493912"/>
          </a:xfrm>
          <a:prstGeom prst="rect">
            <a:avLst/>
          </a:prstGeom>
          <a:noFill/>
        </p:spPr>
        <p:txBody>
          <a:bodyPr wrap="square" lIns="0" rIns="0" tIns="0" bIns="0">
            <a:spAutoFit/>
          </a:bodyPr>
          <a:lstStyle/>
          <a:p>
            <a:pPr algn="l"/>
            <a:r>
              <a:rPr sz="1350" b="0" i="0">
                <a:solidFill>
                  <a:srgbClr val="27314D"/>
                </a:solidFill>
                <a:latin typeface="Calibri"/>
              </a:rPr>
              <a:t>Es central para instrumentos de deuda corporativa (papel comercial, certificados bursátiles, bonos corporativos) que se verán en la Unidad de Deuda; a diferencia de la deuda gubernamental, cuyo riesgo de crédito se asume mínimo.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Cierre · Matemática Financiera y Mecánica del Mercado</a:t>
            </a:r>
          </a:p>
        </p:txBody>
      </p:sp>
      <p:sp>
        <p:nvSpPr>
          <p:cNvPr id="3" name="TextBox 2"/>
          <p:cNvSpPr txBox="1"/>
          <p:nvPr/>
        </p:nvSpPr>
        <p:spPr>
          <a:xfrm>
            <a:off x="822960" y="1629808"/>
            <a:ext cx="10332720" cy="608640"/>
          </a:xfrm>
          <a:prstGeom prst="rect">
            <a:avLst/>
          </a:prstGeom>
          <a:noFill/>
        </p:spPr>
        <p:txBody>
          <a:bodyPr wrap="square" lIns="0" rIns="0" tIns="0" bIns="0">
            <a:spAutoFit/>
          </a:bodyPr>
          <a:lstStyle/>
          <a:p>
            <a:pPr algn="l"/>
            <a:r>
              <a:rPr sz="1600" b="1" i="0">
                <a:solidFill>
                  <a:srgbClr val="1E2761"/>
                </a:solidFill>
                <a:latin typeface="Calibri"/>
              </a:rPr>
              <a:t>VP y VF son la misma fórmula vista desde los dos lados</a:t>
            </a:r>
            <a:r>
              <a:rPr sz="1600" b="0" i="0">
                <a:solidFill>
                  <a:srgbClr val="1E2761"/>
                </a:solidFill>
                <a:latin typeface="Calibri"/>
              </a:rPr>
              <a:t>: descontar hacia el presente o proyectar hacia el futuro. Toda la valuación de deuda de la siguiente unidad se construye sobre esto.</a:t>
            </a:r>
          </a:p>
        </p:txBody>
      </p:sp>
      <p:sp>
        <p:nvSpPr>
          <p:cNvPr id="4" name="TextBox 3"/>
          <p:cNvSpPr txBox="1"/>
          <p:nvPr/>
        </p:nvSpPr>
        <p:spPr>
          <a:xfrm>
            <a:off x="822960" y="2438448"/>
            <a:ext cx="10332720" cy="608640"/>
          </a:xfrm>
          <a:prstGeom prst="rect">
            <a:avLst/>
          </a:prstGeom>
          <a:noFill/>
        </p:spPr>
        <p:txBody>
          <a:bodyPr wrap="square" lIns="0" rIns="0" tIns="0" bIns="0">
            <a:spAutoFit/>
          </a:bodyPr>
          <a:lstStyle/>
          <a:p>
            <a:pPr algn="l"/>
            <a:r>
              <a:rPr sz="1600" b="0" i="0">
                <a:solidFill>
                  <a:srgbClr val="1E2761"/>
                </a:solidFill>
                <a:latin typeface="Calibri"/>
              </a:rPr>
              <a:t>La </a:t>
            </a:r>
            <a:r>
              <a:rPr sz="1600" b="1" i="0">
                <a:solidFill>
                  <a:srgbClr val="1E2761"/>
                </a:solidFill>
                <a:latin typeface="Calibri"/>
              </a:rPr>
              <a:t>tasa efectiva</a:t>
            </a:r>
            <a:r>
              <a:rPr sz="1600" b="0" i="0">
                <a:solidFill>
                  <a:srgbClr val="1E2761"/>
                </a:solidFill>
                <a:latin typeface="Calibri"/>
              </a:rPr>
              <a:t> es la que de verdad ganas o pagas en un año; la </a:t>
            </a:r>
            <a:r>
              <a:rPr sz="1600" b="1" i="0">
                <a:solidFill>
                  <a:srgbClr val="1E2761"/>
                </a:solidFill>
                <a:latin typeface="Calibri"/>
              </a:rPr>
              <a:t>nominal</a:t>
            </a:r>
            <a:r>
              <a:rPr sz="1600" b="0" i="0">
                <a:solidFill>
                  <a:srgbClr val="1E2761"/>
                </a:solidFill>
                <a:latin typeface="Calibri"/>
              </a:rPr>
              <a:t> es solo la etiqueta. Entre más frecuente la capitalización, más se separan.</a:t>
            </a:r>
          </a:p>
        </p:txBody>
      </p:sp>
      <p:sp>
        <p:nvSpPr>
          <p:cNvPr id="5" name="TextBox 4"/>
          <p:cNvSpPr txBox="1"/>
          <p:nvPr/>
        </p:nvSpPr>
        <p:spPr>
          <a:xfrm>
            <a:off x="822960" y="3247088"/>
            <a:ext cx="10332720" cy="608640"/>
          </a:xfrm>
          <a:prstGeom prst="rect">
            <a:avLst/>
          </a:prstGeom>
          <a:noFill/>
        </p:spPr>
        <p:txBody>
          <a:bodyPr wrap="square" lIns="0" rIns="0" tIns="0" bIns="0">
            <a:spAutoFit/>
          </a:bodyPr>
          <a:lstStyle/>
          <a:p>
            <a:pPr algn="l"/>
            <a:r>
              <a:rPr sz="1600" b="0" i="0">
                <a:solidFill>
                  <a:srgbClr val="1E2761"/>
                </a:solidFill>
                <a:latin typeface="Calibri"/>
              </a:rPr>
              <a:t>Una </a:t>
            </a:r>
            <a:r>
              <a:rPr sz="1600" b="1" i="0">
                <a:solidFill>
                  <a:srgbClr val="1E2761"/>
                </a:solidFill>
                <a:latin typeface="Calibri"/>
              </a:rPr>
              <a:t>anualidad</a:t>
            </a:r>
            <a:r>
              <a:rPr sz="1600" b="0" i="0">
                <a:solidFill>
                  <a:srgbClr val="1E2761"/>
                </a:solidFill>
                <a:latin typeface="Calibri"/>
              </a:rPr>
              <a:t> (serie de flujos constantes) es exactamente lo que es el flujo de cupones de un bono: por eso esta fórmula reaparece al valuar deuda.</a:t>
            </a:r>
          </a:p>
        </p:txBody>
      </p:sp>
      <p:sp>
        <p:nvSpPr>
          <p:cNvPr id="6" name="TextBox 5"/>
          <p:cNvSpPr txBox="1"/>
          <p:nvPr/>
        </p:nvSpPr>
        <p:spPr>
          <a:xfrm>
            <a:off x="822960" y="4055728"/>
            <a:ext cx="10332720" cy="608640"/>
          </a:xfrm>
          <a:prstGeom prst="rect">
            <a:avLst/>
          </a:prstGeom>
          <a:noFill/>
        </p:spPr>
        <p:txBody>
          <a:bodyPr wrap="square" lIns="0" rIns="0" tIns="0" bIns="0">
            <a:spAutoFit/>
          </a:bodyPr>
          <a:lstStyle/>
          <a:p>
            <a:pPr algn="l"/>
            <a:r>
              <a:rPr sz="1600" b="0" i="0">
                <a:solidFill>
                  <a:srgbClr val="1E2761"/>
                </a:solidFill>
                <a:latin typeface="Calibri"/>
              </a:rPr>
              <a:t>Todo instrumento nace en el </a:t>
            </a:r>
            <a:r>
              <a:rPr sz="1600" b="1" i="0">
                <a:solidFill>
                  <a:srgbClr val="1E2761"/>
                </a:solidFill>
                <a:latin typeface="Calibri"/>
              </a:rPr>
              <a:t>mercado primario</a:t>
            </a:r>
            <a:r>
              <a:rPr sz="1600" b="0" i="0">
                <a:solidFill>
                  <a:srgbClr val="1E2761"/>
                </a:solidFill>
                <a:latin typeface="Calibri"/>
              </a:rPr>
              <a:t> y, si es líquido, se revende después en el </a:t>
            </a:r>
            <a:r>
              <a:rPr sz="1600" b="1" i="0">
                <a:solidFill>
                  <a:srgbClr val="1E2761"/>
                </a:solidFill>
                <a:latin typeface="Calibri"/>
              </a:rPr>
              <a:t>secundario</a:t>
            </a:r>
            <a:r>
              <a:rPr sz="1600" b="0" i="0">
                <a:solidFill>
                  <a:srgbClr val="1E2761"/>
                </a:solidFill>
                <a:latin typeface="Calibri"/>
              </a:rPr>
              <a:t>; </a:t>
            </a:r>
            <a:r>
              <a:rPr sz="1600" b="1" i="0">
                <a:solidFill>
                  <a:srgbClr val="1E2761"/>
                </a:solidFill>
                <a:latin typeface="Calibri"/>
              </a:rPr>
              <a:t>Indeval</a:t>
            </a:r>
            <a:r>
              <a:rPr sz="1600" b="0" i="0">
                <a:solidFill>
                  <a:srgbClr val="1E2761"/>
                </a:solidFill>
                <a:latin typeface="Calibri"/>
              </a:rPr>
              <a:t> es quien realmente "guarda" el título, no tú.</a:t>
            </a:r>
          </a:p>
        </p:txBody>
      </p:sp>
      <p:sp>
        <p:nvSpPr>
          <p:cNvPr id="7" name="TextBox 6"/>
          <p:cNvSpPr txBox="1"/>
          <p:nvPr/>
        </p:nvSpPr>
        <p:spPr>
          <a:xfrm>
            <a:off x="822960" y="4864368"/>
            <a:ext cx="10332720" cy="608640"/>
          </a:xfrm>
          <a:prstGeom prst="rect">
            <a:avLst/>
          </a:prstGeom>
          <a:noFill/>
        </p:spPr>
        <p:txBody>
          <a:bodyPr wrap="square" lIns="0" rIns="0" tIns="0" bIns="0">
            <a:spAutoFit/>
          </a:bodyPr>
          <a:lstStyle/>
          <a:p>
            <a:pPr algn="l"/>
            <a:r>
              <a:rPr sz="1600" b="1" i="0">
                <a:solidFill>
                  <a:srgbClr val="1E2761"/>
                </a:solidFill>
                <a:latin typeface="Calibri"/>
              </a:rPr>
              <a:t>Próxima sesión:</a:t>
            </a:r>
            <a:r>
              <a:rPr sz="1600" b="0" i="0">
                <a:solidFill>
                  <a:srgbClr val="1E2761"/>
                </a:solidFill>
                <a:latin typeface="Calibri"/>
              </a:rPr>
              <a:t> entramos a la Unidad de Deuda: características del mercado de deuda e instrumentos gubernamentales (CETES, Bonos M, UDIBONOS).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PREPARACIÓN DOCENTE</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Fuentes y referencias recomendadas</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11</a:t>
            </a:r>
          </a:p>
        </p:txBody>
      </p:sp>
      <p:sp>
        <p:nvSpPr>
          <p:cNvPr id="5" name="TextBox 4"/>
          <p:cNvSpPr txBox="1"/>
          <p:nvPr/>
        </p:nvSpPr>
        <p:spPr>
          <a:xfrm>
            <a:off x="640080" y="153980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274456"/>
          </a:xfrm>
          <a:prstGeom prst="rect">
            <a:avLst/>
          </a:prstGeom>
          <a:noFill/>
        </p:spPr>
        <p:txBody>
          <a:bodyPr wrap="square" lIns="0" rIns="0" tIns="0" bIns="0">
            <a:spAutoFit/>
          </a:bodyPr>
          <a:lstStyle/>
          <a:p>
            <a:pPr algn="l"/>
            <a:r>
              <a:rPr sz="1350" b="0" i="0">
                <a:solidFill>
                  <a:srgbClr val="27314D"/>
                </a:solidFill>
                <a:latin typeface="Calibri"/>
              </a:rPr>
              <a:t>Fabozzi, F. J. y Peterson Drake, P. (2009). </a:t>
            </a:r>
            <a:r>
              <a:rPr sz="1350" b="0" i="1">
                <a:solidFill>
                  <a:srgbClr val="27314D"/>
                </a:solidFill>
                <a:latin typeface="Calibri"/>
              </a:rPr>
              <a:t>Finance</a:t>
            </a:r>
            <a:r>
              <a:rPr sz="1350" b="0" i="0">
                <a:solidFill>
                  <a:srgbClr val="27314D"/>
                </a:solidFill>
                <a:latin typeface="Calibri"/>
              </a:rPr>
              <a:t>. Wiley. Cap. 2, "Mathematics of Finance": todas las fórmulas de esta unidad.</a:t>
            </a:r>
          </a:p>
        </p:txBody>
      </p:sp>
      <p:sp>
        <p:nvSpPr>
          <p:cNvPr id="7" name="TextBox 6"/>
          <p:cNvSpPr txBox="1"/>
          <p:nvPr/>
        </p:nvSpPr>
        <p:spPr>
          <a:xfrm>
            <a:off x="640080" y="181426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1814264"/>
            <a:ext cx="10651840" cy="274456"/>
          </a:xfrm>
          <a:prstGeom prst="rect">
            <a:avLst/>
          </a:prstGeom>
          <a:noFill/>
        </p:spPr>
        <p:txBody>
          <a:bodyPr wrap="square" lIns="0" rIns="0" tIns="0" bIns="0">
            <a:spAutoFit/>
          </a:bodyPr>
          <a:lstStyle/>
          <a:p>
            <a:pPr algn="l"/>
            <a:r>
              <a:rPr sz="1350" b="0" i="0">
                <a:solidFill>
                  <a:srgbClr val="27314D"/>
                </a:solidFill>
                <a:latin typeface="Calibri"/>
              </a:rPr>
              <a:t>Mántey de Anguiano, G. (2024). </a:t>
            </a:r>
            <a:r>
              <a:rPr sz="1350" b="0" i="1">
                <a:solidFill>
                  <a:srgbClr val="27314D"/>
                </a:solidFill>
                <a:latin typeface="Calibri"/>
              </a:rPr>
              <a:t>Lecciones de Economía Monetaria</a:t>
            </a:r>
            <a:r>
              <a:rPr sz="1350" b="0" i="0">
                <a:solidFill>
                  <a:srgbClr val="27314D"/>
                </a:solidFill>
                <a:latin typeface="Calibri"/>
              </a:rPr>
              <a:t>. UNAM.</a:t>
            </a:r>
          </a:p>
        </p:txBody>
      </p:sp>
      <p:sp>
        <p:nvSpPr>
          <p:cNvPr id="9" name="TextBox 8"/>
          <p:cNvSpPr txBox="1"/>
          <p:nvPr/>
        </p:nvSpPr>
        <p:spPr>
          <a:xfrm>
            <a:off x="640080" y="208872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2088720"/>
            <a:ext cx="10651840" cy="274456"/>
          </a:xfrm>
          <a:prstGeom prst="rect">
            <a:avLst/>
          </a:prstGeom>
          <a:noFill/>
        </p:spPr>
        <p:txBody>
          <a:bodyPr wrap="square" lIns="0" rIns="0" tIns="0" bIns="0">
            <a:spAutoFit/>
          </a:bodyPr>
          <a:lstStyle/>
          <a:p>
            <a:pPr algn="l"/>
            <a:r>
              <a:rPr sz="1350" b="0" i="0">
                <a:solidFill>
                  <a:srgbClr val="27314D"/>
                </a:solidFill>
                <a:latin typeface="Calibri"/>
              </a:rPr>
              <a:t>Portal Banxico: subastas de valores gubernamentales y resultados de CETES/Bonos M.</a:t>
            </a:r>
          </a:p>
        </p:txBody>
      </p:sp>
      <p:sp>
        <p:nvSpPr>
          <p:cNvPr id="11" name="TextBox 10"/>
          <p:cNvSpPr txBox="1"/>
          <p:nvPr/>
        </p:nvSpPr>
        <p:spPr>
          <a:xfrm>
            <a:off x="640080" y="236317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2" name="TextBox 11"/>
          <p:cNvSpPr txBox="1"/>
          <p:nvPr/>
        </p:nvSpPr>
        <p:spPr>
          <a:xfrm>
            <a:off x="900080" y="2363176"/>
            <a:ext cx="10651840" cy="274456"/>
          </a:xfrm>
          <a:prstGeom prst="rect">
            <a:avLst/>
          </a:prstGeom>
          <a:noFill/>
        </p:spPr>
        <p:txBody>
          <a:bodyPr wrap="square" lIns="0" rIns="0" tIns="0" bIns="0">
            <a:spAutoFit/>
          </a:bodyPr>
          <a:lstStyle/>
          <a:p>
            <a:pPr algn="l"/>
            <a:r>
              <a:rPr sz="1350" b="0" i="0">
                <a:solidFill>
                  <a:srgbClr val="27314D"/>
                </a:solidFill>
                <a:latin typeface="Calibri"/>
              </a:rPr>
              <a:t>Portal Indeval (S.D. Indeval): qué es la custodia y liquidación de valores.</a:t>
            </a:r>
          </a:p>
        </p:txBody>
      </p:sp>
      <p:sp>
        <p:nvSpPr>
          <p:cNvPr id="13" name="TextBox 12"/>
          <p:cNvSpPr txBox="1"/>
          <p:nvPr/>
        </p:nvSpPr>
        <p:spPr>
          <a:xfrm>
            <a:off x="640080" y="2637632"/>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4" name="TextBox 13"/>
          <p:cNvSpPr txBox="1"/>
          <p:nvPr/>
        </p:nvSpPr>
        <p:spPr>
          <a:xfrm>
            <a:off x="900080" y="2637632"/>
            <a:ext cx="10651840" cy="274456"/>
          </a:xfrm>
          <a:prstGeom prst="rect">
            <a:avLst/>
          </a:prstGeom>
          <a:noFill/>
        </p:spPr>
        <p:txBody>
          <a:bodyPr wrap="square" lIns="0" rIns="0" tIns="0" bIns="0">
            <a:spAutoFit/>
          </a:bodyPr>
          <a:lstStyle/>
          <a:p>
            <a:pPr algn="l"/>
            <a:r>
              <a:rPr sz="1350" b="0" i="0">
                <a:solidFill>
                  <a:srgbClr val="27314D"/>
                </a:solidFill>
                <a:latin typeface="Calibri"/>
              </a:rPr>
              <a:t>Portal BMV / BIVA: cómo funciona el mercado secundario en México.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