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4" r:id="rId25"/>
    <p:sldId id="275" r:id="rId26"/>
    <p:sldId id="276" r:id="rId27"/>
    <p:sldId id="277" r:id="rId28"/>
    <p:sldId id="278" r:id="rId29"/>
    <p:sldId id="279" r:id="rId30"/>
    <p:sldId id="280" r:id="rId31"/>
    <p:sldId id="281" r:id="rId32"/>
    <p:sldId id="282" r:id="rId33"/>
    <p:sldId id="283" r:id="rId34"/>
    <p:sldId id="284" r:id="rId35"/>
    <p:sldId id="285" r:id="rId36"/>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423160"/>
            <a:ext cx="9144000" cy="365760"/>
          </a:xfrm>
          <a:prstGeom prst="rect">
            <a:avLst/>
          </a:prstGeom>
          <a:noFill/>
        </p:spPr>
        <p:txBody>
          <a:bodyPr wrap="square">
            <a:spAutoFit/>
          </a:bodyPr>
          <a:lstStyle/>
          <a:p>
            <a:r>
              <a:rPr sz="1400" b="1" i="0">
                <a:solidFill>
                  <a:srgbClr val="C9A227"/>
                </a:solidFill>
                <a:latin typeface="Calibri"/>
              </a:rPr>
              <a:t>MERCADOS DE DEUDA Y CAPITALES</a:t>
            </a:r>
          </a:p>
        </p:txBody>
      </p:sp>
      <p:sp>
        <p:nvSpPr>
          <p:cNvPr id="3" name="TextBox 2"/>
          <p:cNvSpPr txBox="1"/>
          <p:nvPr/>
        </p:nvSpPr>
        <p:spPr>
          <a:xfrm>
            <a:off x="777240" y="2926080"/>
            <a:ext cx="9692640" cy="1417320"/>
          </a:xfrm>
          <a:prstGeom prst="rect">
            <a:avLst/>
          </a:prstGeom>
          <a:noFill/>
        </p:spPr>
        <p:txBody>
          <a:bodyPr wrap="square">
            <a:spAutoFit/>
          </a:bodyPr>
          <a:lstStyle/>
          <a:p>
            <a:pPr>
              <a:lnSpc>
                <a:spcPct val="105000"/>
              </a:lnSpc>
            </a:pPr>
            <a:r>
              <a:rPr sz="3200" b="1" i="0">
                <a:solidFill>
                  <a:srgbClr val="1E2761"/>
                </a:solidFill>
                <a:latin typeface="Calibri"/>
              </a:rPr>
              <a:t>Matemática Financiera y Mecánica del Mercado</a:t>
            </a:r>
          </a:p>
        </p:txBody>
      </p:sp>
      <p:sp>
        <p:nvSpPr>
          <p:cNvPr id="4" name="TextBox 3"/>
          <p:cNvSpPr txBox="1"/>
          <p:nvPr/>
        </p:nvSpPr>
        <p:spPr>
          <a:xfrm>
            <a:off x="822960" y="4462272"/>
            <a:ext cx="9418320" cy="320040"/>
          </a:xfrm>
          <a:prstGeom prst="rect">
            <a:avLst/>
          </a:prstGeom>
          <a:noFill/>
        </p:spPr>
        <p:txBody>
          <a:bodyPr wrap="square">
            <a:spAutoFit/>
          </a:bodyPr>
          <a:lstStyle/>
          <a:p>
            <a:r>
              <a:rPr sz="1400" b="0" i="0">
                <a:solidFill>
                  <a:srgbClr val="5B6482"/>
                </a:solidFill>
                <a:latin typeface="Calibri"/>
              </a:rPr>
              <a:t>Licenciatura en Comercio y Finanzas Internacionales · Universidad Autónoma de Zacatecas</a:t>
            </a:r>
          </a:p>
        </p:txBody>
      </p:sp>
      <p:sp>
        <p:nvSpPr>
          <p:cNvPr id="5" name="TextBox 4"/>
          <p:cNvSpPr txBox="1"/>
          <p:nvPr/>
        </p:nvSpPr>
        <p:spPr>
          <a:xfrm>
            <a:off x="822960" y="6263640"/>
            <a:ext cx="9144000" cy="320040"/>
          </a:xfrm>
          <a:prstGeom prst="rect">
            <a:avLst/>
          </a:prstGeom>
          <a:noFill/>
        </p:spPr>
        <p:txBody>
          <a:bodyPr wrap="square">
            <a:spAutoFit/>
          </a:bodyPr>
          <a:lstStyle/>
          <a:p>
            <a:r>
              <a:rPr sz="1200" b="0" i="0">
                <a:solidFill>
                  <a:srgbClr val="5B6482"/>
                </a:solidFill>
                <a:latin typeface="Calibri"/>
              </a:rPr>
              <a:t>Fuente principal: Fabozzi, F. J. y Peterson Drake, P. (2009). Finance, Cap. 2, Wiley.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 PANORAMA GENERAL</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Objetivo de la unidad</a:t>
            </a:r>
          </a:p>
        </p:txBody>
      </p:sp>
      <p:sp>
        <p:nvSpPr>
          <p:cNvPr id="4" name="TextBox 3"/>
          <p:cNvSpPr txBox="1"/>
          <p:nvPr/>
        </p:nvSpPr>
        <p:spPr>
          <a:xfrm>
            <a:off x="640080" y="2743200"/>
            <a:ext cx="10058400" cy="1645920"/>
          </a:xfrm>
          <a:prstGeom prst="rect">
            <a:avLst/>
          </a:prstGeom>
          <a:noFill/>
        </p:spPr>
        <p:txBody>
          <a:bodyPr wrap="square">
            <a:spAutoFit/>
          </a:bodyPr>
          <a:lstStyle/>
          <a:p>
            <a:pPr>
              <a:lnSpc>
                <a:spcPct val="120000"/>
              </a:lnSpc>
            </a:pPr>
            <a:r>
              <a:rPr sz="2000" b="1" i="0">
                <a:solidFill>
                  <a:srgbClr val="1E2761"/>
                </a:solidFill>
                <a:latin typeface="Calibri"/>
              </a:rPr>
              <a:t>Que el estudiante calcule el valor de un flujo en el tiempo (valor presente/futuro) y la tasa efectiva a partir de una tasa nominal.</a:t>
            </a:r>
          </a:p>
        </p:txBody>
      </p:sp>
      <p:sp>
        <p:nvSpPr>
          <p:cNvPr id="5" name="TextBox 4"/>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 PANORAMA GENERAL</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Tabla de contenido</a:t>
            </a:r>
          </a:p>
        </p:txBody>
      </p:sp>
      <p:sp>
        <p:nvSpPr>
          <p:cNvPr id="4" name="TextBox 3"/>
          <p:cNvSpPr txBox="1"/>
          <p:nvPr/>
        </p:nvSpPr>
        <p:spPr>
          <a:xfrm>
            <a:off x="777240" y="1783080"/>
            <a:ext cx="8321040" cy="384048"/>
          </a:xfrm>
          <a:prstGeom prst="rect">
            <a:avLst/>
          </a:prstGeom>
          <a:noFill/>
        </p:spPr>
        <p:txBody>
          <a:bodyPr wrap="square">
            <a:spAutoFit/>
          </a:bodyPr>
          <a:lstStyle/>
          <a:p>
            <a:r>
              <a:rPr sz="1500" b="1" i="0">
                <a:solidFill>
                  <a:srgbClr val="C9A227"/>
                </a:solidFill>
                <a:latin typeface="Calibri"/>
              </a:rPr>
              <a:t>I.   </a:t>
            </a:r>
            <a:r>
              <a:rPr sz="1500" b="1" i="0">
                <a:solidFill>
                  <a:srgbClr val="1E2761"/>
                </a:solidFill>
                <a:latin typeface="Calibri"/>
              </a:rPr>
              <a:t>Interés simple vs. interés compuesto</a:t>
            </a:r>
          </a:p>
        </p:txBody>
      </p:sp>
      <p:sp>
        <p:nvSpPr>
          <p:cNvPr id="5" name="TextBox 4"/>
          <p:cNvSpPr txBox="1"/>
          <p:nvPr/>
        </p:nvSpPr>
        <p:spPr>
          <a:xfrm>
            <a:off x="9189720" y="1783080"/>
            <a:ext cx="1828800" cy="384048"/>
          </a:xfrm>
          <a:prstGeom prst="rect">
            <a:avLst/>
          </a:prstGeom>
          <a:noFill/>
        </p:spPr>
        <p:txBody>
          <a:bodyPr wrap="square">
            <a:spAutoFit/>
          </a:bodyPr>
          <a:lstStyle/>
          <a:p>
            <a:pPr algn="r"/>
            <a:r>
              <a:rPr sz="1100" b="0" i="0">
                <a:solidFill>
                  <a:srgbClr val="A6ADC7"/>
                </a:solidFill>
                <a:latin typeface="Calibri"/>
              </a:rPr>
              <a:t>PÁG. 04</a:t>
            </a:r>
          </a:p>
        </p:txBody>
      </p:sp>
      <p:sp>
        <p:nvSpPr>
          <p:cNvPr id="6" name="TextBox 5"/>
          <p:cNvSpPr txBox="1"/>
          <p:nvPr/>
        </p:nvSpPr>
        <p:spPr>
          <a:xfrm>
            <a:off x="777240" y="2350008"/>
            <a:ext cx="8321040" cy="384048"/>
          </a:xfrm>
          <a:prstGeom prst="rect">
            <a:avLst/>
          </a:prstGeom>
          <a:noFill/>
        </p:spPr>
        <p:txBody>
          <a:bodyPr wrap="square">
            <a:spAutoFit/>
          </a:bodyPr>
          <a:lstStyle/>
          <a:p>
            <a:r>
              <a:rPr sz="1500" b="1" i="0">
                <a:solidFill>
                  <a:srgbClr val="C9A227"/>
                </a:solidFill>
                <a:latin typeface="Calibri"/>
              </a:rPr>
              <a:t>II.   </a:t>
            </a:r>
            <a:r>
              <a:rPr sz="1500" b="1" i="0">
                <a:solidFill>
                  <a:srgbClr val="1E2761"/>
                </a:solidFill>
                <a:latin typeface="Calibri"/>
              </a:rPr>
              <a:t>Valor futuro y valor presente de un flujo único</a:t>
            </a:r>
          </a:p>
        </p:txBody>
      </p:sp>
      <p:sp>
        <p:nvSpPr>
          <p:cNvPr id="7" name="TextBox 6"/>
          <p:cNvSpPr txBox="1"/>
          <p:nvPr/>
        </p:nvSpPr>
        <p:spPr>
          <a:xfrm>
            <a:off x="9189720" y="2350008"/>
            <a:ext cx="1828800" cy="384048"/>
          </a:xfrm>
          <a:prstGeom prst="rect">
            <a:avLst/>
          </a:prstGeom>
          <a:noFill/>
        </p:spPr>
        <p:txBody>
          <a:bodyPr wrap="square">
            <a:spAutoFit/>
          </a:bodyPr>
          <a:lstStyle/>
          <a:p>
            <a:pPr algn="r"/>
            <a:r>
              <a:rPr sz="1100" b="0" i="0">
                <a:solidFill>
                  <a:srgbClr val="A6ADC7"/>
                </a:solidFill>
                <a:latin typeface="Calibri"/>
              </a:rPr>
              <a:t>PÁG. 05</a:t>
            </a:r>
          </a:p>
        </p:txBody>
      </p:sp>
      <p:sp>
        <p:nvSpPr>
          <p:cNvPr id="8" name="TextBox 7"/>
          <p:cNvSpPr txBox="1"/>
          <p:nvPr/>
        </p:nvSpPr>
        <p:spPr>
          <a:xfrm>
            <a:off x="777240" y="2916936"/>
            <a:ext cx="8321040" cy="384048"/>
          </a:xfrm>
          <a:prstGeom prst="rect">
            <a:avLst/>
          </a:prstGeom>
          <a:noFill/>
        </p:spPr>
        <p:txBody>
          <a:bodyPr wrap="square">
            <a:spAutoFit/>
          </a:bodyPr>
          <a:lstStyle/>
          <a:p>
            <a:r>
              <a:rPr sz="1500" b="1" i="0">
                <a:solidFill>
                  <a:srgbClr val="C9A227"/>
                </a:solidFill>
                <a:latin typeface="Calibri"/>
              </a:rPr>
              <a:t>III.   </a:t>
            </a:r>
            <a:r>
              <a:rPr sz="1500" b="1" i="0">
                <a:solidFill>
                  <a:srgbClr val="1E2761"/>
                </a:solidFill>
                <a:latin typeface="Calibri"/>
              </a:rPr>
              <a:t>Tasa nominal (TNA) vs. tasa efectiva (TEA)</a:t>
            </a:r>
          </a:p>
        </p:txBody>
      </p:sp>
      <p:sp>
        <p:nvSpPr>
          <p:cNvPr id="9" name="TextBox 8"/>
          <p:cNvSpPr txBox="1"/>
          <p:nvPr/>
        </p:nvSpPr>
        <p:spPr>
          <a:xfrm>
            <a:off x="9189720" y="2916936"/>
            <a:ext cx="1828800" cy="384048"/>
          </a:xfrm>
          <a:prstGeom prst="rect">
            <a:avLst/>
          </a:prstGeom>
          <a:noFill/>
        </p:spPr>
        <p:txBody>
          <a:bodyPr wrap="square">
            <a:spAutoFit/>
          </a:bodyPr>
          <a:lstStyle/>
          <a:p>
            <a:pPr algn="r"/>
            <a:r>
              <a:rPr sz="1100" b="0" i="0">
                <a:solidFill>
                  <a:srgbClr val="A6ADC7"/>
                </a:solidFill>
                <a:latin typeface="Calibri"/>
              </a:rPr>
              <a:t>PÁG. 06</a:t>
            </a:r>
          </a:p>
        </p:txBody>
      </p:sp>
      <p:sp>
        <p:nvSpPr>
          <p:cNvPr id="10" name="TextBox 9"/>
          <p:cNvSpPr txBox="1"/>
          <p:nvPr/>
        </p:nvSpPr>
        <p:spPr>
          <a:xfrm>
            <a:off x="777240" y="3483864"/>
            <a:ext cx="8321040" cy="384048"/>
          </a:xfrm>
          <a:prstGeom prst="rect">
            <a:avLst/>
          </a:prstGeom>
          <a:noFill/>
        </p:spPr>
        <p:txBody>
          <a:bodyPr wrap="square">
            <a:spAutoFit/>
          </a:bodyPr>
          <a:lstStyle/>
          <a:p>
            <a:r>
              <a:rPr sz="1500" b="1" i="0">
                <a:solidFill>
                  <a:srgbClr val="C9A227"/>
                </a:solidFill>
                <a:latin typeface="Calibri"/>
              </a:rPr>
              <a:t>IV.   </a:t>
            </a:r>
            <a:r>
              <a:rPr sz="1500" b="1" i="0">
                <a:solidFill>
                  <a:srgbClr val="1E2761"/>
                </a:solidFill>
                <a:latin typeface="Calibri"/>
              </a:rPr>
              <a:t>Valor presente de una serie de flujos (anualidad)</a:t>
            </a:r>
          </a:p>
        </p:txBody>
      </p:sp>
      <p:sp>
        <p:nvSpPr>
          <p:cNvPr id="11" name="TextBox 10"/>
          <p:cNvSpPr txBox="1"/>
          <p:nvPr/>
        </p:nvSpPr>
        <p:spPr>
          <a:xfrm>
            <a:off x="9189720" y="3483864"/>
            <a:ext cx="1828800" cy="384048"/>
          </a:xfrm>
          <a:prstGeom prst="rect">
            <a:avLst/>
          </a:prstGeom>
          <a:noFill/>
        </p:spPr>
        <p:txBody>
          <a:bodyPr wrap="square">
            <a:spAutoFit/>
          </a:bodyPr>
          <a:lstStyle/>
          <a:p>
            <a:pPr algn="r"/>
            <a:r>
              <a:rPr sz="1100" b="0" i="0">
                <a:solidFill>
                  <a:srgbClr val="A6ADC7"/>
                </a:solidFill>
                <a:latin typeface="Calibri"/>
              </a:rPr>
              <a:t>PÁG. 07</a:t>
            </a:r>
          </a:p>
        </p:txBody>
      </p:sp>
      <p:sp>
        <p:nvSpPr>
          <p:cNvPr id="12" name="TextBox 11"/>
          <p:cNvSpPr txBox="1"/>
          <p:nvPr/>
        </p:nvSpPr>
        <p:spPr>
          <a:xfrm>
            <a:off x="777240" y="4050792"/>
            <a:ext cx="8321040" cy="384048"/>
          </a:xfrm>
          <a:prstGeom prst="rect">
            <a:avLst/>
          </a:prstGeom>
          <a:noFill/>
        </p:spPr>
        <p:txBody>
          <a:bodyPr wrap="square">
            <a:spAutoFit/>
          </a:bodyPr>
          <a:lstStyle/>
          <a:p>
            <a:r>
              <a:rPr sz="1500" b="1" i="0">
                <a:solidFill>
                  <a:srgbClr val="C9A227"/>
                </a:solidFill>
                <a:latin typeface="Calibri"/>
              </a:rPr>
              <a:t>V.   </a:t>
            </a:r>
            <a:r>
              <a:rPr sz="1500" b="1" i="0">
                <a:solidFill>
                  <a:srgbClr val="1E2761"/>
                </a:solidFill>
                <a:latin typeface="Calibri"/>
              </a:rPr>
              <a:t>Mercado primario vs. mercado secundario</a:t>
            </a:r>
          </a:p>
        </p:txBody>
      </p:sp>
      <p:sp>
        <p:nvSpPr>
          <p:cNvPr id="13" name="TextBox 12"/>
          <p:cNvSpPr txBox="1"/>
          <p:nvPr/>
        </p:nvSpPr>
        <p:spPr>
          <a:xfrm>
            <a:off x="9189720" y="4050792"/>
            <a:ext cx="1828800" cy="384048"/>
          </a:xfrm>
          <a:prstGeom prst="rect">
            <a:avLst/>
          </a:prstGeom>
          <a:noFill/>
        </p:spPr>
        <p:txBody>
          <a:bodyPr wrap="square">
            <a:spAutoFit/>
          </a:bodyPr>
          <a:lstStyle/>
          <a:p>
            <a:pPr algn="r"/>
            <a:r>
              <a:rPr sz="1100" b="0" i="0">
                <a:solidFill>
                  <a:srgbClr val="A6ADC7"/>
                </a:solidFill>
                <a:latin typeface="Calibri"/>
              </a:rPr>
              <a:t>PÁG. 08</a:t>
            </a:r>
          </a:p>
        </p:txBody>
      </p:sp>
      <p:sp>
        <p:nvSpPr>
          <p:cNvPr id="14" name="TextBox 13"/>
          <p:cNvSpPr txBox="1"/>
          <p:nvPr/>
        </p:nvSpPr>
        <p:spPr>
          <a:xfrm>
            <a:off x="777240" y="4617720"/>
            <a:ext cx="8321040" cy="384048"/>
          </a:xfrm>
          <a:prstGeom prst="rect">
            <a:avLst/>
          </a:prstGeom>
          <a:noFill/>
        </p:spPr>
        <p:txBody>
          <a:bodyPr wrap="square">
            <a:spAutoFit/>
          </a:bodyPr>
          <a:lstStyle/>
          <a:p>
            <a:r>
              <a:rPr sz="1500" b="1" i="0">
                <a:solidFill>
                  <a:srgbClr val="C9A227"/>
                </a:solidFill>
                <a:latin typeface="Calibri"/>
              </a:rPr>
              <a:t>VI.   </a:t>
            </a:r>
            <a:r>
              <a:rPr sz="1500" b="1" i="0">
                <a:solidFill>
                  <a:srgbClr val="1E2761"/>
                </a:solidFill>
                <a:latin typeface="Calibri"/>
              </a:rPr>
              <a:t>Quién interviene: BMV, BIVA, casas de bolsa, Indeval</a:t>
            </a:r>
          </a:p>
        </p:txBody>
      </p:sp>
      <p:sp>
        <p:nvSpPr>
          <p:cNvPr id="15" name="TextBox 14"/>
          <p:cNvSpPr txBox="1"/>
          <p:nvPr/>
        </p:nvSpPr>
        <p:spPr>
          <a:xfrm>
            <a:off x="9189720" y="4617720"/>
            <a:ext cx="1828800" cy="384048"/>
          </a:xfrm>
          <a:prstGeom prst="rect">
            <a:avLst/>
          </a:prstGeom>
          <a:noFill/>
        </p:spPr>
        <p:txBody>
          <a:bodyPr wrap="square">
            <a:spAutoFit/>
          </a:bodyPr>
          <a:lstStyle/>
          <a:p>
            <a:pPr algn="r"/>
            <a:r>
              <a:rPr sz="1100" b="0" i="0">
                <a:solidFill>
                  <a:srgbClr val="A6ADC7"/>
                </a:solidFill>
                <a:latin typeface="Calibri"/>
              </a:rPr>
              <a:t>PÁG. 09</a:t>
            </a:r>
          </a:p>
        </p:txBody>
      </p:sp>
      <p:sp>
        <p:nvSpPr>
          <p:cNvPr id="16" name="TextBox 15"/>
          <p:cNvSpPr txBox="1"/>
          <p:nvPr/>
        </p:nvSpPr>
        <p:spPr>
          <a:xfrm>
            <a:off x="777240" y="5184648"/>
            <a:ext cx="8321040" cy="384048"/>
          </a:xfrm>
          <a:prstGeom prst="rect">
            <a:avLst/>
          </a:prstGeom>
          <a:noFill/>
        </p:spPr>
        <p:txBody>
          <a:bodyPr wrap="square">
            <a:spAutoFit/>
          </a:bodyPr>
          <a:lstStyle/>
          <a:p>
            <a:r>
              <a:rPr sz="1500" b="1" i="0">
                <a:solidFill>
                  <a:srgbClr val="C9A227"/>
                </a:solidFill>
                <a:latin typeface="Calibri"/>
              </a:rPr>
              <a:t>VII.   </a:t>
            </a:r>
            <a:r>
              <a:rPr sz="1500" b="1" i="0">
                <a:solidFill>
                  <a:srgbClr val="1E2761"/>
                </a:solidFill>
                <a:latin typeface="Calibri"/>
              </a:rPr>
              <a:t>Calificadoras y riesgo de crédito</a:t>
            </a:r>
          </a:p>
        </p:txBody>
      </p:sp>
      <p:sp>
        <p:nvSpPr>
          <p:cNvPr id="17" name="TextBox 16"/>
          <p:cNvSpPr txBox="1"/>
          <p:nvPr/>
        </p:nvSpPr>
        <p:spPr>
          <a:xfrm>
            <a:off x="9189720" y="5184648"/>
            <a:ext cx="1828800" cy="384048"/>
          </a:xfrm>
          <a:prstGeom prst="rect">
            <a:avLst/>
          </a:prstGeom>
          <a:noFill/>
        </p:spPr>
        <p:txBody>
          <a:bodyPr wrap="square">
            <a:spAutoFit/>
          </a:bodyPr>
          <a:lstStyle/>
          <a:p>
            <a:pPr algn="r"/>
            <a:r>
              <a:rPr sz="1100" b="0" i="0">
                <a:solidFill>
                  <a:srgbClr val="A6ADC7"/>
                </a:solidFill>
                <a:latin typeface="Calibri"/>
              </a:rPr>
              <a:t>PÁG. 10</a:t>
            </a:r>
          </a:p>
        </p:txBody>
      </p:sp>
      <p:sp>
        <p:nvSpPr>
          <p:cNvPr id="18" name="TextBox 17"/>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BÁSICA · 5 MIN</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Interés simple vs. interés compuesto</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Dos formas de calcular el rendimiento de un capital invertido en el tiempo.</a:t>
            </a:r>
          </a:p>
        </p:txBody>
      </p:sp>
      <p:sp>
        <p:nvSpPr>
          <p:cNvPr id="5" name="TextBox 4"/>
          <p:cNvSpPr txBox="1"/>
          <p:nvPr/>
        </p:nvSpPr>
        <p:spPr>
          <a:xfrm>
            <a:off x="640080" y="2103120"/>
            <a:ext cx="10908792" cy="1645920"/>
          </a:xfrm>
          <a:prstGeom prst="rect">
            <a:avLst/>
          </a:prstGeom>
          <a:noFill/>
        </p:spPr>
        <p:txBody>
          <a:bodyPr wrap="square">
            <a:spAutoFit/>
          </a:bodyPr>
          <a:lstStyle/>
          <a:p>
            <a:pPr>
              <a:lnSpc>
                <a:spcPct val="115000"/>
              </a:lnSpc>
              <a:spcAft>
                <a:spcPts val="1000"/>
              </a:spcAft>
            </a:pPr>
            <a:r>
              <a:rPr sz="1500" b="1" i="0">
                <a:solidFill>
                  <a:srgbClr val="1E2761"/>
                </a:solidFill>
                <a:latin typeface="Calibri"/>
              </a:rPr>
              <a:t>Interés simple: </a:t>
            </a:r>
            <a:r>
              <a:rPr sz="1500" b="0" i="0">
                <a:solidFill>
                  <a:srgbClr val="5B6482"/>
                </a:solidFill>
                <a:latin typeface="Calibri"/>
              </a:rPr>
              <a:t>el interés se retira al final de cada periodo; el capital permanece constante y no genera “interés sobre interés”.</a:t>
            </a:r>
          </a:p>
          <a:p>
            <a:pPr>
              <a:lnSpc>
                <a:spcPct val="115000"/>
              </a:lnSpc>
              <a:spcAft>
                <a:spcPts val="1000"/>
              </a:spcAft>
            </a:pPr>
            <a:r>
              <a:rPr sz="1500" b="1" i="0">
                <a:solidFill>
                  <a:srgbClr val="1E2761"/>
                </a:solidFill>
                <a:latin typeface="Calibri"/>
              </a:rPr>
              <a:t>Interés compuesto: </a:t>
            </a:r>
            <a:r>
              <a:rPr sz="1500" b="0" i="0">
                <a:solidFill>
                  <a:srgbClr val="5B6482"/>
                </a:solidFill>
                <a:latin typeface="Calibri"/>
              </a:rPr>
              <a:t>el interés se queda invertido junto con el capital, así que en el siguiente periodo también genera rendimiento. Es el supuesto que se usa en casi toda la valuación financiera del curso.</a:t>
            </a:r>
          </a:p>
        </p:txBody>
      </p:sp>
      <p:sp>
        <p:nvSpPr>
          <p:cNvPr id="6" name="TextBox 5"/>
          <p:cNvSpPr txBox="1"/>
          <p:nvPr/>
        </p:nvSpPr>
        <p:spPr>
          <a:xfrm>
            <a:off x="640080" y="6400800"/>
            <a:ext cx="10607040" cy="274320"/>
          </a:xfrm>
          <a:prstGeom prst="rect">
            <a:avLst/>
          </a:prstGeom>
          <a:noFill/>
        </p:spPr>
        <p:txBody>
          <a:bodyPr wrap="square">
            <a:spAutoFit/>
          </a:bodyPr>
          <a:lstStyle/>
          <a:p>
            <a:r>
              <a:rPr sz="950" b="0" i="1">
                <a:solidFill>
                  <a:srgbClr val="5B6482"/>
                </a:solidFill>
                <a:latin typeface="Calibri"/>
              </a:rPr>
              <a:t>Fuente: Fabozzi, F. J. y Peterson Drake, P. (2009). Finance, Cap. 2 "Mathematics of Finance", p. 13, Wiley.</a:t>
            </a:r>
          </a:p>
        </p:txBody>
      </p:sp>
      <p:sp>
        <p:nvSpPr>
          <p:cNvPr id="7" name="TextBox 6"/>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BÁSICA · 6 MIN</a:t>
            </a:r>
          </a:p>
        </p:txBody>
      </p:sp>
      <p:sp>
        <p:nvSpPr>
          <p:cNvPr id="3" name="TextBox 2"/>
          <p:cNvSpPr txBox="1"/>
          <p:nvPr/>
        </p:nvSpPr>
        <p:spPr>
          <a:xfrm>
            <a:off x="640080" y="749808"/>
            <a:ext cx="9601200" cy="777240"/>
          </a:xfrm>
          <a:prstGeom prst="rect">
            <a:avLst/>
          </a:prstGeom>
          <a:noFill/>
        </p:spPr>
        <p:txBody>
          <a:bodyPr wrap="square">
            <a:spAutoFit/>
          </a:bodyPr>
          <a:lstStyle/>
          <a:p>
            <a:r>
              <a:rPr sz="2600" b="1" i="0">
                <a:solidFill>
                  <a:srgbClr val="1E2761"/>
                </a:solidFill>
                <a:latin typeface="Calibri"/>
              </a:rPr>
              <a:t>Valor futuro y valor presente de un flujo único</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¿De dónde sale la fórmula? Parte del interés compuesto: cada periodo, el capital crece un factor (1+r).</a:t>
            </a:r>
          </a:p>
        </p:txBody>
      </p:sp>
      <p:sp>
        <p:nvSpPr>
          <p:cNvPr id="5" name="TextBox 4"/>
          <p:cNvSpPr txBox="1"/>
          <p:nvPr/>
        </p:nvSpPr>
        <p:spPr>
          <a:xfrm>
            <a:off x="640080" y="2057400"/>
            <a:ext cx="10908792" cy="2331720"/>
          </a:xfrm>
          <a:prstGeom prst="rect">
            <a:avLst/>
          </a:prstGeom>
          <a:noFill/>
        </p:spPr>
        <p:txBody>
          <a:bodyPr wrap="square">
            <a:spAutoFit/>
          </a:bodyPr>
          <a:lstStyle/>
          <a:p>
            <a:pPr>
              <a:lnSpc>
                <a:spcPct val="115000"/>
              </a:lnSpc>
              <a:spcAft>
                <a:spcPts val="1000"/>
              </a:spcAft>
            </a:pPr>
            <a:r>
              <a:rPr sz="1300" b="0" i="0">
                <a:solidFill>
                  <a:srgbClr val="5B6482"/>
                </a:solidFill>
                <a:latin typeface="Calibri"/>
              </a:rPr>
              <a:t>Al final del periodo 1: VF₁ = VP(1+r)</a:t>
            </a:r>
          </a:p>
          <a:p>
            <a:pPr>
              <a:lnSpc>
                <a:spcPct val="115000"/>
              </a:lnSpc>
              <a:spcAft>
                <a:spcPts val="1000"/>
              </a:spcAft>
            </a:pPr>
            <a:r>
              <a:rPr sz="1300" b="0" i="0">
                <a:solidFill>
                  <a:srgbClr val="5B6482"/>
                </a:solidFill>
                <a:latin typeface="Calibri"/>
              </a:rPr>
              <a:t>Al final del periodo 2, ese VF₁ vuelve a crecer: VF₂ = VP(1+r)²</a:t>
            </a:r>
          </a:p>
          <a:p>
            <a:pPr>
              <a:lnSpc>
                <a:spcPct val="115000"/>
              </a:lnSpc>
              <a:spcAft>
                <a:spcPts val="1000"/>
              </a:spcAft>
            </a:pPr>
            <a:r>
              <a:rPr sz="1300" b="0" i="0">
                <a:solidFill>
                  <a:srgbClr val="5B6482"/>
                </a:solidFill>
                <a:latin typeface="Calibri"/>
              </a:rPr>
              <a:t>Repitiendo N veces: VFₙ = VP(1+r)^N — despejar VP solo invierte la operación.</a:t>
            </a:r>
          </a:p>
        </p:txBody>
      </p:sp>
      <p:sp>
        <p:nvSpPr>
          <p:cNvPr id="6" name="Rounded Rectangle 5"/>
          <p:cNvSpPr/>
          <p:nvPr/>
        </p:nvSpPr>
        <p:spPr>
          <a:xfrm>
            <a:off x="640080" y="3703320"/>
            <a:ext cx="10908792" cy="777240"/>
          </a:xfrm>
          <a:prstGeom prst="roundRect">
            <a:avLst>
              <a:gd name="adj" fmla="val 10000"/>
            </a:avLst>
          </a:prstGeom>
          <a:solidFill>
            <a:srgbClr val="EEF3F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E2761"/>
                </a:solidFill>
                <a:latin typeface="Cambria"/>
              </a:rPr>
              <a:t>VF = VP · (1+r)^N          VP = VF / (1+r)^N</a:t>
            </a:r>
          </a:p>
        </p:txBody>
      </p:sp>
      <p:sp>
        <p:nvSpPr>
          <p:cNvPr id="7" name="TextBox 6"/>
          <p:cNvSpPr txBox="1"/>
          <p:nvPr/>
        </p:nvSpPr>
        <p:spPr>
          <a:xfrm>
            <a:off x="640080" y="4617720"/>
            <a:ext cx="10908792" cy="320040"/>
          </a:xfrm>
          <a:prstGeom prst="rect">
            <a:avLst/>
          </a:prstGeom>
          <a:noFill/>
        </p:spPr>
        <p:txBody>
          <a:bodyPr wrap="square">
            <a:spAutoFit/>
          </a:bodyPr>
          <a:lstStyle/>
          <a:p>
            <a:r>
              <a:rPr sz="1200" b="1" i="0">
                <a:solidFill>
                  <a:srgbClr val="1E2761"/>
                </a:solidFill>
                <a:latin typeface="Calibri"/>
              </a:rPr>
              <a:t>r</a:t>
            </a:r>
            <a:r>
              <a:rPr sz="1200" b="0" i="0">
                <a:solidFill>
                  <a:srgbClr val="5B6482"/>
                </a:solidFill>
                <a:latin typeface="Calibri"/>
              </a:rPr>
              <a:t> — tasa de interés por periodo.      </a:t>
            </a:r>
            <a:r>
              <a:rPr sz="1200" b="1" i="0">
                <a:solidFill>
                  <a:srgbClr val="1E2761"/>
                </a:solidFill>
                <a:latin typeface="Calibri"/>
              </a:rPr>
              <a:t>N</a:t>
            </a:r>
            <a:r>
              <a:rPr sz="1200" b="0" i="0">
                <a:solidFill>
                  <a:srgbClr val="5B6482"/>
                </a:solidFill>
                <a:latin typeface="Calibri"/>
              </a:rPr>
              <a:t> — número de periodos.</a:t>
            </a:r>
          </a:p>
        </p:txBody>
      </p:sp>
      <p:sp>
        <p:nvSpPr>
          <p:cNvPr id="8" name="TextBox 7"/>
          <p:cNvSpPr txBox="1"/>
          <p:nvPr/>
        </p:nvSpPr>
        <p:spPr>
          <a:xfrm>
            <a:off x="640080" y="5074920"/>
            <a:ext cx="10908792" cy="502920"/>
          </a:xfrm>
          <a:prstGeom prst="rect">
            <a:avLst/>
          </a:prstGeom>
          <a:noFill/>
        </p:spPr>
        <p:txBody>
          <a:bodyPr wrap="square">
            <a:spAutoFit/>
          </a:bodyPr>
          <a:lstStyle/>
          <a:p>
            <a:pPr>
              <a:lnSpc>
                <a:spcPct val="110000"/>
              </a:lnSpc>
            </a:pPr>
            <a:r>
              <a:rPr sz="1200" b="1" i="1">
                <a:solidFill>
                  <a:srgbClr val="1E2761"/>
                </a:solidFill>
                <a:latin typeface="Calibri"/>
              </a:rPr>
              <a:t>Ejemplo: </a:t>
            </a:r>
            <a:r>
              <a:rPr sz="1200" b="0" i="1">
                <a:solidFill>
                  <a:srgbClr val="5B6482"/>
                </a:solidFill>
                <a:latin typeface="Calibri"/>
              </a:rPr>
              <a:t>¿cuánto invertir hoy para tener $100,000 en 3 años, al 8% anual compuesto? VP = 100,000 / (1.08)³ ≈ $79,383</a:t>
            </a:r>
          </a:p>
        </p:txBody>
      </p:sp>
      <p:sp>
        <p:nvSpPr>
          <p:cNvPr id="9" name="TextBox 8"/>
          <p:cNvSpPr txBox="1"/>
          <p:nvPr/>
        </p:nvSpPr>
        <p:spPr>
          <a:xfrm>
            <a:off x="640080" y="6400800"/>
            <a:ext cx="10607040" cy="274320"/>
          </a:xfrm>
          <a:prstGeom prst="rect">
            <a:avLst/>
          </a:prstGeom>
          <a:noFill/>
        </p:spPr>
        <p:txBody>
          <a:bodyPr wrap="square">
            <a:spAutoFit/>
          </a:bodyPr>
          <a:lstStyle/>
          <a:p>
            <a:r>
              <a:rPr sz="950" b="0" i="1">
                <a:solidFill>
                  <a:srgbClr val="5B6482"/>
                </a:solidFill>
                <a:latin typeface="Calibri"/>
              </a:rPr>
              <a:t>Fuente: Fabozzi, F. J. y Peterson Drake, P. (2009). Finance, Cap. 2, Ec. (2.1) y (2.5), Wiley.</a:t>
            </a:r>
          </a:p>
        </p:txBody>
      </p:sp>
      <p:sp>
        <p:nvSpPr>
          <p:cNvPr id="10" name="TextBox 9"/>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BÁSICA · 6 MIN</a:t>
            </a:r>
          </a:p>
        </p:txBody>
      </p:sp>
      <p:sp>
        <p:nvSpPr>
          <p:cNvPr id="3" name="TextBox 2"/>
          <p:cNvSpPr txBox="1"/>
          <p:nvPr/>
        </p:nvSpPr>
        <p:spPr>
          <a:xfrm>
            <a:off x="640080" y="749808"/>
            <a:ext cx="9601200" cy="777240"/>
          </a:xfrm>
          <a:prstGeom prst="rect">
            <a:avLst/>
          </a:prstGeom>
          <a:noFill/>
        </p:spPr>
        <p:txBody>
          <a:bodyPr wrap="square">
            <a:spAutoFit/>
          </a:bodyPr>
          <a:lstStyle/>
          <a:p>
            <a:r>
              <a:rPr sz="2600" b="1" i="0">
                <a:solidFill>
                  <a:srgbClr val="1E2761"/>
                </a:solidFill>
                <a:latin typeface="Calibri"/>
              </a:rPr>
              <a:t>Tasa nominal (TNA) vs. tasa efectiva (TEA)</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La TNA es solo una regla de tres; la TEA sí considera que los intereses generan intereses.</a:t>
            </a:r>
          </a:p>
        </p:txBody>
      </p:sp>
      <p:sp>
        <p:nvSpPr>
          <p:cNvPr id="5" name="TextBox 4"/>
          <p:cNvSpPr txBox="1"/>
          <p:nvPr/>
        </p:nvSpPr>
        <p:spPr>
          <a:xfrm>
            <a:off x="640080" y="2057400"/>
            <a:ext cx="10908792" cy="1645920"/>
          </a:xfrm>
          <a:prstGeom prst="rect">
            <a:avLst/>
          </a:prstGeom>
          <a:noFill/>
        </p:spPr>
        <p:txBody>
          <a:bodyPr wrap="square">
            <a:spAutoFit/>
          </a:bodyPr>
          <a:lstStyle/>
          <a:p>
            <a:pPr>
              <a:lnSpc>
                <a:spcPct val="115000"/>
              </a:lnSpc>
              <a:spcAft>
                <a:spcPts val="1000"/>
              </a:spcAft>
            </a:pPr>
            <a:r>
              <a:rPr sz="1300" b="0" i="0">
                <a:solidFill>
                  <a:srgbClr val="5B6482"/>
                </a:solidFill>
                <a:latin typeface="Calibri"/>
              </a:rPr>
              <a:t>La TEA aplica la fórmula de VF a un periodo, con la tasa periódica r = TNA/n capitalizada n veces al año.</a:t>
            </a:r>
          </a:p>
          <a:p>
            <a:pPr>
              <a:lnSpc>
                <a:spcPct val="115000"/>
              </a:lnSpc>
              <a:spcAft>
                <a:spcPts val="1000"/>
              </a:spcAft>
            </a:pPr>
            <a:r>
              <a:rPr sz="1300" b="0" i="0">
                <a:solidFill>
                  <a:srgbClr val="5B6482"/>
                </a:solidFill>
                <a:latin typeface="Calibri"/>
              </a:rPr>
              <a:t>Al resultado se le resta el capital inicial, para quedarse solo con el rendimiento neto del año.</a:t>
            </a:r>
          </a:p>
        </p:txBody>
      </p:sp>
      <p:sp>
        <p:nvSpPr>
          <p:cNvPr id="6" name="Rounded Rectangle 5"/>
          <p:cNvSpPr/>
          <p:nvPr/>
        </p:nvSpPr>
        <p:spPr>
          <a:xfrm>
            <a:off x="640080" y="3246120"/>
            <a:ext cx="10908792" cy="777240"/>
          </a:xfrm>
          <a:prstGeom prst="roundRect">
            <a:avLst>
              <a:gd name="adj" fmla="val 10000"/>
            </a:avLst>
          </a:prstGeom>
          <a:solidFill>
            <a:srgbClr val="EEF3F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E2761"/>
                </a:solidFill>
                <a:latin typeface="Cambria"/>
              </a:rPr>
              <a:t>TNA = r × n          TEA = (1+r)^n − 1</a:t>
            </a:r>
          </a:p>
        </p:txBody>
      </p:sp>
      <p:sp>
        <p:nvSpPr>
          <p:cNvPr id="7" name="TextBox 6"/>
          <p:cNvSpPr txBox="1"/>
          <p:nvPr/>
        </p:nvSpPr>
        <p:spPr>
          <a:xfrm>
            <a:off x="640080" y="4160520"/>
            <a:ext cx="10908792" cy="640080"/>
          </a:xfrm>
          <a:prstGeom prst="rect">
            <a:avLst/>
          </a:prstGeom>
          <a:noFill/>
        </p:spPr>
        <p:txBody>
          <a:bodyPr wrap="square">
            <a:spAutoFit/>
          </a:bodyPr>
          <a:lstStyle/>
          <a:p>
            <a:pPr>
              <a:lnSpc>
                <a:spcPct val="120000"/>
              </a:lnSpc>
            </a:pPr>
            <a:r>
              <a:rPr sz="1200" b="1" i="0">
                <a:solidFill>
                  <a:srgbClr val="1E2761"/>
                </a:solidFill>
                <a:latin typeface="Calibri"/>
              </a:rPr>
              <a:t>TNA</a:t>
            </a:r>
            <a:r>
              <a:rPr sz="1200" b="0" i="0">
                <a:solidFill>
                  <a:srgbClr val="5B6482"/>
                </a:solidFill>
                <a:latin typeface="Calibri"/>
              </a:rPr>
              <a:t> tasa nominal anual.   </a:t>
            </a:r>
            <a:r>
              <a:rPr sz="1200" b="1" i="0">
                <a:solidFill>
                  <a:srgbClr val="1E2761"/>
                </a:solidFill>
                <a:latin typeface="Calibri"/>
              </a:rPr>
              <a:t>TEA</a:t>
            </a:r>
            <a:r>
              <a:rPr sz="1200" b="0" i="0">
                <a:solidFill>
                  <a:srgbClr val="5B6482"/>
                </a:solidFill>
                <a:latin typeface="Calibri"/>
              </a:rPr>
              <a:t> tasa efectiva anual.   </a:t>
            </a:r>
            <a:r>
              <a:rPr sz="1200" b="1" i="0">
                <a:solidFill>
                  <a:srgbClr val="1E2761"/>
                </a:solidFill>
                <a:latin typeface="Calibri"/>
              </a:rPr>
              <a:t>n</a:t>
            </a:r>
            <a:r>
              <a:rPr sz="1200" b="0" i="0">
                <a:solidFill>
                  <a:srgbClr val="5B6482"/>
                </a:solidFill>
                <a:latin typeface="Calibri"/>
              </a:rPr>
              <a:t> periodos de capitalización al año.   </a:t>
            </a:r>
            <a:r>
              <a:rPr sz="1200" b="1" i="0">
                <a:solidFill>
                  <a:srgbClr val="1E2761"/>
                </a:solidFill>
                <a:latin typeface="Calibri"/>
              </a:rPr>
              <a:t>r</a:t>
            </a:r>
            <a:r>
              <a:rPr sz="1200" b="0" i="0">
                <a:solidFill>
                  <a:srgbClr val="5B6482"/>
                </a:solidFill>
                <a:latin typeface="Calibri"/>
              </a:rPr>
              <a:t> tasa por periodo, r = TNA/n.</a:t>
            </a:r>
          </a:p>
        </p:txBody>
      </p:sp>
      <p:sp>
        <p:nvSpPr>
          <p:cNvPr id="8" name="TextBox 7"/>
          <p:cNvSpPr txBox="1"/>
          <p:nvPr/>
        </p:nvSpPr>
        <p:spPr>
          <a:xfrm>
            <a:off x="640080" y="5074920"/>
            <a:ext cx="10908792" cy="502920"/>
          </a:xfrm>
          <a:prstGeom prst="rect">
            <a:avLst/>
          </a:prstGeom>
          <a:noFill/>
        </p:spPr>
        <p:txBody>
          <a:bodyPr wrap="square">
            <a:spAutoFit/>
          </a:bodyPr>
          <a:lstStyle/>
          <a:p>
            <a:pPr>
              <a:lnSpc>
                <a:spcPct val="110000"/>
              </a:lnSpc>
            </a:pPr>
            <a:r>
              <a:rPr sz="1200" b="1" i="1">
                <a:solidFill>
                  <a:srgbClr val="1E2761"/>
                </a:solidFill>
                <a:latin typeface="Calibri"/>
              </a:rPr>
              <a:t>Ejemplo: </a:t>
            </a:r>
            <a:r>
              <a:rPr sz="1200" b="0" i="1">
                <a:solidFill>
                  <a:srgbClr val="5B6482"/>
                </a:solidFill>
                <a:latin typeface="Calibri"/>
              </a:rPr>
              <a:t>tasa nominal 12% capitalizable mensualmente (n=12, r=0.01): TEA = (1.01)¹² − 1 ≈ 12.68%</a:t>
            </a:r>
          </a:p>
        </p:txBody>
      </p:sp>
      <p:sp>
        <p:nvSpPr>
          <p:cNvPr id="9" name="TextBox 8"/>
          <p:cNvSpPr txBox="1"/>
          <p:nvPr/>
        </p:nvSpPr>
        <p:spPr>
          <a:xfrm>
            <a:off x="640080" y="6400800"/>
            <a:ext cx="10607040" cy="274320"/>
          </a:xfrm>
          <a:prstGeom prst="rect">
            <a:avLst/>
          </a:prstGeom>
          <a:noFill/>
        </p:spPr>
        <p:txBody>
          <a:bodyPr wrap="square">
            <a:spAutoFit/>
          </a:bodyPr>
          <a:lstStyle/>
          <a:p>
            <a:r>
              <a:rPr sz="950" b="0" i="1">
                <a:solidFill>
                  <a:srgbClr val="5B6482"/>
                </a:solidFill>
                <a:latin typeface="Calibri"/>
              </a:rPr>
              <a:t>Fuente: Fabozzi, F. J. y Peterson Drake, P. (2009). Finance, Cap. 2, Ec. (2.15), Wiley.</a:t>
            </a:r>
          </a:p>
        </p:txBody>
      </p:sp>
      <p:sp>
        <p:nvSpPr>
          <p:cNvPr id="10" name="TextBox 9"/>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MATEMÁTICA FINANCIERA BÁSICA · 7 MIN</a:t>
            </a:r>
          </a:p>
        </p:txBody>
      </p:sp>
      <p:sp>
        <p:nvSpPr>
          <p:cNvPr id="3" name="TextBox 2"/>
          <p:cNvSpPr txBox="1"/>
          <p:nvPr/>
        </p:nvSpPr>
        <p:spPr>
          <a:xfrm>
            <a:off x="640080" y="749808"/>
            <a:ext cx="9601200" cy="777240"/>
          </a:xfrm>
          <a:prstGeom prst="rect">
            <a:avLst/>
          </a:prstGeom>
          <a:noFill/>
        </p:spPr>
        <p:txBody>
          <a:bodyPr wrap="square">
            <a:spAutoFit/>
          </a:bodyPr>
          <a:lstStyle/>
          <a:p>
            <a:r>
              <a:rPr sz="2400" b="1" i="0">
                <a:solidFill>
                  <a:srgbClr val="1E2761"/>
                </a:solidFill>
                <a:latin typeface="Calibri"/>
              </a:rPr>
              <a:t>Valor presente de una serie de flujos (anualidad)</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Una anualidad es la suma de varios flujos únicos, cada uno descontado según cuántos periodos faltan.</a:t>
            </a:r>
          </a:p>
        </p:txBody>
      </p:sp>
      <p:sp>
        <p:nvSpPr>
          <p:cNvPr id="5" name="TextBox 4"/>
          <p:cNvSpPr txBox="1"/>
          <p:nvPr/>
        </p:nvSpPr>
        <p:spPr>
          <a:xfrm>
            <a:off x="640080" y="2057400"/>
            <a:ext cx="10908792" cy="1645920"/>
          </a:xfrm>
          <a:prstGeom prst="rect">
            <a:avLst/>
          </a:prstGeom>
          <a:noFill/>
        </p:spPr>
        <p:txBody>
          <a:bodyPr wrap="square">
            <a:spAutoFit/>
          </a:bodyPr>
          <a:lstStyle/>
          <a:p>
            <a:pPr>
              <a:lnSpc>
                <a:spcPct val="115000"/>
              </a:lnSpc>
              <a:spcAft>
                <a:spcPts val="1000"/>
              </a:spcAft>
            </a:pPr>
            <a:r>
              <a:rPr sz="1300" b="0" i="0">
                <a:solidFill>
                  <a:srgbClr val="5B6482"/>
                </a:solidFill>
                <a:latin typeface="Calibri"/>
              </a:rPr>
              <a:t>VP = FC/(1+r)¹ + FC/(1+r)² + … + FC/(1+r)^N — una serie geométrica.</a:t>
            </a:r>
          </a:p>
          <a:p>
            <a:pPr>
              <a:lnSpc>
                <a:spcPct val="115000"/>
              </a:lnSpc>
              <a:spcAft>
                <a:spcPts val="1000"/>
              </a:spcAft>
            </a:pPr>
            <a:r>
              <a:rPr sz="1300" b="0" i="0">
                <a:solidFill>
                  <a:srgbClr val="5B6482"/>
                </a:solidFill>
                <a:latin typeface="Calibri"/>
              </a:rPr>
              <a:t>Al resolverla se simplifica en una sola fracción (válida para r ≠ 0; si r = 0, VP = FC · N).</a:t>
            </a:r>
          </a:p>
        </p:txBody>
      </p:sp>
      <p:sp>
        <p:nvSpPr>
          <p:cNvPr id="6" name="Rounded Rectangle 5"/>
          <p:cNvSpPr/>
          <p:nvPr/>
        </p:nvSpPr>
        <p:spPr>
          <a:xfrm>
            <a:off x="640080" y="3246120"/>
            <a:ext cx="10908792" cy="868680"/>
          </a:xfrm>
          <a:prstGeom prst="roundRect">
            <a:avLst>
              <a:gd name="adj" fmla="val 10000"/>
            </a:avLst>
          </a:prstGeom>
          <a:solidFill>
            <a:srgbClr val="EEF3F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1E2761"/>
                </a:solidFill>
                <a:latin typeface="Cambria"/>
              </a:rPr>
              <a:t>VP = FC · [1−(1+r)^-N] / r        VF = FC · [(1+r)^N−1] / r</a:t>
            </a:r>
          </a:p>
          <a:p>
            <a:pPr algn="ctr"/>
            <a:r>
              <a:rPr sz="1100" i="1">
                <a:solidFill>
                  <a:srgbClr val="5B6482"/>
                </a:solidFill>
                <a:latin typeface="Calibri"/>
              </a:rPr>
              <a:t>(r ≠ 0)</a:t>
            </a:r>
          </a:p>
        </p:txBody>
      </p:sp>
      <p:sp>
        <p:nvSpPr>
          <p:cNvPr id="7" name="TextBox 6"/>
          <p:cNvSpPr txBox="1"/>
          <p:nvPr/>
        </p:nvSpPr>
        <p:spPr>
          <a:xfrm>
            <a:off x="640080" y="4343400"/>
            <a:ext cx="10908792" cy="320040"/>
          </a:xfrm>
          <a:prstGeom prst="rect">
            <a:avLst/>
          </a:prstGeom>
          <a:noFill/>
        </p:spPr>
        <p:txBody>
          <a:bodyPr wrap="square">
            <a:spAutoFit/>
          </a:bodyPr>
          <a:lstStyle/>
          <a:p>
            <a:r>
              <a:rPr sz="1200" b="1" i="0">
                <a:solidFill>
                  <a:srgbClr val="1E2761"/>
                </a:solidFill>
                <a:latin typeface="Calibri"/>
              </a:rPr>
              <a:t>FC</a:t>
            </a:r>
            <a:r>
              <a:rPr sz="1200" b="0" i="0">
                <a:solidFill>
                  <a:srgbClr val="5B6482"/>
                </a:solidFill>
                <a:latin typeface="Calibri"/>
              </a:rPr>
              <a:t> — el flujo (pago) constante que se repite cada periodo.</a:t>
            </a:r>
          </a:p>
        </p:txBody>
      </p:sp>
      <p:sp>
        <p:nvSpPr>
          <p:cNvPr id="8" name="TextBox 7"/>
          <p:cNvSpPr txBox="1"/>
          <p:nvPr/>
        </p:nvSpPr>
        <p:spPr>
          <a:xfrm>
            <a:off x="640080" y="5074920"/>
            <a:ext cx="10908792" cy="502920"/>
          </a:xfrm>
          <a:prstGeom prst="rect">
            <a:avLst/>
          </a:prstGeom>
          <a:noFill/>
        </p:spPr>
        <p:txBody>
          <a:bodyPr wrap="square">
            <a:spAutoFit/>
          </a:bodyPr>
          <a:lstStyle/>
          <a:p>
            <a:pPr>
              <a:lnSpc>
                <a:spcPct val="110000"/>
              </a:lnSpc>
            </a:pPr>
            <a:r>
              <a:rPr sz="1200" b="1" i="1">
                <a:solidFill>
                  <a:srgbClr val="1E2761"/>
                </a:solidFill>
                <a:latin typeface="Calibri"/>
              </a:rPr>
              <a:t>Ejemplo: </a:t>
            </a:r>
            <a:r>
              <a:rPr sz="1200" b="0" i="1">
                <a:solidFill>
                  <a:srgbClr val="5B6482"/>
                </a:solidFill>
                <a:latin typeface="Calibri"/>
              </a:rPr>
              <a:t>cupón anual de $5,000 durante 5 años, tasa de descuento 9%: VP = 5,000 × [1 − (1.09)⁻⁵] / 0.09 ≈ $19,448</a:t>
            </a:r>
          </a:p>
        </p:txBody>
      </p:sp>
      <p:sp>
        <p:nvSpPr>
          <p:cNvPr id="9" name="TextBox 8"/>
          <p:cNvSpPr txBox="1"/>
          <p:nvPr/>
        </p:nvSpPr>
        <p:spPr>
          <a:xfrm>
            <a:off x="640080" y="6400800"/>
            <a:ext cx="10607040" cy="274320"/>
          </a:xfrm>
          <a:prstGeom prst="rect">
            <a:avLst/>
          </a:prstGeom>
          <a:noFill/>
        </p:spPr>
        <p:txBody>
          <a:bodyPr wrap="square">
            <a:spAutoFit/>
          </a:bodyPr>
          <a:lstStyle/>
          <a:p>
            <a:r>
              <a:rPr sz="950" b="0" i="1">
                <a:solidFill>
                  <a:srgbClr val="5B6482"/>
                </a:solidFill>
                <a:latin typeface="Calibri"/>
              </a:rPr>
              <a:t>Fuente: Fabozzi, F. J. y Peterson Drake, P. (2009). Finance, Cap. 2, Ec. (2.9) y (2.11), Wiley.</a:t>
            </a:r>
          </a:p>
        </p:txBody>
      </p:sp>
      <p:sp>
        <p:nvSpPr>
          <p:cNvPr id="10" name="TextBox 9"/>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MECÁNICA OPERATIVA DEL MERCADO · 4 MIN</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Mercado primario vs. mercado secundario</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Dónde nace un instrumento, y dónde cambia de manos después.</a:t>
            </a:r>
          </a:p>
        </p:txBody>
      </p:sp>
      <p:sp>
        <p:nvSpPr>
          <p:cNvPr id="5" name="TextBox 4"/>
          <p:cNvSpPr txBox="1"/>
          <p:nvPr/>
        </p:nvSpPr>
        <p:spPr>
          <a:xfrm>
            <a:off x="640080" y="2103120"/>
            <a:ext cx="10908792" cy="1645920"/>
          </a:xfrm>
          <a:prstGeom prst="rect">
            <a:avLst/>
          </a:prstGeom>
          <a:noFill/>
        </p:spPr>
        <p:txBody>
          <a:bodyPr wrap="square">
            <a:spAutoFit/>
          </a:bodyPr>
          <a:lstStyle/>
          <a:p>
            <a:pPr>
              <a:lnSpc>
                <a:spcPct val="115000"/>
              </a:lnSpc>
              <a:spcAft>
                <a:spcPts val="1000"/>
              </a:spcAft>
            </a:pPr>
            <a:r>
              <a:rPr sz="1500" b="1" i="0">
                <a:solidFill>
                  <a:srgbClr val="1E2761"/>
                </a:solidFill>
                <a:latin typeface="Calibri"/>
              </a:rPr>
              <a:t>Mercado primario: </a:t>
            </a:r>
            <a:r>
              <a:rPr sz="1500" b="0" i="0">
                <a:solidFill>
                  <a:srgbClr val="5B6482"/>
                </a:solidFill>
                <a:latin typeface="Calibri"/>
              </a:rPr>
              <a:t>la primera vez que un instrumento se coloca. Ejemplo: Banxico subasta CETES; una empresa hace su oferta pública inicial (OPI) de acciones.</a:t>
            </a:r>
          </a:p>
          <a:p>
            <a:pPr>
              <a:lnSpc>
                <a:spcPct val="115000"/>
              </a:lnSpc>
              <a:spcAft>
                <a:spcPts val="1000"/>
              </a:spcAft>
            </a:pPr>
            <a:r>
              <a:rPr sz="1500" b="1" i="0">
                <a:solidFill>
                  <a:srgbClr val="1E2761"/>
                </a:solidFill>
                <a:latin typeface="Calibri"/>
              </a:rPr>
              <a:t>Mercado secundario: </a:t>
            </a:r>
            <a:r>
              <a:rPr sz="1500" b="0" i="0">
                <a:solidFill>
                  <a:srgbClr val="5B6482"/>
                </a:solidFill>
                <a:latin typeface="Calibri"/>
              </a:rPr>
              <a:t>la reventa del instrumento entre inversionistas después de esa colocación inicial. El emisor ya no recibe dinero en estas operaciones; solo cambia de manos el título.</a:t>
            </a:r>
          </a:p>
        </p:txBody>
      </p:sp>
      <p:sp>
        <p:nvSpPr>
          <p:cNvPr id="6" name="TextBox 5"/>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MECÁNICA OPERATIVA DEL MERCADO · 5 MIN</a:t>
            </a:r>
          </a:p>
        </p:txBody>
      </p:sp>
      <p:sp>
        <p:nvSpPr>
          <p:cNvPr id="3" name="TextBox 2"/>
          <p:cNvSpPr txBox="1"/>
          <p:nvPr/>
        </p:nvSpPr>
        <p:spPr>
          <a:xfrm>
            <a:off x="640080" y="749808"/>
            <a:ext cx="9601200" cy="777240"/>
          </a:xfrm>
          <a:prstGeom prst="rect">
            <a:avLst/>
          </a:prstGeom>
          <a:noFill/>
        </p:spPr>
        <p:txBody>
          <a:bodyPr wrap="square">
            <a:spAutoFit/>
          </a:bodyPr>
          <a:lstStyle/>
          <a:p>
            <a:r>
              <a:rPr sz="2700" b="1" i="0">
                <a:solidFill>
                  <a:srgbClr val="1E2761"/>
                </a:solidFill>
                <a:latin typeface="Calibri"/>
              </a:rPr>
              <a:t>Quién interviene: BMV, BIVA, casas de bolsa, Indeval</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Las instituciones que hacen posible negociar y liquidar un instrumento.</a:t>
            </a:r>
          </a:p>
        </p:txBody>
      </p:sp>
      <p:sp>
        <p:nvSpPr>
          <p:cNvPr id="5" name="TextBox 4"/>
          <p:cNvSpPr txBox="1"/>
          <p:nvPr/>
        </p:nvSpPr>
        <p:spPr>
          <a:xfrm>
            <a:off x="640080" y="2103120"/>
            <a:ext cx="10908792" cy="2331720"/>
          </a:xfrm>
          <a:prstGeom prst="rect">
            <a:avLst/>
          </a:prstGeom>
          <a:noFill/>
        </p:spPr>
        <p:txBody>
          <a:bodyPr wrap="square">
            <a:spAutoFit/>
          </a:bodyPr>
          <a:lstStyle/>
          <a:p>
            <a:pPr>
              <a:lnSpc>
                <a:spcPct val="115000"/>
              </a:lnSpc>
              <a:spcAft>
                <a:spcPts val="1000"/>
              </a:spcAft>
            </a:pPr>
            <a:r>
              <a:rPr sz="1350" b="1" i="0">
                <a:solidFill>
                  <a:srgbClr val="1E2761"/>
                </a:solidFill>
                <a:latin typeface="Calibri"/>
              </a:rPr>
              <a:t>BMV y BIVA: </a:t>
            </a:r>
            <a:r>
              <a:rPr sz="1350" b="0" i="0">
                <a:solidFill>
                  <a:srgbClr val="5B6482"/>
                </a:solidFill>
                <a:latin typeface="Calibri"/>
              </a:rPr>
              <a:t>las dos bolsas de valores en México, donde se negocian acciones, bonos y otros instrumentos listados.</a:t>
            </a:r>
          </a:p>
          <a:p>
            <a:pPr>
              <a:lnSpc>
                <a:spcPct val="115000"/>
              </a:lnSpc>
              <a:spcAft>
                <a:spcPts val="1000"/>
              </a:spcAft>
            </a:pPr>
            <a:r>
              <a:rPr sz="1350" b="1" i="0">
                <a:solidFill>
                  <a:srgbClr val="1E2761"/>
                </a:solidFill>
                <a:latin typeface="Calibri"/>
              </a:rPr>
              <a:t>Casas de bolsa: </a:t>
            </a:r>
            <a:r>
              <a:rPr sz="1350" b="0" i="0">
                <a:solidFill>
                  <a:srgbClr val="5B6482"/>
                </a:solidFill>
                <a:latin typeface="Calibri"/>
              </a:rPr>
              <a:t>intermediarios bursátiles; un inversionista no puede operar directamente en la bolsa, necesita una casa de bolsa que ejecute la orden.</a:t>
            </a:r>
          </a:p>
          <a:p>
            <a:pPr>
              <a:lnSpc>
                <a:spcPct val="115000"/>
              </a:lnSpc>
              <a:spcAft>
                <a:spcPts val="1000"/>
              </a:spcAft>
            </a:pPr>
            <a:r>
              <a:rPr sz="1350" b="1" i="0">
                <a:solidFill>
                  <a:srgbClr val="1E2761"/>
                </a:solidFill>
                <a:latin typeface="Calibri"/>
              </a:rPr>
              <a:t>Indeval: </a:t>
            </a:r>
            <a:r>
              <a:rPr sz="1350" b="0" i="0">
                <a:solidFill>
                  <a:srgbClr val="5B6482"/>
                </a:solidFill>
                <a:latin typeface="Calibri"/>
              </a:rPr>
              <a:t>la institución de custodia y liquidación central. Cuando compras un instrumento, no recibes un papel físico: Indeval mantiene el registro electrónico de quién es dueño de qué, y liquida cada operación.</a:t>
            </a:r>
          </a:p>
        </p:txBody>
      </p:sp>
      <p:sp>
        <p:nvSpPr>
          <p:cNvPr id="6" name="TextBox 5"/>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09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MECÁNICA OPERATIVA DEL MERCADO · 4 MIN</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Calificadoras y riesgo de crédito</a:t>
            </a:r>
          </a:p>
        </p:txBody>
      </p:sp>
      <p:sp>
        <p:nvSpPr>
          <p:cNvPr id="4" name="TextBox 3"/>
          <p:cNvSpPr txBox="1"/>
          <p:nvPr/>
        </p:nvSpPr>
        <p:spPr>
          <a:xfrm>
            <a:off x="640080" y="1481328"/>
            <a:ext cx="9966960" cy="502920"/>
          </a:xfrm>
          <a:prstGeom prst="rect">
            <a:avLst/>
          </a:prstGeom>
          <a:noFill/>
        </p:spPr>
        <p:txBody>
          <a:bodyPr wrap="square">
            <a:spAutoFit/>
          </a:bodyPr>
          <a:lstStyle/>
          <a:p>
            <a:pPr>
              <a:lnSpc>
                <a:spcPct val="110000"/>
              </a:lnSpc>
            </a:pPr>
            <a:r>
              <a:rPr sz="1400" b="0" i="0">
                <a:solidFill>
                  <a:srgbClr val="5B6482"/>
                </a:solidFill>
                <a:latin typeface="Calibri"/>
              </a:rPr>
              <a:t>Quién evalúa si un emisor de deuda va a poder pagar.</a:t>
            </a:r>
          </a:p>
        </p:txBody>
      </p:sp>
      <p:sp>
        <p:nvSpPr>
          <p:cNvPr id="5" name="TextBox 4"/>
          <p:cNvSpPr txBox="1"/>
          <p:nvPr/>
        </p:nvSpPr>
        <p:spPr>
          <a:xfrm>
            <a:off x="640080" y="2103120"/>
            <a:ext cx="10908792" cy="1645920"/>
          </a:xfrm>
          <a:prstGeom prst="rect">
            <a:avLst/>
          </a:prstGeom>
          <a:noFill/>
        </p:spPr>
        <p:txBody>
          <a:bodyPr wrap="square">
            <a:spAutoFit/>
          </a:bodyPr>
          <a:lstStyle/>
          <a:p>
            <a:pPr>
              <a:lnSpc>
                <a:spcPct val="115000"/>
              </a:lnSpc>
              <a:spcAft>
                <a:spcPts val="1000"/>
              </a:spcAft>
            </a:pPr>
            <a:r>
              <a:rPr sz="1400" b="0" i="0">
                <a:solidFill>
                  <a:srgbClr val="5B6482"/>
                </a:solidFill>
                <a:latin typeface="Calibri"/>
              </a:rPr>
              <a:t>Empresas como S&amp;P, Moody's, HR Ratings o Fitch evalúan la capacidad de pago de quien emite deuda y le asignan una calificación (AAA, AA, BBB, etc.).</a:t>
            </a:r>
          </a:p>
          <a:p>
            <a:pPr>
              <a:lnSpc>
                <a:spcPct val="115000"/>
              </a:lnSpc>
              <a:spcAft>
                <a:spcPts val="1000"/>
              </a:spcAft>
            </a:pPr>
            <a:r>
              <a:rPr sz="1400" b="0" i="0">
                <a:solidFill>
                  <a:srgbClr val="5B6482"/>
                </a:solidFill>
                <a:latin typeface="Calibri"/>
              </a:rPr>
              <a:t>Es central para instrumentos de deuda corporativa (papel comercial, certificados bursátiles, bonos corporativos) que se verán en la Unidad de Deuda — a diferencia de la deuda gubernamental, cuyo riesgo de crédito se asume mínimo.</a:t>
            </a:r>
          </a:p>
        </p:txBody>
      </p:sp>
      <p:sp>
        <p:nvSpPr>
          <p:cNvPr id="6" name="TextBox 5"/>
          <p:cNvSpPr txBox="1"/>
          <p:nvPr/>
        </p:nvSpPr>
        <p:spPr>
          <a:xfrm>
            <a:off x="640080" y="6400800"/>
            <a:ext cx="10607040" cy="274320"/>
          </a:xfrm>
          <a:prstGeom prst="rect">
            <a:avLst/>
          </a:prstGeom>
          <a:noFill/>
        </p:spPr>
        <p:txBody>
          <a:bodyPr wrap="square">
            <a:spAutoFit/>
          </a:bodyPr>
          <a:lstStyle/>
          <a:p>
            <a:r>
              <a:rPr sz="950" b="0" i="1">
                <a:solidFill>
                  <a:srgbClr val="5B6482"/>
                </a:solidFill>
                <a:latin typeface="Calibri"/>
              </a:rPr>
              <a:t>Fuente: elaboración propia a partir de la organización del mercado de valores mexicano (BMV, BIVA, Indeval, CNBV).</a:t>
            </a:r>
          </a:p>
        </p:txBody>
      </p:sp>
      <p:sp>
        <p:nvSpPr>
          <p:cNvPr id="7" name="TextBox 6"/>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PREPARACIÓN DOCENTE</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Fuentes y referencias recomendadas</a:t>
            </a:r>
          </a:p>
        </p:txBody>
      </p:sp>
      <p:sp>
        <p:nvSpPr>
          <p:cNvPr id="4" name="TextBox 3"/>
          <p:cNvSpPr txBox="1"/>
          <p:nvPr/>
        </p:nvSpPr>
        <p:spPr>
          <a:xfrm>
            <a:off x="640080" y="1691640"/>
            <a:ext cx="5349240" cy="868680"/>
          </a:xfrm>
          <a:prstGeom prst="rect">
            <a:avLst/>
          </a:prstGeom>
          <a:noFill/>
        </p:spPr>
        <p:txBody>
          <a:bodyPr wrap="square">
            <a:spAutoFit/>
          </a:bodyPr>
          <a:lstStyle/>
          <a:p>
            <a:pPr>
              <a:spcAft>
                <a:spcPts val="400"/>
              </a:spcAft>
            </a:pPr>
            <a:r>
              <a:rPr sz="1300" b="1" i="0">
                <a:solidFill>
                  <a:srgbClr val="1E2761"/>
                </a:solidFill>
                <a:latin typeface="Calibri"/>
              </a:rPr>
              <a:t>Fabozzi, F. J. y Peterson Drake, P. (2009). Finance. Wiley.</a:t>
            </a:r>
          </a:p>
          <a:p>
            <a:pPr>
              <a:spcAft>
                <a:spcPts val="400"/>
              </a:spcAft>
            </a:pPr>
            <a:r>
              <a:rPr sz="1100" b="0" i="0">
                <a:solidFill>
                  <a:srgbClr val="5B6482"/>
                </a:solidFill>
                <a:latin typeface="Calibri"/>
              </a:rPr>
              <a:t>Cap. 2, "Mathematics of Finance": todas las fórmulas de esta unidad.</a:t>
            </a:r>
          </a:p>
        </p:txBody>
      </p:sp>
      <p:sp>
        <p:nvSpPr>
          <p:cNvPr id="5" name="TextBox 4"/>
          <p:cNvSpPr txBox="1"/>
          <p:nvPr/>
        </p:nvSpPr>
        <p:spPr>
          <a:xfrm>
            <a:off x="6245352" y="1691640"/>
            <a:ext cx="5349240" cy="868680"/>
          </a:xfrm>
          <a:prstGeom prst="rect">
            <a:avLst/>
          </a:prstGeom>
          <a:noFill/>
        </p:spPr>
        <p:txBody>
          <a:bodyPr wrap="square">
            <a:spAutoFit/>
          </a:bodyPr>
          <a:lstStyle/>
          <a:p>
            <a:pPr>
              <a:spcAft>
                <a:spcPts val="400"/>
              </a:spcAft>
            </a:pPr>
            <a:r>
              <a:rPr sz="1300" b="1" i="0">
                <a:solidFill>
                  <a:srgbClr val="1E2761"/>
                </a:solidFill>
                <a:latin typeface="Calibri"/>
              </a:rPr>
              <a:t>Mántey de Anguiano, G. (2024). Lecciones de Economía Monetaria. UNAM.</a:t>
            </a:r>
          </a:p>
          <a:p>
            <a:pPr>
              <a:spcAft>
                <a:spcPts val="400"/>
              </a:spcAft>
            </a:pPr>
            <a:r>
              <a:rPr sz="1100" b="0" i="0">
                <a:solidFill>
                  <a:srgbClr val="5B6482"/>
                </a:solidFill>
                <a:latin typeface="Calibri"/>
              </a:rPr>
              <a:t/>
            </a:r>
          </a:p>
        </p:txBody>
      </p:sp>
      <p:sp>
        <p:nvSpPr>
          <p:cNvPr id="6" name="TextBox 5"/>
          <p:cNvSpPr txBox="1"/>
          <p:nvPr/>
        </p:nvSpPr>
        <p:spPr>
          <a:xfrm>
            <a:off x="640080" y="2880360"/>
            <a:ext cx="5349240" cy="868680"/>
          </a:xfrm>
          <a:prstGeom prst="rect">
            <a:avLst/>
          </a:prstGeom>
          <a:noFill/>
        </p:spPr>
        <p:txBody>
          <a:bodyPr wrap="square">
            <a:spAutoFit/>
          </a:bodyPr>
          <a:lstStyle/>
          <a:p>
            <a:pPr>
              <a:spcAft>
                <a:spcPts val="400"/>
              </a:spcAft>
            </a:pPr>
            <a:r>
              <a:rPr sz="1300" b="1" i="0">
                <a:solidFill>
                  <a:srgbClr val="1E2761"/>
                </a:solidFill>
                <a:latin typeface="Calibri"/>
              </a:rPr>
              <a:t>Portal Banxico</a:t>
            </a:r>
          </a:p>
          <a:p>
            <a:pPr>
              <a:spcAft>
                <a:spcPts val="400"/>
              </a:spcAft>
            </a:pPr>
            <a:r>
              <a:rPr sz="1100" b="0" i="0">
                <a:solidFill>
                  <a:srgbClr val="5B6482"/>
                </a:solidFill>
                <a:latin typeface="Calibri"/>
              </a:rPr>
              <a:t>Subastas de valores gubernamentales y resultados de CETES/Bonos M.</a:t>
            </a:r>
          </a:p>
        </p:txBody>
      </p:sp>
      <p:sp>
        <p:nvSpPr>
          <p:cNvPr id="7" name="TextBox 6"/>
          <p:cNvSpPr txBox="1"/>
          <p:nvPr/>
        </p:nvSpPr>
        <p:spPr>
          <a:xfrm>
            <a:off x="6245352" y="2880360"/>
            <a:ext cx="5349240" cy="868680"/>
          </a:xfrm>
          <a:prstGeom prst="rect">
            <a:avLst/>
          </a:prstGeom>
          <a:noFill/>
        </p:spPr>
        <p:txBody>
          <a:bodyPr wrap="square">
            <a:spAutoFit/>
          </a:bodyPr>
          <a:lstStyle/>
          <a:p>
            <a:pPr>
              <a:spcAft>
                <a:spcPts val="400"/>
              </a:spcAft>
            </a:pPr>
            <a:r>
              <a:rPr sz="1300" b="1" i="0">
                <a:solidFill>
                  <a:srgbClr val="1E2761"/>
                </a:solidFill>
                <a:latin typeface="Calibri"/>
              </a:rPr>
              <a:t>Portal Indeval (S.D. Indeval)</a:t>
            </a:r>
          </a:p>
          <a:p>
            <a:pPr>
              <a:spcAft>
                <a:spcPts val="400"/>
              </a:spcAft>
            </a:pPr>
            <a:r>
              <a:rPr sz="1100" b="0" i="0">
                <a:solidFill>
                  <a:srgbClr val="5B6482"/>
                </a:solidFill>
                <a:latin typeface="Calibri"/>
              </a:rPr>
              <a:t>Qué es la custodia y liquidación de valores.</a:t>
            </a:r>
          </a:p>
        </p:txBody>
      </p:sp>
      <p:sp>
        <p:nvSpPr>
          <p:cNvPr id="8" name="TextBox 7"/>
          <p:cNvSpPr txBox="1"/>
          <p:nvPr/>
        </p:nvSpPr>
        <p:spPr>
          <a:xfrm>
            <a:off x="640080" y="4069080"/>
            <a:ext cx="5349240" cy="868680"/>
          </a:xfrm>
          <a:prstGeom prst="rect">
            <a:avLst/>
          </a:prstGeom>
          <a:noFill/>
        </p:spPr>
        <p:txBody>
          <a:bodyPr wrap="square">
            <a:spAutoFit/>
          </a:bodyPr>
          <a:lstStyle/>
          <a:p>
            <a:pPr>
              <a:spcAft>
                <a:spcPts val="400"/>
              </a:spcAft>
            </a:pPr>
            <a:r>
              <a:rPr sz="1300" b="1" i="0">
                <a:solidFill>
                  <a:srgbClr val="1E2761"/>
                </a:solidFill>
                <a:latin typeface="Calibri"/>
              </a:rPr>
              <a:t>Portal BMV / BIVA</a:t>
            </a:r>
          </a:p>
          <a:p>
            <a:pPr>
              <a:spcAft>
                <a:spcPts val="400"/>
              </a:spcAft>
            </a:pPr>
            <a:r>
              <a:rPr sz="1100" b="0" i="0">
                <a:solidFill>
                  <a:srgbClr val="5B6482"/>
                </a:solidFill>
                <a:latin typeface="Calibri"/>
              </a:rPr>
              <a:t>Cómo funciona el mercado secundario en México.</a:t>
            </a:r>
          </a:p>
        </p:txBody>
      </p:sp>
      <p:sp>
        <p:nvSpPr>
          <p:cNvPr id="9" name="TextBox 8"/>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9144000" cy="320040"/>
          </a:xfrm>
          <a:prstGeom prst="rect">
            <a:avLst/>
          </a:prstGeom>
          <a:noFill/>
        </p:spPr>
        <p:txBody>
          <a:bodyPr wrap="square">
            <a:spAutoFit/>
          </a:bodyPr>
          <a:lstStyle/>
          <a:p>
            <a:r>
              <a:rPr sz="1200" b="1" i="0">
                <a:solidFill>
                  <a:srgbClr val="C9A227"/>
                </a:solidFill>
                <a:latin typeface="Calibri"/>
              </a:rPr>
              <a:t>CIERRE · MATEMÁTICA FINANCIERA Y MECÁNICA DEL MERCADO</a:t>
            </a:r>
          </a:p>
        </p:txBody>
      </p:sp>
      <p:sp>
        <p:nvSpPr>
          <p:cNvPr id="3" name="TextBox 2"/>
          <p:cNvSpPr txBox="1"/>
          <p:nvPr/>
        </p:nvSpPr>
        <p:spPr>
          <a:xfrm>
            <a:off x="640080" y="749808"/>
            <a:ext cx="9601200" cy="777240"/>
          </a:xfrm>
          <a:prstGeom prst="rect">
            <a:avLst/>
          </a:prstGeom>
          <a:noFill/>
        </p:spPr>
        <p:txBody>
          <a:bodyPr wrap="square">
            <a:spAutoFit/>
          </a:bodyPr>
          <a:lstStyle/>
          <a:p>
            <a:r>
              <a:rPr sz="3200" b="1" i="0">
                <a:solidFill>
                  <a:srgbClr val="1E2761"/>
                </a:solidFill>
                <a:latin typeface="Calibri"/>
              </a:rPr>
              <a:t>Lo esencial para recordar</a:t>
            </a:r>
          </a:p>
        </p:txBody>
      </p:sp>
      <p:sp>
        <p:nvSpPr>
          <p:cNvPr id="4" name="TextBox 3"/>
          <p:cNvSpPr txBox="1"/>
          <p:nvPr/>
        </p:nvSpPr>
        <p:spPr>
          <a:xfrm>
            <a:off x="822960" y="1874519"/>
            <a:ext cx="10332720" cy="868680"/>
          </a:xfrm>
          <a:prstGeom prst="rect">
            <a:avLst/>
          </a:prstGeom>
          <a:noFill/>
        </p:spPr>
        <p:txBody>
          <a:bodyPr wrap="square">
            <a:spAutoFit/>
          </a:bodyPr>
          <a:lstStyle/>
          <a:p>
            <a:pPr>
              <a:lnSpc>
                <a:spcPct val="110000"/>
              </a:lnSpc>
            </a:pPr>
            <a:r>
              <a:rPr sz="1350" b="0" i="0">
                <a:solidFill>
                  <a:srgbClr val="1E2761"/>
                </a:solidFill>
                <a:latin typeface="Calibri"/>
              </a:rPr>
              <a:t>VP y VF son la misma fórmula vista desde los dos lados: descontar hacia el presente o proyectar hacia el futuro. Toda la valuación de deuda de la siguiente unidad se construye sobre esto.</a:t>
            </a:r>
          </a:p>
        </p:txBody>
      </p:sp>
      <p:sp>
        <p:nvSpPr>
          <p:cNvPr id="5" name="TextBox 4"/>
          <p:cNvSpPr txBox="1"/>
          <p:nvPr/>
        </p:nvSpPr>
        <p:spPr>
          <a:xfrm>
            <a:off x="822960" y="2834639"/>
            <a:ext cx="10332720" cy="868680"/>
          </a:xfrm>
          <a:prstGeom prst="rect">
            <a:avLst/>
          </a:prstGeom>
          <a:noFill/>
        </p:spPr>
        <p:txBody>
          <a:bodyPr wrap="square">
            <a:spAutoFit/>
          </a:bodyPr>
          <a:lstStyle/>
          <a:p>
            <a:pPr>
              <a:lnSpc>
                <a:spcPct val="110000"/>
              </a:lnSpc>
            </a:pPr>
            <a:r>
              <a:rPr sz="1350" b="0" i="0">
                <a:solidFill>
                  <a:srgbClr val="1E2761"/>
                </a:solidFill>
                <a:latin typeface="Calibri"/>
              </a:rPr>
              <a:t>La tasa efectiva es la que de verdad ganas o pagas en un año; la nominal es solo la etiqueta. Entre más frecuente la capitalización, más se separan.</a:t>
            </a:r>
          </a:p>
        </p:txBody>
      </p:sp>
      <p:sp>
        <p:nvSpPr>
          <p:cNvPr id="6" name="TextBox 5"/>
          <p:cNvSpPr txBox="1"/>
          <p:nvPr/>
        </p:nvSpPr>
        <p:spPr>
          <a:xfrm>
            <a:off x="822960" y="3794759"/>
            <a:ext cx="10332720" cy="868680"/>
          </a:xfrm>
          <a:prstGeom prst="rect">
            <a:avLst/>
          </a:prstGeom>
          <a:noFill/>
        </p:spPr>
        <p:txBody>
          <a:bodyPr wrap="square">
            <a:spAutoFit/>
          </a:bodyPr>
          <a:lstStyle/>
          <a:p>
            <a:pPr>
              <a:lnSpc>
                <a:spcPct val="110000"/>
              </a:lnSpc>
            </a:pPr>
            <a:r>
              <a:rPr sz="1350" b="0" i="0">
                <a:solidFill>
                  <a:srgbClr val="1E2761"/>
                </a:solidFill>
                <a:latin typeface="Calibri"/>
              </a:rPr>
              <a:t>Una anualidad (serie de flujos constantes) es exactamente lo que es el flujo de cupones de un bono — por eso esta fórmula reaparece al valuar deuda.</a:t>
            </a:r>
          </a:p>
        </p:txBody>
      </p:sp>
      <p:sp>
        <p:nvSpPr>
          <p:cNvPr id="7" name="TextBox 6"/>
          <p:cNvSpPr txBox="1"/>
          <p:nvPr/>
        </p:nvSpPr>
        <p:spPr>
          <a:xfrm>
            <a:off x="822960" y="4754879"/>
            <a:ext cx="10332720" cy="868680"/>
          </a:xfrm>
          <a:prstGeom prst="rect">
            <a:avLst/>
          </a:prstGeom>
          <a:noFill/>
        </p:spPr>
        <p:txBody>
          <a:bodyPr wrap="square">
            <a:spAutoFit/>
          </a:bodyPr>
          <a:lstStyle/>
          <a:p>
            <a:pPr>
              <a:lnSpc>
                <a:spcPct val="110000"/>
              </a:lnSpc>
            </a:pPr>
            <a:r>
              <a:rPr sz="1350" b="0" i="0">
                <a:solidFill>
                  <a:srgbClr val="1E2761"/>
                </a:solidFill>
                <a:latin typeface="Calibri"/>
              </a:rPr>
              <a:t>Todo instrumento nace en el mercado primario y, si es líquido, se revende después en el secundario; Indeval es quien realmente “guarda” el título, no tú.</a:t>
            </a:r>
          </a:p>
        </p:txBody>
      </p:sp>
      <p:sp>
        <p:nvSpPr>
          <p:cNvPr id="8" name="TextBox 7"/>
          <p:cNvSpPr txBox="1"/>
          <p:nvPr/>
        </p:nvSpPr>
        <p:spPr>
          <a:xfrm>
            <a:off x="822960" y="6172200"/>
            <a:ext cx="10607040" cy="457200"/>
          </a:xfrm>
          <a:prstGeom prst="rect">
            <a:avLst/>
          </a:prstGeom>
          <a:noFill/>
        </p:spPr>
        <p:txBody>
          <a:bodyPr wrap="square">
            <a:spAutoFit/>
          </a:bodyPr>
          <a:lstStyle/>
          <a:p>
            <a:r>
              <a:rPr sz="1200" b="0" i="1">
                <a:solidFill>
                  <a:srgbClr val="5B6482"/>
                </a:solidFill>
                <a:latin typeface="Calibri"/>
              </a:rPr>
              <a:t>Próxima sesión: entramos a la Unidad de Deuda — características del mercado de deuda e instrumentos gubernamentales (CETES, Bonos M, UDIBONOS).</a:t>
            </a:r>
          </a:p>
        </p:txBody>
      </p:sp>
      <p:sp>
        <p:nvSpPr>
          <p:cNvPr id="9" name="TextBox 8"/>
          <p:cNvSpPr txBox="1"/>
          <p:nvPr/>
        </p:nvSpPr>
        <p:spPr>
          <a:xfrm>
            <a:off x="11365992" y="6446520"/>
            <a:ext cx="548640" cy="274320"/>
          </a:xfrm>
          <a:prstGeom prst="rect">
            <a:avLst/>
          </a:prstGeom>
          <a:noFill/>
        </p:spPr>
        <p:txBody>
          <a:bodyPr wrap="square">
            <a:spAutoFit/>
          </a:bodyPr>
          <a:lstStyle/>
          <a:p>
            <a:pPr algn="r"/>
            <a:r>
              <a:rPr sz="1000" b="0" i="0">
                <a:solidFill>
                  <a:srgbClr val="A6ADC7"/>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2026-08-13T01:37:27Z</dcterms:created>
  <dcterms:modified xsi:type="dcterms:W3CDTF">2026-08-13T01:37:27Z</dcterms:modified>
</cp:coreProperties>
</file>